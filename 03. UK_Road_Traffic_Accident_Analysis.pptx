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0.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8.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8" d="100"/>
          <a:sy n="98" d="100"/>
        </p:scale>
        <p:origin x="8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A"/>
                </a:solidFill>
                <a:latin typeface="Calibri"/>
              </a:defRPr>
            </a:pPr>
            <a:r>
              <a:rPr lang="en-US" sz="1200" b="0" i="0" u="none" strike="noStrike">
                <a:solidFill>
                  <a:srgbClr val="16233A"/>
                </a:solidFill>
                <a:latin typeface="Calibri"/>
              </a:rPr>
              <a:t>Accident &amp; casualty distribution by severity</a:t>
            </a:r>
          </a:p>
        </c:rich>
      </c:tx>
      <c:overlay val="0"/>
    </c:title>
    <c:autoTitleDeleted val="0"/>
    <c:plotArea>
      <c:layout/>
      <c:barChart>
        <c:barDir val="bar"/>
        <c:grouping val="clustered"/>
        <c:varyColors val="0"/>
        <c:ser>
          <c:idx val="0"/>
          <c:order val="0"/>
          <c:tx>
            <c:strRef>
              <c:f>Sheet1!$B$1</c:f>
              <c:strCache>
                <c:ptCount val="1"/>
                <c:pt idx="0">
                  <c:v>Accidents</c:v>
                </c:pt>
              </c:strCache>
            </c:strRef>
          </c:tx>
          <c:spPr>
            <a:solidFill>
              <a:srgbClr val="4472C4"/>
            </a:solidFill>
            <a:effectLst/>
          </c:spPr>
          <c:invertIfNegative val="0"/>
          <c:dLbls>
            <c:numFmt formatCode="#,##0" sourceLinked="0"/>
            <c:spPr>
              <a:noFill/>
              <a:ln>
                <a:noFill/>
              </a:ln>
              <a:effectLst/>
            </c:spPr>
            <c:txPr>
              <a:bodyPr/>
              <a:lstStyle/>
              <a:p>
                <a:pPr>
                  <a:defRPr sz="900" b="0" i="0" u="none" strike="noStrike">
                    <a:solidFill>
                      <a:srgbClr val="162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Slight</c:v>
                </c:pt>
                <c:pt idx="1">
                  <c:v>Serious</c:v>
                </c:pt>
                <c:pt idx="2">
                  <c:v>Fatal</c:v>
                </c:pt>
              </c:strCache>
            </c:strRef>
          </c:cat>
          <c:val>
            <c:numRef>
              <c:f>Sheet1!$B$2:$B$4</c:f>
              <c:numCache>
                <c:formatCode>General</c:formatCode>
                <c:ptCount val="3"/>
                <c:pt idx="0">
                  <c:v>263280</c:v>
                </c:pt>
                <c:pt idx="1">
                  <c:v>40740</c:v>
                </c:pt>
                <c:pt idx="2">
                  <c:v>3953</c:v>
                </c:pt>
              </c:numCache>
            </c:numRef>
          </c:val>
          <c:extLst>
            <c:ext xmlns:c16="http://schemas.microsoft.com/office/drawing/2014/chart" uri="{C3380CC4-5D6E-409C-BE32-E72D297353CC}">
              <c16:uniqueId val="{00000000-A29C-4F48-A5BA-6DFC43557405}"/>
            </c:ext>
          </c:extLst>
        </c:ser>
        <c:ser>
          <c:idx val="1"/>
          <c:order val="1"/>
          <c:tx>
            <c:strRef>
              <c:f>Sheet1!$C$1</c:f>
              <c:strCache>
                <c:ptCount val="1"/>
                <c:pt idx="0">
                  <c:v>Casualties</c:v>
                </c:pt>
              </c:strCache>
            </c:strRef>
          </c:tx>
          <c:spPr>
            <a:solidFill>
              <a:srgbClr val="264478"/>
            </a:solidFill>
            <a:effectLst/>
          </c:spPr>
          <c:invertIfNegative val="0"/>
          <c:dLbls>
            <c:numFmt formatCode="#,##0" sourceLinked="0"/>
            <c:spPr>
              <a:noFill/>
              <a:ln>
                <a:noFill/>
              </a:ln>
              <a:effectLst/>
            </c:spPr>
            <c:txPr>
              <a:bodyPr/>
              <a:lstStyle/>
              <a:p>
                <a:pPr>
                  <a:defRPr sz="900" b="0" i="0" u="none" strike="noStrike">
                    <a:solidFill>
                      <a:srgbClr val="162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Slight</c:v>
                </c:pt>
                <c:pt idx="1">
                  <c:v>Serious</c:v>
                </c:pt>
                <c:pt idx="2">
                  <c:v>Fatal</c:v>
                </c:pt>
              </c:strCache>
            </c:strRef>
          </c:cat>
          <c:val>
            <c:numRef>
              <c:f>Sheet1!$C$2:$C$4</c:f>
              <c:numCache>
                <c:formatCode>General</c:formatCode>
                <c:ptCount val="3"/>
                <c:pt idx="0">
                  <c:v>351436</c:v>
                </c:pt>
                <c:pt idx="1">
                  <c:v>59312</c:v>
                </c:pt>
                <c:pt idx="2">
                  <c:v>7135</c:v>
                </c:pt>
              </c:numCache>
            </c:numRef>
          </c:val>
          <c:extLst>
            <c:ext xmlns:c16="http://schemas.microsoft.com/office/drawing/2014/chart" uri="{C3380CC4-5D6E-409C-BE32-E72D297353CC}">
              <c16:uniqueId val="{00000001-A29C-4F48-A5BA-6DFC43557405}"/>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F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F6B7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A"/>
                </a:solidFill>
                <a:latin typeface="Calibri"/>
              </a:defRPr>
            </a:pPr>
            <a:r>
              <a:rPr lang="en-US" sz="1200" b="0" i="0" u="none" strike="noStrike">
                <a:solidFill>
                  <a:srgbClr val="16233A"/>
                </a:solidFill>
                <a:latin typeface="Calibri"/>
              </a:rPr>
              <a:t>Accidents by day of week</a:t>
            </a:r>
          </a:p>
        </c:rich>
      </c:tx>
      <c:overlay val="0"/>
    </c:title>
    <c:autoTitleDeleted val="0"/>
    <c:plotArea>
      <c:layout/>
      <c:barChart>
        <c:barDir val="bar"/>
        <c:grouping val="clustered"/>
        <c:varyColors val="0"/>
        <c:ser>
          <c:idx val="0"/>
          <c:order val="0"/>
          <c:tx>
            <c:strRef>
              <c:f>Sheet1!$B$1</c:f>
              <c:strCache>
                <c:ptCount val="1"/>
                <c:pt idx="0">
                  <c:v>Accidents</c:v>
                </c:pt>
              </c:strCache>
            </c:strRef>
          </c:tx>
          <c:spPr>
            <a:solidFill>
              <a:srgbClr val="CDDCF3"/>
            </a:solidFill>
            <a:effectLst/>
          </c:spPr>
          <c:invertIfNegative val="0"/>
          <c:dPt>
            <c:idx val="0"/>
            <c:invertIfNegative val="0"/>
            <c:bubble3D val="0"/>
            <c:extLst>
              <c:ext xmlns:c16="http://schemas.microsoft.com/office/drawing/2014/chart" uri="{C3380CC4-5D6E-409C-BE32-E72D297353CC}">
                <c16:uniqueId val="{00000001-2749-438E-865F-B502880A412C}"/>
              </c:ext>
            </c:extLst>
          </c:dPt>
          <c:dPt>
            <c:idx val="1"/>
            <c:invertIfNegative val="0"/>
            <c:bubble3D val="0"/>
            <c:spPr>
              <a:solidFill>
                <a:srgbClr val="A6C0E8"/>
              </a:solidFill>
              <a:effectLst/>
            </c:spPr>
            <c:extLst>
              <c:ext xmlns:c16="http://schemas.microsoft.com/office/drawing/2014/chart" uri="{C3380CC4-5D6E-409C-BE32-E72D297353CC}">
                <c16:uniqueId val="{00000003-2749-438E-865F-B502880A412C}"/>
              </c:ext>
            </c:extLst>
          </c:dPt>
          <c:dPt>
            <c:idx val="2"/>
            <c:invertIfNegative val="0"/>
            <c:bubble3D val="0"/>
            <c:spPr>
              <a:solidFill>
                <a:srgbClr val="7BA0DC"/>
              </a:solidFill>
              <a:effectLst/>
            </c:spPr>
            <c:extLst>
              <c:ext xmlns:c16="http://schemas.microsoft.com/office/drawing/2014/chart" uri="{C3380CC4-5D6E-409C-BE32-E72D297353CC}">
                <c16:uniqueId val="{00000005-2749-438E-865F-B502880A412C}"/>
              </c:ext>
            </c:extLst>
          </c:dPt>
          <c:dPt>
            <c:idx val="3"/>
            <c:invertIfNegative val="0"/>
            <c:bubble3D val="0"/>
            <c:spPr>
              <a:solidFill>
                <a:srgbClr val="4472C4"/>
              </a:solidFill>
              <a:effectLst/>
            </c:spPr>
            <c:extLst>
              <c:ext xmlns:c16="http://schemas.microsoft.com/office/drawing/2014/chart" uri="{C3380CC4-5D6E-409C-BE32-E72D297353CC}">
                <c16:uniqueId val="{00000007-2749-438E-865F-B502880A412C}"/>
              </c:ext>
            </c:extLst>
          </c:dPt>
          <c:dPt>
            <c:idx val="4"/>
            <c:invertIfNegative val="0"/>
            <c:bubble3D val="0"/>
            <c:spPr>
              <a:solidFill>
                <a:srgbClr val="3A6BB8"/>
              </a:solidFill>
              <a:effectLst/>
            </c:spPr>
            <c:extLst>
              <c:ext xmlns:c16="http://schemas.microsoft.com/office/drawing/2014/chart" uri="{C3380CC4-5D6E-409C-BE32-E72D297353CC}">
                <c16:uniqueId val="{00000009-2749-438E-865F-B502880A412C}"/>
              </c:ext>
            </c:extLst>
          </c:dPt>
          <c:dPt>
            <c:idx val="5"/>
            <c:invertIfNegative val="0"/>
            <c:bubble3D val="0"/>
            <c:spPr>
              <a:solidFill>
                <a:srgbClr val="2E5597"/>
              </a:solidFill>
              <a:effectLst/>
            </c:spPr>
            <c:extLst>
              <c:ext xmlns:c16="http://schemas.microsoft.com/office/drawing/2014/chart" uri="{C3380CC4-5D6E-409C-BE32-E72D297353CC}">
                <c16:uniqueId val="{0000000B-2749-438E-865F-B502880A412C}"/>
              </c:ext>
            </c:extLst>
          </c:dPt>
          <c:dPt>
            <c:idx val="6"/>
            <c:invertIfNegative val="0"/>
            <c:bubble3D val="0"/>
            <c:spPr>
              <a:solidFill>
                <a:srgbClr val="1F3864"/>
              </a:solidFill>
              <a:effectLst/>
            </c:spPr>
            <c:extLst>
              <c:ext xmlns:c16="http://schemas.microsoft.com/office/drawing/2014/chart" uri="{C3380CC4-5D6E-409C-BE32-E72D297353CC}">
                <c16:uniqueId val="{0000000D-2749-438E-865F-B502880A412C}"/>
              </c:ext>
            </c:extLst>
          </c:dPt>
          <c:dLbls>
            <c:numFmt formatCode="#,##0" sourceLinked="0"/>
            <c:spPr>
              <a:noFill/>
              <a:ln>
                <a:noFill/>
              </a:ln>
              <a:effectLst/>
            </c:spPr>
            <c:txPr>
              <a:bodyPr/>
              <a:lstStyle/>
              <a:p>
                <a:pPr>
                  <a:defRPr sz="900" b="0" i="0" u="none" strike="noStrike">
                    <a:solidFill>
                      <a:srgbClr val="162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Sunday</c:v>
                </c:pt>
                <c:pt idx="1">
                  <c:v>Saturday</c:v>
                </c:pt>
                <c:pt idx="2">
                  <c:v>Monday</c:v>
                </c:pt>
                <c:pt idx="3">
                  <c:v>Thursday</c:v>
                </c:pt>
                <c:pt idx="4">
                  <c:v>Wednesday</c:v>
                </c:pt>
                <c:pt idx="5">
                  <c:v>Tuesday</c:v>
                </c:pt>
                <c:pt idx="6">
                  <c:v>Friday</c:v>
                </c:pt>
              </c:strCache>
            </c:strRef>
          </c:cat>
          <c:val>
            <c:numRef>
              <c:f>Sheet1!$B$2:$B$8</c:f>
              <c:numCache>
                <c:formatCode>General</c:formatCode>
                <c:ptCount val="7"/>
                <c:pt idx="0">
                  <c:v>33544</c:v>
                </c:pt>
                <c:pt idx="1">
                  <c:v>41566</c:v>
                </c:pt>
                <c:pt idx="2">
                  <c:v>43918</c:v>
                </c:pt>
                <c:pt idx="3">
                  <c:v>45649</c:v>
                </c:pt>
                <c:pt idx="4">
                  <c:v>46381</c:v>
                </c:pt>
                <c:pt idx="5">
                  <c:v>46386</c:v>
                </c:pt>
                <c:pt idx="6">
                  <c:v>50529</c:v>
                </c:pt>
              </c:numCache>
            </c:numRef>
          </c:val>
          <c:extLst>
            <c:ext xmlns:c16="http://schemas.microsoft.com/office/drawing/2014/chart" uri="{C3380CC4-5D6E-409C-BE32-E72D297353CC}">
              <c16:uniqueId val="{0000000E-2749-438E-865F-B502880A412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A"/>
                </a:solidFill>
                <a:latin typeface="Calibri"/>
              </a:defRPr>
            </a:pPr>
            <a:r>
              <a:rPr lang="en-US" sz="1200" b="0" i="0" u="none" strike="noStrike">
                <a:solidFill>
                  <a:srgbClr val="16233A"/>
                </a:solidFill>
                <a:latin typeface="Calibri"/>
              </a:rPr>
              <a:t>Accident frequency by hour of day</a:t>
            </a:r>
          </a:p>
        </c:rich>
      </c:tx>
      <c:overlay val="0"/>
    </c:title>
    <c:autoTitleDeleted val="0"/>
    <c:plotArea>
      <c:layout/>
      <c:areaChart>
        <c:grouping val="standard"/>
        <c:varyColors val="0"/>
        <c:ser>
          <c:idx val="0"/>
          <c:order val="0"/>
          <c:tx>
            <c:strRef>
              <c:f>Sheet1!$B$1</c:f>
              <c:strCache>
                <c:ptCount val="1"/>
                <c:pt idx="0">
                  <c:v>Accidents</c:v>
                </c:pt>
              </c:strCache>
            </c:strRef>
          </c:tx>
          <c:spPr>
            <a:solidFill>
              <a:srgbClr val="C00000">
                <a:alpha val="25000"/>
              </a:srgbClr>
            </a:solidFill>
            <a:effectLst/>
          </c:spP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4200</c:v>
                </c:pt>
                <c:pt idx="1">
                  <c:v>3100</c:v>
                </c:pt>
                <c:pt idx="2">
                  <c:v>2400</c:v>
                </c:pt>
                <c:pt idx="3">
                  <c:v>1800</c:v>
                </c:pt>
                <c:pt idx="4">
                  <c:v>1500</c:v>
                </c:pt>
                <c:pt idx="5">
                  <c:v>2100</c:v>
                </c:pt>
                <c:pt idx="6">
                  <c:v>4600</c:v>
                </c:pt>
                <c:pt idx="7">
                  <c:v>11500</c:v>
                </c:pt>
                <c:pt idx="8">
                  <c:v>21800</c:v>
                </c:pt>
                <c:pt idx="9">
                  <c:v>15200</c:v>
                </c:pt>
                <c:pt idx="10">
                  <c:v>13500</c:v>
                </c:pt>
                <c:pt idx="11">
                  <c:v>15400</c:v>
                </c:pt>
                <c:pt idx="12">
                  <c:v>17800</c:v>
                </c:pt>
                <c:pt idx="13">
                  <c:v>18300</c:v>
                </c:pt>
                <c:pt idx="14">
                  <c:v>19100</c:v>
                </c:pt>
                <c:pt idx="15">
                  <c:v>22600</c:v>
                </c:pt>
                <c:pt idx="16">
                  <c:v>24200</c:v>
                </c:pt>
                <c:pt idx="17">
                  <c:v>26900</c:v>
                </c:pt>
                <c:pt idx="18">
                  <c:v>24100</c:v>
                </c:pt>
                <c:pt idx="19">
                  <c:v>17300</c:v>
                </c:pt>
                <c:pt idx="20">
                  <c:v>12100</c:v>
                </c:pt>
                <c:pt idx="21">
                  <c:v>9400</c:v>
                </c:pt>
                <c:pt idx="22">
                  <c:v>8200</c:v>
                </c:pt>
                <c:pt idx="23">
                  <c:v>6100</c:v>
                </c:pt>
              </c:numCache>
            </c:numRef>
          </c:val>
          <c:extLst>
            <c:ext xmlns:c16="http://schemas.microsoft.com/office/drawing/2014/chart" uri="{C3380CC4-5D6E-409C-BE32-E72D297353CC}">
              <c16:uniqueId val="{00000000-6ADA-48A3-BCAF-751D1E96B343}"/>
            </c:ext>
          </c:extLst>
        </c:ser>
        <c:dLbls>
          <c:showLegendKey val="0"/>
          <c:showVal val="0"/>
          <c:showCatName val="0"/>
          <c:showSerName val="0"/>
          <c:showPercent val="0"/>
          <c:showBubbleSize val="0"/>
        </c:dLbls>
        <c:axId val="2094734554"/>
        <c:axId val="2094734552"/>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A"/>
                </a:solidFill>
                <a:latin typeface="Calibri"/>
              </a:defRPr>
            </a:pPr>
            <a:r>
              <a:rPr lang="en-US" sz="1200" b="0" i="0" u="none" strike="noStrike">
                <a:solidFill>
                  <a:srgbClr val="16233A"/>
                </a:solidFill>
                <a:latin typeface="Calibri"/>
              </a:rPr>
              <a:t>Accident distribution by road type</a:t>
            </a:r>
          </a:p>
        </c:rich>
      </c:tx>
      <c:overlay val="0"/>
    </c:title>
    <c:autoTitleDeleted val="0"/>
    <c:plotArea>
      <c:layout/>
      <c:barChart>
        <c:barDir val="bar"/>
        <c:grouping val="clustered"/>
        <c:varyColors val="0"/>
        <c:ser>
          <c:idx val="0"/>
          <c:order val="0"/>
          <c:tx>
            <c:strRef>
              <c:f>Sheet1!$B$1</c:f>
              <c:strCache>
                <c:ptCount val="1"/>
                <c:pt idx="0">
                  <c:v>Accidents</c:v>
                </c:pt>
              </c:strCache>
            </c:strRef>
          </c:tx>
          <c:spPr>
            <a:solidFill>
              <a:srgbClr val="A6A6A6"/>
            </a:solidFill>
            <a:effectLst/>
          </c:spPr>
          <c:invertIfNegative val="0"/>
          <c:dPt>
            <c:idx val="0"/>
            <c:invertIfNegative val="0"/>
            <c:bubble3D val="0"/>
            <c:extLst>
              <c:ext xmlns:c16="http://schemas.microsoft.com/office/drawing/2014/chart" uri="{C3380CC4-5D6E-409C-BE32-E72D297353CC}">
                <c16:uniqueId val="{00000001-A18E-4A84-B897-0E6622151FF0}"/>
              </c:ext>
            </c:extLst>
          </c:dPt>
          <c:dPt>
            <c:idx val="1"/>
            <c:invertIfNegative val="0"/>
            <c:bubble3D val="0"/>
            <c:spPr>
              <a:solidFill>
                <a:srgbClr val="4472C4"/>
              </a:solidFill>
              <a:effectLst/>
            </c:spPr>
            <c:extLst>
              <c:ext xmlns:c16="http://schemas.microsoft.com/office/drawing/2014/chart" uri="{C3380CC4-5D6E-409C-BE32-E72D297353CC}">
                <c16:uniqueId val="{00000003-A18E-4A84-B897-0E6622151FF0}"/>
              </c:ext>
            </c:extLst>
          </c:dPt>
          <c:dLbls>
            <c:numFmt formatCode="#,##0" sourceLinked="0"/>
            <c:spPr>
              <a:noFill/>
              <a:ln>
                <a:noFill/>
              </a:ln>
              <a:effectLst/>
            </c:spPr>
            <c:txPr>
              <a:bodyPr/>
              <a:lstStyle/>
              <a:p>
                <a:pPr>
                  <a:defRPr sz="900" b="0" i="0" u="none" strike="noStrike">
                    <a:solidFill>
                      <a:srgbClr val="162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All others combined</c:v>
                </c:pt>
                <c:pt idx="1">
                  <c:v>Single carriageway</c:v>
                </c:pt>
              </c:strCache>
            </c:strRef>
          </c:cat>
          <c:val>
            <c:numRef>
              <c:f>Sheet1!$B$2:$B$3</c:f>
              <c:numCache>
                <c:formatCode>General</c:formatCode>
                <c:ptCount val="2"/>
                <c:pt idx="0">
                  <c:v>77361</c:v>
                </c:pt>
                <c:pt idx="1">
                  <c:v>230612</c:v>
                </c:pt>
              </c:numCache>
            </c:numRef>
          </c:val>
          <c:extLst>
            <c:ext xmlns:c16="http://schemas.microsoft.com/office/drawing/2014/chart" uri="{C3380CC4-5D6E-409C-BE32-E72D297353CC}">
              <c16:uniqueId val="{00000004-A18E-4A84-B897-0E6622151FF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A"/>
                </a:solidFill>
                <a:latin typeface="Calibri"/>
              </a:defRPr>
            </a:pPr>
            <a:r>
              <a:rPr lang="en-US" sz="1200" b="0" i="0" u="none" strike="noStrike">
                <a:solidFill>
                  <a:srgbClr val="16233A"/>
                </a:solidFill>
                <a:latin typeface="Calibri"/>
              </a:rPr>
              <a:t>Accident severity by speed limit (mph)</a:t>
            </a:r>
          </a:p>
        </c:rich>
      </c:tx>
      <c:overlay val="0"/>
    </c:title>
    <c:autoTitleDeleted val="0"/>
    <c:plotArea>
      <c:layout/>
      <c:barChart>
        <c:barDir val="col"/>
        <c:grouping val="stacked"/>
        <c:varyColors val="0"/>
        <c:ser>
          <c:idx val="0"/>
          <c:order val="0"/>
          <c:tx>
            <c:strRef>
              <c:f>Sheet1!$B$1</c:f>
              <c:strCache>
                <c:ptCount val="1"/>
                <c:pt idx="0">
                  <c:v>Slight</c:v>
                </c:pt>
              </c:strCache>
            </c:strRef>
          </c:tx>
          <c:spPr>
            <a:solidFill>
              <a:srgbClr val="FFC000"/>
            </a:solidFill>
            <a:effectLst/>
          </c:spPr>
          <c:invertIfNegative val="0"/>
          <c:cat>
            <c:strRef>
              <c:f>Sheet1!$A$2:$A$7</c:f>
              <c:strCache>
                <c:ptCount val="6"/>
                <c:pt idx="0">
                  <c:v>20</c:v>
                </c:pt>
                <c:pt idx="1">
                  <c:v>30</c:v>
                </c:pt>
                <c:pt idx="2">
                  <c:v>40</c:v>
                </c:pt>
                <c:pt idx="3">
                  <c:v>50</c:v>
                </c:pt>
                <c:pt idx="4">
                  <c:v>60</c:v>
                </c:pt>
                <c:pt idx="5">
                  <c:v>70</c:v>
                </c:pt>
              </c:strCache>
            </c:strRef>
          </c:cat>
          <c:val>
            <c:numRef>
              <c:f>Sheet1!$B$2:$B$7</c:f>
              <c:numCache>
                <c:formatCode>General</c:formatCode>
                <c:ptCount val="6"/>
                <c:pt idx="0">
                  <c:v>2100</c:v>
                </c:pt>
                <c:pt idx="1">
                  <c:v>176000</c:v>
                </c:pt>
                <c:pt idx="2">
                  <c:v>21500</c:v>
                </c:pt>
                <c:pt idx="3">
                  <c:v>8600</c:v>
                </c:pt>
                <c:pt idx="4">
                  <c:v>38200</c:v>
                </c:pt>
                <c:pt idx="5">
                  <c:v>18900</c:v>
                </c:pt>
              </c:numCache>
            </c:numRef>
          </c:val>
          <c:extLst>
            <c:ext xmlns:c16="http://schemas.microsoft.com/office/drawing/2014/chart" uri="{C3380CC4-5D6E-409C-BE32-E72D297353CC}">
              <c16:uniqueId val="{00000000-B328-4F72-A7F1-6CF35D8E5199}"/>
            </c:ext>
          </c:extLst>
        </c:ser>
        <c:ser>
          <c:idx val="1"/>
          <c:order val="1"/>
          <c:tx>
            <c:strRef>
              <c:f>Sheet1!$C$1</c:f>
              <c:strCache>
                <c:ptCount val="1"/>
                <c:pt idx="0">
                  <c:v>Serious</c:v>
                </c:pt>
              </c:strCache>
            </c:strRef>
          </c:tx>
          <c:spPr>
            <a:solidFill>
              <a:srgbClr val="ED7D31"/>
            </a:solidFill>
            <a:effectLst/>
          </c:spPr>
          <c:invertIfNegative val="0"/>
          <c:cat>
            <c:strRef>
              <c:f>Sheet1!$A$2:$A$7</c:f>
              <c:strCache>
                <c:ptCount val="6"/>
                <c:pt idx="0">
                  <c:v>20</c:v>
                </c:pt>
                <c:pt idx="1">
                  <c:v>30</c:v>
                </c:pt>
                <c:pt idx="2">
                  <c:v>40</c:v>
                </c:pt>
                <c:pt idx="3">
                  <c:v>50</c:v>
                </c:pt>
                <c:pt idx="4">
                  <c:v>60</c:v>
                </c:pt>
                <c:pt idx="5">
                  <c:v>70</c:v>
                </c:pt>
              </c:strCache>
            </c:strRef>
          </c:cat>
          <c:val>
            <c:numRef>
              <c:f>Sheet1!$C$2:$C$7</c:f>
              <c:numCache>
                <c:formatCode>General</c:formatCode>
                <c:ptCount val="6"/>
                <c:pt idx="0">
                  <c:v>380</c:v>
                </c:pt>
                <c:pt idx="1">
                  <c:v>24800</c:v>
                </c:pt>
                <c:pt idx="2">
                  <c:v>3400</c:v>
                </c:pt>
                <c:pt idx="3">
                  <c:v>1500</c:v>
                </c:pt>
                <c:pt idx="4">
                  <c:v>6900</c:v>
                </c:pt>
                <c:pt idx="5">
                  <c:v>2600</c:v>
                </c:pt>
              </c:numCache>
            </c:numRef>
          </c:val>
          <c:extLst>
            <c:ext xmlns:c16="http://schemas.microsoft.com/office/drawing/2014/chart" uri="{C3380CC4-5D6E-409C-BE32-E72D297353CC}">
              <c16:uniqueId val="{00000001-B328-4F72-A7F1-6CF35D8E5199}"/>
            </c:ext>
          </c:extLst>
        </c:ser>
        <c:ser>
          <c:idx val="2"/>
          <c:order val="2"/>
          <c:tx>
            <c:strRef>
              <c:f>Sheet1!$D$1</c:f>
              <c:strCache>
                <c:ptCount val="1"/>
                <c:pt idx="0">
                  <c:v>Fatal</c:v>
                </c:pt>
              </c:strCache>
            </c:strRef>
          </c:tx>
          <c:spPr>
            <a:solidFill>
              <a:srgbClr val="C00000"/>
            </a:solidFill>
            <a:effectLst/>
          </c:spPr>
          <c:invertIfNegative val="0"/>
          <c:cat>
            <c:strRef>
              <c:f>Sheet1!$A$2:$A$7</c:f>
              <c:strCache>
                <c:ptCount val="6"/>
                <c:pt idx="0">
                  <c:v>20</c:v>
                </c:pt>
                <c:pt idx="1">
                  <c:v>30</c:v>
                </c:pt>
                <c:pt idx="2">
                  <c:v>40</c:v>
                </c:pt>
                <c:pt idx="3">
                  <c:v>50</c:v>
                </c:pt>
                <c:pt idx="4">
                  <c:v>60</c:v>
                </c:pt>
                <c:pt idx="5">
                  <c:v>70</c:v>
                </c:pt>
              </c:strCache>
            </c:strRef>
          </c:cat>
          <c:val>
            <c:numRef>
              <c:f>Sheet1!$D$2:$D$7</c:f>
              <c:numCache>
                <c:formatCode>General</c:formatCode>
                <c:ptCount val="6"/>
                <c:pt idx="0">
                  <c:v>30</c:v>
                </c:pt>
                <c:pt idx="1">
                  <c:v>1750</c:v>
                </c:pt>
                <c:pt idx="2">
                  <c:v>340</c:v>
                </c:pt>
                <c:pt idx="3">
                  <c:v>190</c:v>
                </c:pt>
                <c:pt idx="4">
                  <c:v>1100</c:v>
                </c:pt>
                <c:pt idx="5">
                  <c:v>480</c:v>
                </c:pt>
              </c:numCache>
            </c:numRef>
          </c:val>
          <c:extLst>
            <c:ext xmlns:c16="http://schemas.microsoft.com/office/drawing/2014/chart" uri="{C3380CC4-5D6E-409C-BE32-E72D297353CC}">
              <c16:uniqueId val="{00000002-B328-4F72-A7F1-6CF35D8E5199}"/>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F6B7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A"/>
                </a:solidFill>
                <a:latin typeface="Calibri"/>
              </a:defRPr>
            </a:pPr>
            <a:r>
              <a:rPr lang="en-US" sz="1200" b="0" i="0" u="none" strike="noStrike">
                <a:solidFill>
                  <a:srgbClr val="16233A"/>
                </a:solidFill>
                <a:latin typeface="Calibri"/>
              </a:rPr>
              <a:t>Accident frequency by light condition</a:t>
            </a:r>
          </a:p>
        </c:rich>
      </c:tx>
      <c:overlay val="0"/>
    </c:title>
    <c:autoTitleDeleted val="0"/>
    <c:plotArea>
      <c:layout/>
      <c:barChart>
        <c:barDir val="bar"/>
        <c:grouping val="clustered"/>
        <c:varyColors val="0"/>
        <c:ser>
          <c:idx val="0"/>
          <c:order val="0"/>
          <c:tx>
            <c:strRef>
              <c:f>Sheet1!$B$1</c:f>
              <c:strCache>
                <c:ptCount val="1"/>
                <c:pt idx="0">
                  <c:v>Accidents</c:v>
                </c:pt>
              </c:strCache>
            </c:strRef>
          </c:tx>
          <c:spPr>
            <a:solidFill>
              <a:srgbClr val="4472C4"/>
            </a:solidFill>
            <a:effectLst/>
          </c:spPr>
          <c:invertIfNegative val="0"/>
          <c:dLbls>
            <c:numFmt formatCode="#,##0" sourceLinked="0"/>
            <c:spPr>
              <a:noFill/>
              <a:ln>
                <a:noFill/>
              </a:ln>
              <a:effectLst/>
            </c:spPr>
            <c:txPr>
              <a:bodyPr/>
              <a:lstStyle/>
              <a:p>
                <a:pPr>
                  <a:defRPr sz="900" b="0" i="0" u="none" strike="noStrike">
                    <a:solidFill>
                      <a:srgbClr val="162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Darkness – unlit</c:v>
                </c:pt>
                <c:pt idx="1">
                  <c:v>Darkness – unknown</c:v>
                </c:pt>
                <c:pt idx="2">
                  <c:v>Darkness – no lighting</c:v>
                </c:pt>
                <c:pt idx="3">
                  <c:v>Darkness – lights lit</c:v>
                </c:pt>
                <c:pt idx="4">
                  <c:v>Daylight</c:v>
                </c:pt>
              </c:strCache>
            </c:strRef>
          </c:cat>
          <c:val>
            <c:numRef>
              <c:f>Sheet1!$B$2:$B$6</c:f>
              <c:numCache>
                <c:formatCode>General</c:formatCode>
                <c:ptCount val="5"/>
                <c:pt idx="0">
                  <c:v>1142</c:v>
                </c:pt>
                <c:pt idx="1">
                  <c:v>2924</c:v>
                </c:pt>
                <c:pt idx="2">
                  <c:v>16528</c:v>
                </c:pt>
                <c:pt idx="3">
                  <c:v>60093</c:v>
                </c:pt>
                <c:pt idx="4">
                  <c:v>227286</c:v>
                </c:pt>
              </c:numCache>
            </c:numRef>
          </c:val>
          <c:extLst>
            <c:ext xmlns:c16="http://schemas.microsoft.com/office/drawing/2014/chart" uri="{C3380CC4-5D6E-409C-BE32-E72D297353CC}">
              <c16:uniqueId val="{00000000-61EC-43EB-BE69-1BA0A478629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A"/>
                </a:solidFill>
                <a:latin typeface="Calibri"/>
              </a:defRPr>
            </a:pPr>
            <a:r>
              <a:rPr lang="en-US" sz="1200" b="0" i="0" u="none" strike="noStrike">
                <a:solidFill>
                  <a:srgbClr val="16233A"/>
                </a:solidFill>
                <a:latin typeface="Calibri"/>
              </a:rPr>
              <a:t>Accidents by road surface condition</a:t>
            </a:r>
          </a:p>
        </c:rich>
      </c:tx>
      <c:overlay val="0"/>
    </c:title>
    <c:autoTitleDeleted val="0"/>
    <c:plotArea>
      <c:layout/>
      <c:barChart>
        <c:barDir val="bar"/>
        <c:grouping val="clustered"/>
        <c:varyColors val="0"/>
        <c:ser>
          <c:idx val="0"/>
          <c:order val="0"/>
          <c:tx>
            <c:strRef>
              <c:f>Sheet1!$B$1</c:f>
              <c:strCache>
                <c:ptCount val="1"/>
                <c:pt idx="0">
                  <c:v>Accidents</c:v>
                </c:pt>
              </c:strCache>
            </c:strRef>
          </c:tx>
          <c:spPr>
            <a:solidFill>
              <a:srgbClr val="4472C4"/>
            </a:solidFill>
            <a:effectLst/>
          </c:spPr>
          <c:invertIfNegative val="0"/>
          <c:dLbls>
            <c:numFmt formatCode="#,##0" sourceLinked="0"/>
            <c:spPr>
              <a:noFill/>
              <a:ln>
                <a:noFill/>
              </a:ln>
              <a:effectLst/>
            </c:spPr>
            <c:txPr>
              <a:bodyPr/>
              <a:lstStyle/>
              <a:p>
                <a:pPr>
                  <a:defRPr sz="900" b="0" i="0" u="none" strike="noStrike">
                    <a:solidFill>
                      <a:srgbClr val="162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Snow/Ice</c:v>
                </c:pt>
                <c:pt idx="1">
                  <c:v>Wet</c:v>
                </c:pt>
                <c:pt idx="2">
                  <c:v>Dry</c:v>
                </c:pt>
              </c:strCache>
            </c:strRef>
          </c:cat>
          <c:val>
            <c:numRef>
              <c:f>Sheet1!$B$2:$B$4</c:f>
              <c:numCache>
                <c:formatCode>General</c:formatCode>
                <c:ptCount val="3"/>
                <c:pt idx="0">
                  <c:v>12400</c:v>
                </c:pt>
                <c:pt idx="1">
                  <c:v>74800</c:v>
                </c:pt>
                <c:pt idx="2">
                  <c:v>218600</c:v>
                </c:pt>
              </c:numCache>
            </c:numRef>
          </c:val>
          <c:extLst>
            <c:ext xmlns:c16="http://schemas.microsoft.com/office/drawing/2014/chart" uri="{C3380CC4-5D6E-409C-BE32-E72D297353CC}">
              <c16:uniqueId val="{00000000-918A-4FF8-AEA7-F5927053B9F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3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A"/>
                </a:solidFill>
                <a:latin typeface="Calibri"/>
              </a:defRPr>
            </a:pPr>
            <a:r>
              <a:rPr lang="en-US" sz="1200" b="0" i="0" u="none" strike="noStrike">
                <a:solidFill>
                  <a:srgbClr val="16233A"/>
                </a:solidFill>
                <a:latin typeface="Calibri"/>
              </a:rPr>
              <a:t>Share of accidents that are fatal</a:t>
            </a:r>
          </a:p>
        </c:rich>
      </c:tx>
      <c:overlay val="0"/>
    </c:title>
    <c:autoTitleDeleted val="0"/>
    <c:plotArea>
      <c:layout/>
      <c:barChart>
        <c:barDir val="bar"/>
        <c:grouping val="clustered"/>
        <c:varyColors val="0"/>
        <c:ser>
          <c:idx val="0"/>
          <c:order val="0"/>
          <c:tx>
            <c:strRef>
              <c:f>Sheet1!$B$1</c:f>
              <c:strCache>
                <c:ptCount val="1"/>
                <c:pt idx="0">
                  <c:v>Fatal accident rate</c:v>
                </c:pt>
              </c:strCache>
            </c:strRef>
          </c:tx>
          <c:spPr>
            <a:solidFill>
              <a:srgbClr val="A6C0E8"/>
            </a:solidFill>
            <a:effectLst/>
          </c:spPr>
          <c:invertIfNegative val="0"/>
          <c:dPt>
            <c:idx val="0"/>
            <c:invertIfNegative val="0"/>
            <c:bubble3D val="0"/>
            <c:extLst>
              <c:ext xmlns:c16="http://schemas.microsoft.com/office/drawing/2014/chart" uri="{C3380CC4-5D6E-409C-BE32-E72D297353CC}">
                <c16:uniqueId val="{00000001-EFFD-4118-B109-D62370F5A2DF}"/>
              </c:ext>
            </c:extLst>
          </c:dPt>
          <c:dPt>
            <c:idx val="1"/>
            <c:invertIfNegative val="0"/>
            <c:bubble3D val="0"/>
            <c:spPr>
              <a:solidFill>
                <a:srgbClr val="4472C4"/>
              </a:solidFill>
              <a:effectLst/>
            </c:spPr>
            <c:extLst>
              <c:ext xmlns:c16="http://schemas.microsoft.com/office/drawing/2014/chart" uri="{C3380CC4-5D6E-409C-BE32-E72D297353CC}">
                <c16:uniqueId val="{00000003-EFFD-4118-B109-D62370F5A2DF}"/>
              </c:ext>
            </c:extLst>
          </c:dPt>
          <c:dPt>
            <c:idx val="2"/>
            <c:invertIfNegative val="0"/>
            <c:bubble3D val="0"/>
            <c:spPr>
              <a:solidFill>
                <a:srgbClr val="C00000"/>
              </a:solidFill>
              <a:effectLst/>
            </c:spPr>
            <c:extLst>
              <c:ext xmlns:c16="http://schemas.microsoft.com/office/drawing/2014/chart" uri="{C3380CC4-5D6E-409C-BE32-E72D297353CC}">
                <c16:uniqueId val="{00000005-EFFD-4118-B109-D62370F5A2DF}"/>
              </c:ext>
            </c:extLst>
          </c:dPt>
          <c:dLbls>
            <c:numFmt formatCode="0.0%" sourceLinked="0"/>
            <c:spPr>
              <a:noFill/>
              <a:ln>
                <a:noFill/>
              </a:ln>
              <a:effectLst/>
            </c:spPr>
            <c:txPr>
              <a:bodyPr/>
              <a:lstStyle/>
              <a:p>
                <a:pPr>
                  <a:defRPr sz="900" b="0" i="0" u="none" strike="noStrike">
                    <a:solidFill>
                      <a:srgbClr val="1623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Urban</c:v>
                </c:pt>
                <c:pt idx="1">
                  <c:v>National</c:v>
                </c:pt>
                <c:pt idx="2">
                  <c:v>Rural</c:v>
                </c:pt>
              </c:strCache>
            </c:strRef>
          </c:cat>
          <c:val>
            <c:numRef>
              <c:f>Sheet1!$B$2:$B$4</c:f>
              <c:numCache>
                <c:formatCode>General</c:formatCode>
                <c:ptCount val="3"/>
                <c:pt idx="0">
                  <c:v>8.0789999999999994E-3</c:v>
                </c:pt>
                <c:pt idx="1">
                  <c:v>1.2836E-2</c:v>
                </c:pt>
                <c:pt idx="2">
                  <c:v>2.1462999999999999E-2</c:v>
                </c:pt>
              </c:numCache>
            </c:numRef>
          </c:val>
          <c:extLst>
            <c:ext xmlns:c16="http://schemas.microsoft.com/office/drawing/2014/chart" uri="{C3380CC4-5D6E-409C-BE32-E72D297353CC}">
              <c16:uniqueId val="{00000006-EFFD-4118-B109-D62370F5A2D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3E6EB"/>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9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8560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deck as moving beyond description into prescription: what the data says, and what should be done about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Sections 3-4 carry the analysis; section 6 carries the value.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Sets up the brief. The objective statement mirrors the six capstone objectives compressed into one sentence.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variables spanning temporal, spatial, environmental and outcome dimensions. Note the casualty multiplier of 1.36 introduced 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rather than cleaning, since this covers standardisation, derivation and validation as well as cleaning. Dwell on step 01: the coverage audit is what surfaced the Scottish 2022 gap.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casualty multiplier is the single most important derived insight in the deck. It reframes fatal accidents from a 1.28% rounding error into a concentrated harm problem.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taken directly from the dashboard. The prescriptive box is the point: split the KPI.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Hour-of-day series reconstructed from the dashboard's area chart profile. The overnight point is a rate-vs-volume distinction worth stating explicitly.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limit stack uses the dashboard's severity proportions. The 60 mph point is the key prescriptive hook for rural intervention.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guards against the classic misreading of the light-condition chart. Exposure vs risk. Then pivots to the genuinely actionable subset.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Identifying the coverage gap is a stronger demonstration of analytical judgement than any finding it displaces. The original reading of a Scottish policy success was an artifact, and saying so plainly is the correct professional response.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slicers: Year, Urban/Rural and Severity all cross-filter every visual simultaneously.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this live if possible: one click on the Rural slicer and every visual recalculates. The 2.7x fatal rate differential is the single strongest argument in the deck for a rural-specific intervention programme.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speed limit panel is a guard against over-reading. Three plausible-sounding explanations - drivers ignoring limits, poor education, missing signage - are all untestable with this dataset, and saying so is more credible than asserting them.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demonstrates analytical judgement rather than just output — useful differentiator in a capstone review.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 tendency, range and skewness as required by the capstone deliverable. The interpretation column is what lifts this above a raw stats dump.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recommendation is tied to a specific figure from the dashboard rather than generic road safety advice.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08 is the most senior-level point: it changes how success is measured, not just what is done.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six establishing points. If time is short, lead with 01, 02 and 05 — they carry the strongest prescriptive weight.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A"/>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6233A"/>
          </a:solidFill>
          <a:ln/>
        </p:spPr>
      </p:sp>
      <p:sp>
        <p:nvSpPr>
          <p:cNvPr id="3" name="Text 1"/>
          <p:cNvSpPr/>
          <p:nvPr/>
        </p:nvSpPr>
        <p:spPr>
          <a:xfrm>
            <a:off x="822960" y="1417320"/>
            <a:ext cx="8229600" cy="274320"/>
          </a:xfrm>
          <a:prstGeom prst="rect">
            <a:avLst/>
          </a:prstGeom>
          <a:noFill/>
          <a:ln/>
        </p:spPr>
        <p:txBody>
          <a:bodyPr wrap="square" lIns="0" tIns="0" rIns="0" bIns="0" rtlCol="0" anchor="ctr"/>
          <a:lstStyle/>
          <a:p>
            <a:pPr marL="0" indent="0">
              <a:buNone/>
            </a:pPr>
            <a:r>
              <a:rPr lang="en-US" sz="1200" b="1" kern="0" spc="300" dirty="0">
                <a:solidFill>
                  <a:srgbClr val="FFC000"/>
                </a:solidFill>
                <a:latin typeface="Calibri" pitchFamily="34" charset="0"/>
                <a:ea typeface="Calibri" pitchFamily="34" charset="-122"/>
                <a:cs typeface="Calibri" pitchFamily="34" charset="-120"/>
              </a:rPr>
              <a:t>10ALYTICS  ·  DATA SCIENCE CAPSTONE</a:t>
            </a:r>
            <a:endParaRPr lang="en-US" sz="1200" dirty="0"/>
          </a:p>
        </p:txBody>
      </p:sp>
      <p:sp>
        <p:nvSpPr>
          <p:cNvPr id="4" name="Text 2"/>
          <p:cNvSpPr/>
          <p:nvPr/>
        </p:nvSpPr>
        <p:spPr>
          <a:xfrm>
            <a:off x="822960" y="1874520"/>
            <a:ext cx="10515600" cy="7772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UK Road Traffic Accidents</a:t>
            </a:r>
            <a:endParaRPr lang="en-US" sz="4600" dirty="0"/>
          </a:p>
        </p:txBody>
      </p:sp>
      <p:sp>
        <p:nvSpPr>
          <p:cNvPr id="5" name="Text 3"/>
          <p:cNvSpPr/>
          <p:nvPr/>
        </p:nvSpPr>
        <p:spPr>
          <a:xfrm>
            <a:off x="822960" y="2697480"/>
            <a:ext cx="10515600" cy="640080"/>
          </a:xfrm>
          <a:prstGeom prst="rect">
            <a:avLst/>
          </a:prstGeom>
          <a:noFill/>
          <a:ln/>
        </p:spPr>
        <p:txBody>
          <a:bodyPr wrap="square" lIns="0" tIns="0" rIns="0" bIns="0" rtlCol="0" anchor="ctr"/>
          <a:lstStyle/>
          <a:p>
            <a:pPr marL="0" indent="0">
              <a:buNone/>
            </a:pPr>
            <a:r>
              <a:rPr lang="en-US" sz="3400" b="1" dirty="0">
                <a:solidFill>
                  <a:srgbClr val="FFC000"/>
                </a:solidFill>
                <a:latin typeface="Cambria" pitchFamily="34" charset="0"/>
                <a:ea typeface="Cambria" pitchFamily="34" charset="-122"/>
                <a:cs typeface="Cambria" pitchFamily="34" charset="-120"/>
              </a:rPr>
              <a:t>Trends, Severity &amp; Risk Factors</a:t>
            </a:r>
            <a:endParaRPr lang="en-US" sz="3400" dirty="0"/>
          </a:p>
        </p:txBody>
      </p:sp>
      <p:sp>
        <p:nvSpPr>
          <p:cNvPr id="6" name="Text 4"/>
          <p:cNvSpPr/>
          <p:nvPr/>
        </p:nvSpPr>
        <p:spPr>
          <a:xfrm>
            <a:off x="822960" y="3520440"/>
            <a:ext cx="8595360" cy="548640"/>
          </a:xfrm>
          <a:prstGeom prst="rect">
            <a:avLst/>
          </a:prstGeom>
          <a:noFill/>
          <a:ln/>
        </p:spPr>
        <p:txBody>
          <a:bodyPr wrap="square" lIns="0" tIns="0" rIns="0" bIns="0" rtlCol="0" anchor="ctr"/>
          <a:lstStyle/>
          <a:p>
            <a:pPr marL="0" indent="0">
              <a:lnSpc>
                <a:spcPts val="2000"/>
              </a:lnSpc>
              <a:buNone/>
            </a:pPr>
            <a:r>
              <a:rPr lang="en-US" sz="1400" dirty="0">
                <a:solidFill>
                  <a:srgbClr val="C6CEDA"/>
                </a:solidFill>
                <a:latin typeface="Calibri" pitchFamily="34" charset="0"/>
                <a:ea typeface="Calibri" pitchFamily="34" charset="-122"/>
                <a:cs typeface="Calibri" pitchFamily="34" charset="-120"/>
              </a:rPr>
              <a:t>A descriptive and prescriptive analysis translating 307,973 accident records into targeted road safety interventions.</a:t>
            </a:r>
            <a:endParaRPr lang="en-US" sz="1400" dirty="0"/>
          </a:p>
        </p:txBody>
      </p:sp>
      <p:sp>
        <p:nvSpPr>
          <p:cNvPr id="7" name="Shape 5"/>
          <p:cNvSpPr/>
          <p:nvPr/>
        </p:nvSpPr>
        <p:spPr>
          <a:xfrm>
            <a:off x="822960" y="4343400"/>
            <a:ext cx="3108960" cy="27432"/>
          </a:xfrm>
          <a:prstGeom prst="rect">
            <a:avLst/>
          </a:prstGeom>
          <a:solidFill>
            <a:srgbClr val="FFC000"/>
          </a:solidFill>
          <a:ln/>
        </p:spPr>
      </p:sp>
      <p:sp>
        <p:nvSpPr>
          <p:cNvPr id="8" name="Text 6"/>
          <p:cNvSpPr/>
          <p:nvPr/>
        </p:nvSpPr>
        <p:spPr>
          <a:xfrm>
            <a:off x="822960" y="4663440"/>
            <a:ext cx="2286000" cy="4114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307,973</a:t>
            </a:r>
            <a:endParaRPr lang="en-US" sz="2400" dirty="0"/>
          </a:p>
        </p:txBody>
      </p:sp>
      <p:sp>
        <p:nvSpPr>
          <p:cNvPr id="9" name="Text 7"/>
          <p:cNvSpPr/>
          <p:nvPr/>
        </p:nvSpPr>
        <p:spPr>
          <a:xfrm>
            <a:off x="822960" y="5074920"/>
            <a:ext cx="2286000" cy="256032"/>
          </a:xfrm>
          <a:prstGeom prst="rect">
            <a:avLst/>
          </a:prstGeom>
          <a:noFill/>
          <a:ln/>
        </p:spPr>
        <p:txBody>
          <a:bodyPr wrap="square" lIns="0" tIns="0" rIns="0" bIns="0" rtlCol="0" anchor="ctr"/>
          <a:lstStyle/>
          <a:p>
            <a:pPr marL="0" indent="0">
              <a:buNone/>
            </a:pPr>
            <a:r>
              <a:rPr lang="en-US" sz="1100" dirty="0">
                <a:solidFill>
                  <a:srgbClr val="9FB0C6"/>
                </a:solidFill>
                <a:latin typeface="Calibri" pitchFamily="34" charset="0"/>
                <a:ea typeface="Calibri" pitchFamily="34" charset="-122"/>
                <a:cs typeface="Calibri" pitchFamily="34" charset="-120"/>
              </a:rPr>
              <a:t>Accidents</a:t>
            </a:r>
            <a:endParaRPr lang="en-US" sz="1100" dirty="0"/>
          </a:p>
        </p:txBody>
      </p:sp>
      <p:sp>
        <p:nvSpPr>
          <p:cNvPr id="10" name="Text 8"/>
          <p:cNvSpPr/>
          <p:nvPr/>
        </p:nvSpPr>
        <p:spPr>
          <a:xfrm>
            <a:off x="3337560" y="4663440"/>
            <a:ext cx="2286000" cy="4114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417,883</a:t>
            </a:r>
            <a:endParaRPr lang="en-US" sz="2400" dirty="0"/>
          </a:p>
        </p:txBody>
      </p:sp>
      <p:sp>
        <p:nvSpPr>
          <p:cNvPr id="11" name="Text 9"/>
          <p:cNvSpPr/>
          <p:nvPr/>
        </p:nvSpPr>
        <p:spPr>
          <a:xfrm>
            <a:off x="3337560" y="5074920"/>
            <a:ext cx="2286000" cy="256032"/>
          </a:xfrm>
          <a:prstGeom prst="rect">
            <a:avLst/>
          </a:prstGeom>
          <a:noFill/>
          <a:ln/>
        </p:spPr>
        <p:txBody>
          <a:bodyPr wrap="square" lIns="0" tIns="0" rIns="0" bIns="0" rtlCol="0" anchor="ctr"/>
          <a:lstStyle/>
          <a:p>
            <a:pPr marL="0" indent="0">
              <a:buNone/>
            </a:pPr>
            <a:r>
              <a:rPr lang="en-US" sz="1100" dirty="0">
                <a:solidFill>
                  <a:srgbClr val="9FB0C6"/>
                </a:solidFill>
                <a:latin typeface="Calibri" pitchFamily="34" charset="0"/>
                <a:ea typeface="Calibri" pitchFamily="34" charset="-122"/>
                <a:cs typeface="Calibri" pitchFamily="34" charset="-120"/>
              </a:rPr>
              <a:t>Casualties</a:t>
            </a:r>
            <a:endParaRPr lang="en-US" sz="1100" dirty="0"/>
          </a:p>
        </p:txBody>
      </p:sp>
      <p:sp>
        <p:nvSpPr>
          <p:cNvPr id="12" name="Text 10"/>
          <p:cNvSpPr/>
          <p:nvPr/>
        </p:nvSpPr>
        <p:spPr>
          <a:xfrm>
            <a:off x="5852160" y="4663440"/>
            <a:ext cx="2286000" cy="4114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2021–2022</a:t>
            </a:r>
            <a:endParaRPr lang="en-US" sz="2400" dirty="0"/>
          </a:p>
        </p:txBody>
      </p:sp>
      <p:sp>
        <p:nvSpPr>
          <p:cNvPr id="13" name="Text 11"/>
          <p:cNvSpPr/>
          <p:nvPr/>
        </p:nvSpPr>
        <p:spPr>
          <a:xfrm>
            <a:off x="5852160" y="5074920"/>
            <a:ext cx="2286000" cy="256032"/>
          </a:xfrm>
          <a:prstGeom prst="rect">
            <a:avLst/>
          </a:prstGeom>
          <a:noFill/>
          <a:ln/>
        </p:spPr>
        <p:txBody>
          <a:bodyPr wrap="square" lIns="0" tIns="0" rIns="0" bIns="0" rtlCol="0" anchor="ctr"/>
          <a:lstStyle/>
          <a:p>
            <a:pPr marL="0" indent="0">
              <a:buNone/>
            </a:pPr>
            <a:r>
              <a:rPr lang="en-US" sz="1100" dirty="0">
                <a:solidFill>
                  <a:srgbClr val="9FB0C6"/>
                </a:solidFill>
                <a:latin typeface="Calibri" pitchFamily="34" charset="0"/>
                <a:ea typeface="Calibri" pitchFamily="34" charset="-122"/>
                <a:cs typeface="Calibri" pitchFamily="34" charset="-120"/>
              </a:rPr>
              <a:t>Period</a:t>
            </a:r>
            <a:endParaRPr lang="en-US" sz="1100" dirty="0"/>
          </a:p>
        </p:txBody>
      </p:sp>
      <p:sp>
        <p:nvSpPr>
          <p:cNvPr id="14" name="Text 12"/>
          <p:cNvSpPr/>
          <p:nvPr/>
        </p:nvSpPr>
        <p:spPr>
          <a:xfrm>
            <a:off x="8366760" y="4663440"/>
            <a:ext cx="2286000" cy="4114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422</a:t>
            </a:r>
            <a:endParaRPr lang="en-US" sz="2400" dirty="0"/>
          </a:p>
        </p:txBody>
      </p:sp>
      <p:sp>
        <p:nvSpPr>
          <p:cNvPr id="15" name="Text 13"/>
          <p:cNvSpPr/>
          <p:nvPr/>
        </p:nvSpPr>
        <p:spPr>
          <a:xfrm>
            <a:off x="8366760" y="5074920"/>
            <a:ext cx="2286000" cy="256032"/>
          </a:xfrm>
          <a:prstGeom prst="rect">
            <a:avLst/>
          </a:prstGeom>
          <a:noFill/>
          <a:ln/>
        </p:spPr>
        <p:txBody>
          <a:bodyPr wrap="square" lIns="0" tIns="0" rIns="0" bIns="0" rtlCol="0" anchor="ctr"/>
          <a:lstStyle/>
          <a:p>
            <a:pPr marL="0" indent="0">
              <a:buNone/>
            </a:pPr>
            <a:r>
              <a:rPr lang="en-US" sz="1100" dirty="0">
                <a:solidFill>
                  <a:srgbClr val="9FB0C6"/>
                </a:solidFill>
                <a:latin typeface="Calibri" pitchFamily="34" charset="0"/>
                <a:ea typeface="Calibri" pitchFamily="34" charset="-122"/>
                <a:cs typeface="Calibri" pitchFamily="34" charset="-120"/>
              </a:rPr>
              <a:t>Districts</a:t>
            </a:r>
            <a:endParaRPr lang="en-US" sz="1100" dirty="0"/>
          </a:p>
        </p:txBody>
      </p:sp>
      <p:sp>
        <p:nvSpPr>
          <p:cNvPr id="16" name="Text 14"/>
          <p:cNvSpPr/>
          <p:nvPr/>
        </p:nvSpPr>
        <p:spPr>
          <a:xfrm>
            <a:off x="822960" y="5943600"/>
            <a:ext cx="7315200" cy="274320"/>
          </a:xfrm>
          <a:prstGeom prst="rect">
            <a:avLst/>
          </a:prstGeom>
          <a:noFill/>
          <a:ln/>
        </p:spPr>
        <p:txBody>
          <a:bodyPr wrap="square" lIns="0" tIns="0" rIns="0" bIns="0" rtlCol="0" anchor="ctr"/>
          <a:lstStyle/>
          <a:p>
            <a:pPr marL="0" indent="0">
              <a:buNone/>
            </a:pPr>
            <a:r>
              <a:rPr lang="en-US" sz="1100" dirty="0">
                <a:solidFill>
                  <a:srgbClr val="7E8FA6"/>
                </a:solidFill>
                <a:latin typeface="Calibri" pitchFamily="34" charset="0"/>
                <a:ea typeface="Calibri" pitchFamily="34" charset="-122"/>
                <a:cs typeface="Calibri" pitchFamily="34" charset="-120"/>
              </a:rPr>
              <a:t>Prepared by Samuel Babajide  ·  CoreTech Labs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NAVIGATION</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Presentation Outline</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Shape 3"/>
          <p:cNvSpPr/>
          <p:nvPr/>
        </p:nvSpPr>
        <p:spPr>
          <a:xfrm>
            <a:off x="502920" y="1508760"/>
            <a:ext cx="5394960" cy="1188720"/>
          </a:xfrm>
          <a:prstGeom prst="roundRect">
            <a:avLst>
              <a:gd name="adj" fmla="val 6154"/>
            </a:avLst>
          </a:prstGeom>
          <a:solidFill>
            <a:srgbClr val="F4F5F7"/>
          </a:solidFill>
          <a:ln w="6350">
            <a:solidFill>
              <a:srgbClr val="E3E6EB"/>
            </a:solidFill>
            <a:prstDash val="solid"/>
          </a:ln>
        </p:spPr>
      </p:sp>
      <p:sp>
        <p:nvSpPr>
          <p:cNvPr id="6" name="Text 4"/>
          <p:cNvSpPr/>
          <p:nvPr/>
        </p:nvSpPr>
        <p:spPr>
          <a:xfrm>
            <a:off x="731520" y="1709928"/>
            <a:ext cx="640080" cy="457200"/>
          </a:xfrm>
          <a:prstGeom prst="rect">
            <a:avLst/>
          </a:prstGeom>
          <a:noFill/>
          <a:ln/>
        </p:spPr>
        <p:txBody>
          <a:bodyPr wrap="square" lIns="0" tIns="0" rIns="0" bIns="0" rtlCol="0" anchor="ctr"/>
          <a:lstStyle/>
          <a:p>
            <a:pPr marL="0" indent="0">
              <a:buNone/>
            </a:pPr>
            <a:r>
              <a:rPr lang="en-US" sz="2400" b="1" dirty="0">
                <a:solidFill>
                  <a:srgbClr val="FFC000"/>
                </a:solidFill>
                <a:latin typeface="Cambria" pitchFamily="34" charset="0"/>
                <a:ea typeface="Cambria" pitchFamily="34" charset="-122"/>
                <a:cs typeface="Cambria" pitchFamily="34" charset="-120"/>
              </a:rPr>
              <a:t>01</a:t>
            </a:r>
            <a:endParaRPr lang="en-US" sz="2400" dirty="0"/>
          </a:p>
        </p:txBody>
      </p:sp>
      <p:sp>
        <p:nvSpPr>
          <p:cNvPr id="7" name="Text 5"/>
          <p:cNvSpPr/>
          <p:nvPr/>
        </p:nvSpPr>
        <p:spPr>
          <a:xfrm>
            <a:off x="1417320" y="1709928"/>
            <a:ext cx="4297680" cy="292608"/>
          </a:xfrm>
          <a:prstGeom prst="rect">
            <a:avLst/>
          </a:prstGeom>
          <a:noFill/>
          <a:ln/>
        </p:spPr>
        <p:txBody>
          <a:bodyPr wrap="square" lIns="0" tIns="0" rIns="0" bIns="0" rtlCol="0" anchor="ctr"/>
          <a:lstStyle/>
          <a:p>
            <a:pPr marL="0" indent="0">
              <a:buNone/>
            </a:pPr>
            <a:r>
              <a:rPr lang="en-US" sz="1400" b="1" dirty="0">
                <a:solidFill>
                  <a:srgbClr val="16233A"/>
                </a:solidFill>
                <a:latin typeface="Calibri" pitchFamily="34" charset="0"/>
                <a:ea typeface="Calibri" pitchFamily="34" charset="-122"/>
                <a:cs typeface="Calibri" pitchFamily="34" charset="-120"/>
              </a:rPr>
              <a:t>Introduction</a:t>
            </a:r>
            <a:endParaRPr lang="en-US" sz="1400" dirty="0"/>
          </a:p>
        </p:txBody>
      </p:sp>
      <p:sp>
        <p:nvSpPr>
          <p:cNvPr id="8" name="Text 6"/>
          <p:cNvSpPr/>
          <p:nvPr/>
        </p:nvSpPr>
        <p:spPr>
          <a:xfrm>
            <a:off x="1417320" y="2039112"/>
            <a:ext cx="4297680" cy="502920"/>
          </a:xfrm>
          <a:prstGeom prst="rect">
            <a:avLst/>
          </a:prstGeom>
          <a:noFill/>
          <a:ln/>
        </p:spPr>
        <p:txBody>
          <a:bodyPr wrap="square" lIns="0" tIns="0" rIns="0" bIns="0" rtlCol="0" anchor="ctr"/>
          <a:lstStyle/>
          <a:p>
            <a:pPr marL="0" indent="0">
              <a:lnSpc>
                <a:spcPts val="1300"/>
              </a:lnSpc>
              <a:buNone/>
            </a:pPr>
            <a:r>
              <a:rPr lang="en-US" sz="1050" dirty="0">
                <a:solidFill>
                  <a:srgbClr val="5F6B7A"/>
                </a:solidFill>
                <a:latin typeface="Calibri" pitchFamily="34" charset="0"/>
                <a:ea typeface="Calibri" pitchFamily="34" charset="-122"/>
                <a:cs typeface="Calibri" pitchFamily="34" charset="-120"/>
              </a:rPr>
              <a:t>Problem statement, rationale and objectives</a:t>
            </a:r>
            <a:endParaRPr lang="en-US" sz="1050" dirty="0"/>
          </a:p>
        </p:txBody>
      </p:sp>
      <p:sp>
        <p:nvSpPr>
          <p:cNvPr id="9" name="Shape 7"/>
          <p:cNvSpPr/>
          <p:nvPr/>
        </p:nvSpPr>
        <p:spPr>
          <a:xfrm>
            <a:off x="6263640" y="1508760"/>
            <a:ext cx="5394960" cy="1188720"/>
          </a:xfrm>
          <a:prstGeom prst="roundRect">
            <a:avLst>
              <a:gd name="adj" fmla="val 6154"/>
            </a:avLst>
          </a:prstGeom>
          <a:solidFill>
            <a:srgbClr val="F4F5F7"/>
          </a:solidFill>
          <a:ln w="6350">
            <a:solidFill>
              <a:srgbClr val="E3E6EB"/>
            </a:solidFill>
            <a:prstDash val="solid"/>
          </a:ln>
        </p:spPr>
      </p:sp>
      <p:sp>
        <p:nvSpPr>
          <p:cNvPr id="10" name="Text 8"/>
          <p:cNvSpPr/>
          <p:nvPr/>
        </p:nvSpPr>
        <p:spPr>
          <a:xfrm>
            <a:off x="6492240" y="1709928"/>
            <a:ext cx="640080" cy="457200"/>
          </a:xfrm>
          <a:prstGeom prst="rect">
            <a:avLst/>
          </a:prstGeom>
          <a:noFill/>
          <a:ln/>
        </p:spPr>
        <p:txBody>
          <a:bodyPr wrap="square" lIns="0" tIns="0" rIns="0" bIns="0" rtlCol="0" anchor="ctr"/>
          <a:lstStyle/>
          <a:p>
            <a:pPr marL="0" indent="0">
              <a:buNone/>
            </a:pPr>
            <a:r>
              <a:rPr lang="en-US" sz="2400" b="1" dirty="0">
                <a:solidFill>
                  <a:srgbClr val="FFC000"/>
                </a:solidFill>
                <a:latin typeface="Cambria" pitchFamily="34" charset="0"/>
                <a:ea typeface="Cambria" pitchFamily="34" charset="-122"/>
                <a:cs typeface="Cambria" pitchFamily="34" charset="-120"/>
              </a:rPr>
              <a:t>02</a:t>
            </a:r>
            <a:endParaRPr lang="en-US" sz="2400" dirty="0"/>
          </a:p>
        </p:txBody>
      </p:sp>
      <p:sp>
        <p:nvSpPr>
          <p:cNvPr id="11" name="Text 9"/>
          <p:cNvSpPr/>
          <p:nvPr/>
        </p:nvSpPr>
        <p:spPr>
          <a:xfrm>
            <a:off x="7178040" y="1709928"/>
            <a:ext cx="4297680" cy="292608"/>
          </a:xfrm>
          <a:prstGeom prst="rect">
            <a:avLst/>
          </a:prstGeom>
          <a:noFill/>
          <a:ln/>
        </p:spPr>
        <p:txBody>
          <a:bodyPr wrap="square" lIns="0" tIns="0" rIns="0" bIns="0" rtlCol="0" anchor="ctr"/>
          <a:lstStyle/>
          <a:p>
            <a:pPr marL="0" indent="0">
              <a:buNone/>
            </a:pPr>
            <a:r>
              <a:rPr lang="en-US" sz="1400" b="1" dirty="0">
                <a:solidFill>
                  <a:srgbClr val="16233A"/>
                </a:solidFill>
                <a:latin typeface="Calibri" pitchFamily="34" charset="0"/>
                <a:ea typeface="Calibri" pitchFamily="34" charset="-122"/>
                <a:cs typeface="Calibri" pitchFamily="34" charset="-120"/>
              </a:rPr>
              <a:t>Data &amp; Methodology</a:t>
            </a:r>
            <a:endParaRPr lang="en-US" sz="1400" dirty="0"/>
          </a:p>
        </p:txBody>
      </p:sp>
      <p:sp>
        <p:nvSpPr>
          <p:cNvPr id="12" name="Text 10"/>
          <p:cNvSpPr/>
          <p:nvPr/>
        </p:nvSpPr>
        <p:spPr>
          <a:xfrm>
            <a:off x="7178040" y="2039112"/>
            <a:ext cx="4297680" cy="502920"/>
          </a:xfrm>
          <a:prstGeom prst="rect">
            <a:avLst/>
          </a:prstGeom>
          <a:noFill/>
          <a:ln/>
        </p:spPr>
        <p:txBody>
          <a:bodyPr wrap="square" lIns="0" tIns="0" rIns="0" bIns="0" rtlCol="0" anchor="ctr"/>
          <a:lstStyle/>
          <a:p>
            <a:pPr marL="0" indent="0">
              <a:lnSpc>
                <a:spcPts val="1300"/>
              </a:lnSpc>
              <a:buNone/>
            </a:pPr>
            <a:r>
              <a:rPr lang="en-US" sz="1050" dirty="0">
                <a:solidFill>
                  <a:srgbClr val="5F6B7A"/>
                </a:solidFill>
                <a:latin typeface="Calibri" pitchFamily="34" charset="0"/>
                <a:ea typeface="Calibri" pitchFamily="34" charset="-122"/>
                <a:cs typeface="Calibri" pitchFamily="34" charset="-120"/>
              </a:rPr>
              <a:t>23 variables, cleaning and standardisation</a:t>
            </a:r>
            <a:endParaRPr lang="en-US" sz="1050" dirty="0"/>
          </a:p>
        </p:txBody>
      </p:sp>
      <p:sp>
        <p:nvSpPr>
          <p:cNvPr id="13" name="Shape 11"/>
          <p:cNvSpPr/>
          <p:nvPr/>
        </p:nvSpPr>
        <p:spPr>
          <a:xfrm>
            <a:off x="502920" y="2971800"/>
            <a:ext cx="5394960" cy="1188720"/>
          </a:xfrm>
          <a:prstGeom prst="roundRect">
            <a:avLst>
              <a:gd name="adj" fmla="val 6154"/>
            </a:avLst>
          </a:prstGeom>
          <a:solidFill>
            <a:srgbClr val="F4F5F7"/>
          </a:solidFill>
          <a:ln w="6350">
            <a:solidFill>
              <a:srgbClr val="E3E6EB"/>
            </a:solidFill>
            <a:prstDash val="solid"/>
          </a:ln>
        </p:spPr>
      </p:sp>
      <p:sp>
        <p:nvSpPr>
          <p:cNvPr id="14" name="Text 12"/>
          <p:cNvSpPr/>
          <p:nvPr/>
        </p:nvSpPr>
        <p:spPr>
          <a:xfrm>
            <a:off x="731520" y="3172968"/>
            <a:ext cx="640080" cy="457200"/>
          </a:xfrm>
          <a:prstGeom prst="rect">
            <a:avLst/>
          </a:prstGeom>
          <a:noFill/>
          <a:ln/>
        </p:spPr>
        <p:txBody>
          <a:bodyPr wrap="square" lIns="0" tIns="0" rIns="0" bIns="0" rtlCol="0" anchor="ctr"/>
          <a:lstStyle/>
          <a:p>
            <a:pPr marL="0" indent="0">
              <a:buNone/>
            </a:pPr>
            <a:r>
              <a:rPr lang="en-US" sz="2400" b="1" dirty="0">
                <a:solidFill>
                  <a:srgbClr val="FFC000"/>
                </a:solidFill>
                <a:latin typeface="Cambria" pitchFamily="34" charset="0"/>
                <a:ea typeface="Cambria" pitchFamily="34" charset="-122"/>
                <a:cs typeface="Cambria" pitchFamily="34" charset="-120"/>
              </a:rPr>
              <a:t>03</a:t>
            </a:r>
            <a:endParaRPr lang="en-US" sz="2400" dirty="0"/>
          </a:p>
        </p:txBody>
      </p:sp>
      <p:sp>
        <p:nvSpPr>
          <p:cNvPr id="15" name="Text 13"/>
          <p:cNvSpPr/>
          <p:nvPr/>
        </p:nvSpPr>
        <p:spPr>
          <a:xfrm>
            <a:off x="1417320" y="3172968"/>
            <a:ext cx="4297680" cy="292608"/>
          </a:xfrm>
          <a:prstGeom prst="rect">
            <a:avLst/>
          </a:prstGeom>
          <a:noFill/>
          <a:ln/>
        </p:spPr>
        <p:txBody>
          <a:bodyPr wrap="square" lIns="0" tIns="0" rIns="0" bIns="0" rtlCol="0" anchor="ctr"/>
          <a:lstStyle/>
          <a:p>
            <a:pPr marL="0" indent="0">
              <a:buNone/>
            </a:pPr>
            <a:r>
              <a:rPr lang="en-US" sz="1400" b="1" dirty="0">
                <a:solidFill>
                  <a:srgbClr val="16233A"/>
                </a:solidFill>
                <a:latin typeface="Calibri" pitchFamily="34" charset="0"/>
                <a:ea typeface="Calibri" pitchFamily="34" charset="-122"/>
                <a:cs typeface="Calibri" pitchFamily="34" charset="-120"/>
              </a:rPr>
              <a:t>KPI Overview</a:t>
            </a:r>
            <a:endParaRPr lang="en-US" sz="1400" dirty="0"/>
          </a:p>
        </p:txBody>
      </p:sp>
      <p:sp>
        <p:nvSpPr>
          <p:cNvPr id="16" name="Text 14"/>
          <p:cNvSpPr/>
          <p:nvPr/>
        </p:nvSpPr>
        <p:spPr>
          <a:xfrm>
            <a:off x="1417320" y="3502152"/>
            <a:ext cx="4297680" cy="502920"/>
          </a:xfrm>
          <a:prstGeom prst="rect">
            <a:avLst/>
          </a:prstGeom>
          <a:noFill/>
          <a:ln/>
        </p:spPr>
        <p:txBody>
          <a:bodyPr wrap="square" lIns="0" tIns="0" rIns="0" bIns="0" rtlCol="0" anchor="ctr"/>
          <a:lstStyle/>
          <a:p>
            <a:pPr marL="0" indent="0">
              <a:lnSpc>
                <a:spcPts val="1300"/>
              </a:lnSpc>
              <a:buNone/>
            </a:pPr>
            <a:r>
              <a:rPr lang="en-US" sz="1050" dirty="0">
                <a:solidFill>
                  <a:srgbClr val="5F6B7A"/>
                </a:solidFill>
                <a:latin typeface="Calibri" pitchFamily="34" charset="0"/>
                <a:ea typeface="Calibri" pitchFamily="34" charset="-122"/>
                <a:cs typeface="Calibri" pitchFamily="34" charset="-120"/>
              </a:rPr>
              <a:t>Headline measures across the full dataset</a:t>
            </a:r>
            <a:endParaRPr lang="en-US" sz="1050" dirty="0"/>
          </a:p>
        </p:txBody>
      </p:sp>
      <p:sp>
        <p:nvSpPr>
          <p:cNvPr id="17" name="Shape 15"/>
          <p:cNvSpPr/>
          <p:nvPr/>
        </p:nvSpPr>
        <p:spPr>
          <a:xfrm>
            <a:off x="6263640" y="2971800"/>
            <a:ext cx="5394960" cy="1188720"/>
          </a:xfrm>
          <a:prstGeom prst="roundRect">
            <a:avLst>
              <a:gd name="adj" fmla="val 6154"/>
            </a:avLst>
          </a:prstGeom>
          <a:solidFill>
            <a:srgbClr val="F4F5F7"/>
          </a:solidFill>
          <a:ln w="6350">
            <a:solidFill>
              <a:srgbClr val="E3E6EB"/>
            </a:solidFill>
            <a:prstDash val="solid"/>
          </a:ln>
        </p:spPr>
      </p:sp>
      <p:sp>
        <p:nvSpPr>
          <p:cNvPr id="18" name="Text 16"/>
          <p:cNvSpPr/>
          <p:nvPr/>
        </p:nvSpPr>
        <p:spPr>
          <a:xfrm>
            <a:off x="6492240" y="3172968"/>
            <a:ext cx="640080" cy="457200"/>
          </a:xfrm>
          <a:prstGeom prst="rect">
            <a:avLst/>
          </a:prstGeom>
          <a:noFill/>
          <a:ln/>
        </p:spPr>
        <p:txBody>
          <a:bodyPr wrap="square" lIns="0" tIns="0" rIns="0" bIns="0" rtlCol="0" anchor="ctr"/>
          <a:lstStyle/>
          <a:p>
            <a:pPr marL="0" indent="0">
              <a:buNone/>
            </a:pPr>
            <a:r>
              <a:rPr lang="en-US" sz="2400" b="1" dirty="0">
                <a:solidFill>
                  <a:srgbClr val="FFC000"/>
                </a:solidFill>
                <a:latin typeface="Cambria" pitchFamily="34" charset="0"/>
                <a:ea typeface="Cambria" pitchFamily="34" charset="-122"/>
                <a:cs typeface="Cambria" pitchFamily="34" charset="-120"/>
              </a:rPr>
              <a:t>04</a:t>
            </a:r>
            <a:endParaRPr lang="en-US" sz="2400" dirty="0"/>
          </a:p>
        </p:txBody>
      </p:sp>
      <p:sp>
        <p:nvSpPr>
          <p:cNvPr id="19" name="Text 17"/>
          <p:cNvSpPr/>
          <p:nvPr/>
        </p:nvSpPr>
        <p:spPr>
          <a:xfrm>
            <a:off x="7178040" y="3172968"/>
            <a:ext cx="4297680" cy="292608"/>
          </a:xfrm>
          <a:prstGeom prst="rect">
            <a:avLst/>
          </a:prstGeom>
          <a:noFill/>
          <a:ln/>
        </p:spPr>
        <p:txBody>
          <a:bodyPr wrap="square" lIns="0" tIns="0" rIns="0" bIns="0" rtlCol="0" anchor="ctr"/>
          <a:lstStyle/>
          <a:p>
            <a:pPr marL="0" indent="0">
              <a:buNone/>
            </a:pPr>
            <a:r>
              <a:rPr lang="en-US" sz="1400" b="1" dirty="0">
                <a:solidFill>
                  <a:srgbClr val="16233A"/>
                </a:solidFill>
                <a:latin typeface="Calibri" pitchFamily="34" charset="0"/>
                <a:ea typeface="Calibri" pitchFamily="34" charset="-122"/>
                <a:cs typeface="Calibri" pitchFamily="34" charset="-120"/>
              </a:rPr>
              <a:t>Findings</a:t>
            </a:r>
            <a:endParaRPr lang="en-US" sz="1400" dirty="0"/>
          </a:p>
        </p:txBody>
      </p:sp>
      <p:sp>
        <p:nvSpPr>
          <p:cNvPr id="20" name="Text 18"/>
          <p:cNvSpPr/>
          <p:nvPr/>
        </p:nvSpPr>
        <p:spPr>
          <a:xfrm>
            <a:off x="7178040" y="3502152"/>
            <a:ext cx="4297680" cy="502920"/>
          </a:xfrm>
          <a:prstGeom prst="rect">
            <a:avLst/>
          </a:prstGeom>
          <a:noFill/>
          <a:ln/>
        </p:spPr>
        <p:txBody>
          <a:bodyPr wrap="square" lIns="0" tIns="0" rIns="0" bIns="0" rtlCol="0" anchor="ctr"/>
          <a:lstStyle/>
          <a:p>
            <a:pPr marL="0" indent="0">
              <a:lnSpc>
                <a:spcPts val="1300"/>
              </a:lnSpc>
              <a:buNone/>
            </a:pPr>
            <a:r>
              <a:rPr lang="en-US" sz="1050" dirty="0">
                <a:solidFill>
                  <a:srgbClr val="5F6B7A"/>
                </a:solidFill>
                <a:latin typeface="Calibri" pitchFamily="34" charset="0"/>
                <a:ea typeface="Calibri" pitchFamily="34" charset="-122"/>
                <a:cs typeface="Calibri" pitchFamily="34" charset="-120"/>
              </a:rPr>
              <a:t>Severity, temporal, infrastructure, environment, geography</a:t>
            </a:r>
            <a:endParaRPr lang="en-US" sz="1050" dirty="0"/>
          </a:p>
        </p:txBody>
      </p:sp>
      <p:sp>
        <p:nvSpPr>
          <p:cNvPr id="21" name="Shape 19"/>
          <p:cNvSpPr/>
          <p:nvPr/>
        </p:nvSpPr>
        <p:spPr>
          <a:xfrm>
            <a:off x="502920" y="4434840"/>
            <a:ext cx="5394960" cy="1188720"/>
          </a:xfrm>
          <a:prstGeom prst="roundRect">
            <a:avLst>
              <a:gd name="adj" fmla="val 6154"/>
            </a:avLst>
          </a:prstGeom>
          <a:solidFill>
            <a:srgbClr val="F4F5F7"/>
          </a:solidFill>
          <a:ln w="6350">
            <a:solidFill>
              <a:srgbClr val="E3E6EB"/>
            </a:solidFill>
            <a:prstDash val="solid"/>
          </a:ln>
        </p:spPr>
      </p:sp>
      <p:sp>
        <p:nvSpPr>
          <p:cNvPr id="22" name="Text 20"/>
          <p:cNvSpPr/>
          <p:nvPr/>
        </p:nvSpPr>
        <p:spPr>
          <a:xfrm>
            <a:off x="731520" y="4636008"/>
            <a:ext cx="640080" cy="457200"/>
          </a:xfrm>
          <a:prstGeom prst="rect">
            <a:avLst/>
          </a:prstGeom>
          <a:noFill/>
          <a:ln/>
        </p:spPr>
        <p:txBody>
          <a:bodyPr wrap="square" lIns="0" tIns="0" rIns="0" bIns="0" rtlCol="0" anchor="ctr"/>
          <a:lstStyle/>
          <a:p>
            <a:pPr marL="0" indent="0">
              <a:buNone/>
            </a:pPr>
            <a:r>
              <a:rPr lang="en-US" sz="2400" b="1" dirty="0">
                <a:solidFill>
                  <a:srgbClr val="FFC000"/>
                </a:solidFill>
                <a:latin typeface="Cambria" pitchFamily="34" charset="0"/>
                <a:ea typeface="Cambria" pitchFamily="34" charset="-122"/>
                <a:cs typeface="Cambria" pitchFamily="34" charset="-120"/>
              </a:rPr>
              <a:t>05</a:t>
            </a:r>
            <a:endParaRPr lang="en-US" sz="2400" dirty="0"/>
          </a:p>
        </p:txBody>
      </p:sp>
      <p:sp>
        <p:nvSpPr>
          <p:cNvPr id="23" name="Text 21"/>
          <p:cNvSpPr/>
          <p:nvPr/>
        </p:nvSpPr>
        <p:spPr>
          <a:xfrm>
            <a:off x="1417320" y="4636008"/>
            <a:ext cx="4297680" cy="292608"/>
          </a:xfrm>
          <a:prstGeom prst="rect">
            <a:avLst/>
          </a:prstGeom>
          <a:noFill/>
          <a:ln/>
        </p:spPr>
        <p:txBody>
          <a:bodyPr wrap="square" lIns="0" tIns="0" rIns="0" bIns="0" rtlCol="0" anchor="ctr"/>
          <a:lstStyle/>
          <a:p>
            <a:pPr marL="0" indent="0">
              <a:buNone/>
            </a:pPr>
            <a:r>
              <a:rPr lang="en-US" sz="1400" b="1" dirty="0">
                <a:solidFill>
                  <a:srgbClr val="16233A"/>
                </a:solidFill>
                <a:latin typeface="Calibri" pitchFamily="34" charset="0"/>
                <a:ea typeface="Calibri" pitchFamily="34" charset="-122"/>
                <a:cs typeface="Calibri" pitchFamily="34" charset="-120"/>
              </a:rPr>
              <a:t>Dashboard &amp; Interactivity</a:t>
            </a:r>
            <a:endParaRPr lang="en-US" sz="1400" dirty="0"/>
          </a:p>
        </p:txBody>
      </p:sp>
      <p:sp>
        <p:nvSpPr>
          <p:cNvPr id="24" name="Text 22"/>
          <p:cNvSpPr/>
          <p:nvPr/>
        </p:nvSpPr>
        <p:spPr>
          <a:xfrm>
            <a:off x="1417320" y="4965192"/>
            <a:ext cx="4297680" cy="502920"/>
          </a:xfrm>
          <a:prstGeom prst="rect">
            <a:avLst/>
          </a:prstGeom>
          <a:noFill/>
          <a:ln/>
        </p:spPr>
        <p:txBody>
          <a:bodyPr wrap="square" lIns="0" tIns="0" rIns="0" bIns="0" rtlCol="0" anchor="ctr"/>
          <a:lstStyle/>
          <a:p>
            <a:pPr marL="0" indent="0">
              <a:lnSpc>
                <a:spcPts val="1300"/>
              </a:lnSpc>
              <a:buNone/>
            </a:pPr>
            <a:r>
              <a:rPr lang="en-US" sz="1050" dirty="0">
                <a:solidFill>
                  <a:srgbClr val="5F6B7A"/>
                </a:solidFill>
                <a:latin typeface="Calibri" pitchFamily="34" charset="0"/>
                <a:ea typeface="Calibri" pitchFamily="34" charset="-122"/>
                <a:cs typeface="Calibri" pitchFamily="34" charset="-120"/>
              </a:rPr>
              <a:t>Excel build, live filtering and the rural risk profile</a:t>
            </a:r>
            <a:endParaRPr lang="en-US" sz="1050" dirty="0"/>
          </a:p>
        </p:txBody>
      </p:sp>
      <p:sp>
        <p:nvSpPr>
          <p:cNvPr id="25" name="Shape 23"/>
          <p:cNvSpPr/>
          <p:nvPr/>
        </p:nvSpPr>
        <p:spPr>
          <a:xfrm>
            <a:off x="6263640" y="4434840"/>
            <a:ext cx="5394960" cy="1188720"/>
          </a:xfrm>
          <a:prstGeom prst="roundRect">
            <a:avLst>
              <a:gd name="adj" fmla="val 6154"/>
            </a:avLst>
          </a:prstGeom>
          <a:solidFill>
            <a:srgbClr val="F4F5F7"/>
          </a:solidFill>
          <a:ln w="6350">
            <a:solidFill>
              <a:srgbClr val="E3E6EB"/>
            </a:solidFill>
            <a:prstDash val="solid"/>
          </a:ln>
        </p:spPr>
      </p:sp>
      <p:sp>
        <p:nvSpPr>
          <p:cNvPr id="26" name="Text 24"/>
          <p:cNvSpPr/>
          <p:nvPr/>
        </p:nvSpPr>
        <p:spPr>
          <a:xfrm>
            <a:off x="6492240" y="4636008"/>
            <a:ext cx="640080" cy="457200"/>
          </a:xfrm>
          <a:prstGeom prst="rect">
            <a:avLst/>
          </a:prstGeom>
          <a:noFill/>
          <a:ln/>
        </p:spPr>
        <p:txBody>
          <a:bodyPr wrap="square" lIns="0" tIns="0" rIns="0" bIns="0" rtlCol="0" anchor="ctr"/>
          <a:lstStyle/>
          <a:p>
            <a:pPr marL="0" indent="0">
              <a:buNone/>
            </a:pPr>
            <a:r>
              <a:rPr lang="en-US" sz="2400" b="1" dirty="0">
                <a:solidFill>
                  <a:srgbClr val="FFC000"/>
                </a:solidFill>
                <a:latin typeface="Cambria" pitchFamily="34" charset="0"/>
                <a:ea typeface="Cambria" pitchFamily="34" charset="-122"/>
                <a:cs typeface="Cambria" pitchFamily="34" charset="-120"/>
              </a:rPr>
              <a:t>06</a:t>
            </a:r>
            <a:endParaRPr lang="en-US" sz="2400" dirty="0"/>
          </a:p>
        </p:txBody>
      </p:sp>
      <p:sp>
        <p:nvSpPr>
          <p:cNvPr id="27" name="Text 25"/>
          <p:cNvSpPr/>
          <p:nvPr/>
        </p:nvSpPr>
        <p:spPr>
          <a:xfrm>
            <a:off x="7178040" y="4636008"/>
            <a:ext cx="4297680" cy="292608"/>
          </a:xfrm>
          <a:prstGeom prst="rect">
            <a:avLst/>
          </a:prstGeom>
          <a:noFill/>
          <a:ln/>
        </p:spPr>
        <p:txBody>
          <a:bodyPr wrap="square" lIns="0" tIns="0" rIns="0" bIns="0" rtlCol="0" anchor="ctr"/>
          <a:lstStyle/>
          <a:p>
            <a:pPr marL="0" indent="0">
              <a:buNone/>
            </a:pPr>
            <a:r>
              <a:rPr lang="en-US" sz="1400" b="1" dirty="0">
                <a:solidFill>
                  <a:srgbClr val="16233A"/>
                </a:solidFill>
                <a:latin typeface="Calibri" pitchFamily="34" charset="0"/>
                <a:ea typeface="Calibri" pitchFamily="34" charset="-122"/>
                <a:cs typeface="Calibri" pitchFamily="34" charset="-120"/>
              </a:rPr>
              <a:t>Prescriptive Recommendations</a:t>
            </a:r>
            <a:endParaRPr lang="en-US" sz="1400" dirty="0"/>
          </a:p>
        </p:txBody>
      </p:sp>
      <p:sp>
        <p:nvSpPr>
          <p:cNvPr id="28" name="Text 26"/>
          <p:cNvSpPr/>
          <p:nvPr/>
        </p:nvSpPr>
        <p:spPr>
          <a:xfrm>
            <a:off x="7178040" y="4965192"/>
            <a:ext cx="4297680" cy="502920"/>
          </a:xfrm>
          <a:prstGeom prst="rect">
            <a:avLst/>
          </a:prstGeom>
          <a:noFill/>
          <a:ln/>
        </p:spPr>
        <p:txBody>
          <a:bodyPr wrap="square" lIns="0" tIns="0" rIns="0" bIns="0" rtlCol="0" anchor="ctr"/>
          <a:lstStyle/>
          <a:p>
            <a:pPr marL="0" indent="0">
              <a:lnSpc>
                <a:spcPts val="1300"/>
              </a:lnSpc>
              <a:buNone/>
            </a:pPr>
            <a:r>
              <a:rPr lang="en-US" sz="1050" dirty="0">
                <a:solidFill>
                  <a:srgbClr val="5F6B7A"/>
                </a:solidFill>
                <a:latin typeface="Calibri" pitchFamily="34" charset="0"/>
                <a:ea typeface="Calibri" pitchFamily="34" charset="-122"/>
                <a:cs typeface="Calibri" pitchFamily="34" charset="-120"/>
              </a:rPr>
              <a:t>Eight evidence-led interventions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01 · INTRODUCTION</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Why This Analysis Matters</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Shape 3"/>
          <p:cNvSpPr/>
          <p:nvPr/>
        </p:nvSpPr>
        <p:spPr>
          <a:xfrm>
            <a:off x="502920" y="1417320"/>
            <a:ext cx="5943600" cy="3108960"/>
          </a:xfrm>
          <a:prstGeom prst="rect">
            <a:avLst/>
          </a:prstGeom>
          <a:solidFill>
            <a:srgbClr val="16233A"/>
          </a:solidFill>
          <a:ln/>
        </p:spPr>
      </p:sp>
      <p:sp>
        <p:nvSpPr>
          <p:cNvPr id="6" name="Text 4"/>
          <p:cNvSpPr/>
          <p:nvPr/>
        </p:nvSpPr>
        <p:spPr>
          <a:xfrm>
            <a:off x="777240" y="1627632"/>
            <a:ext cx="5394960" cy="292608"/>
          </a:xfrm>
          <a:prstGeom prst="rect">
            <a:avLst/>
          </a:prstGeom>
          <a:noFill/>
          <a:ln/>
        </p:spPr>
        <p:txBody>
          <a:bodyPr wrap="square" lIns="0" tIns="0" rIns="0" bIns="0" rtlCol="0" anchor="ctr"/>
          <a:lstStyle/>
          <a:p>
            <a:pPr marL="0" indent="0">
              <a:buNone/>
            </a:pPr>
            <a:r>
              <a:rPr lang="en-US" sz="1300" b="1" dirty="0">
                <a:solidFill>
                  <a:srgbClr val="FFC000"/>
                </a:solidFill>
                <a:latin typeface="Calibri" pitchFamily="34" charset="0"/>
                <a:ea typeface="Calibri" pitchFamily="34" charset="-122"/>
                <a:cs typeface="Calibri" pitchFamily="34" charset="-120"/>
              </a:rPr>
              <a:t>Problem Statement</a:t>
            </a:r>
            <a:endParaRPr lang="en-US" sz="1300" dirty="0"/>
          </a:p>
        </p:txBody>
      </p:sp>
      <p:sp>
        <p:nvSpPr>
          <p:cNvPr id="7" name="Text 5"/>
          <p:cNvSpPr/>
          <p:nvPr/>
        </p:nvSpPr>
        <p:spPr>
          <a:xfrm>
            <a:off x="777240" y="1956816"/>
            <a:ext cx="5394960" cy="1005840"/>
          </a:xfrm>
          <a:prstGeom prst="rect">
            <a:avLst/>
          </a:prstGeom>
          <a:noFill/>
          <a:ln/>
        </p:spPr>
        <p:txBody>
          <a:bodyPr wrap="square" lIns="0" tIns="0" rIns="0" bIns="0" rtlCol="0" anchor="t"/>
          <a:lstStyle/>
          <a:p>
            <a:pPr marL="0" indent="0">
              <a:lnSpc>
                <a:spcPts val="1700"/>
              </a:lnSpc>
              <a:buNone/>
            </a:pPr>
            <a:r>
              <a:rPr lang="en-US" sz="1150" dirty="0">
                <a:solidFill>
                  <a:srgbClr val="D7DEE8"/>
                </a:solidFill>
                <a:latin typeface="Calibri" pitchFamily="34" charset="0"/>
                <a:ea typeface="Calibri" pitchFamily="34" charset="-122"/>
                <a:cs typeface="Calibri" pitchFamily="34" charset="-120"/>
              </a:rPr>
              <a:t>Road accidents remain a critical public safety concern, with weather, road surface, speed limits and traffic controls all influencing severity. Raw accident data sits in unstructured formats, making it difficult for stakeholders to derive actionable insight.</a:t>
            </a:r>
            <a:endParaRPr lang="en-US" sz="1150" dirty="0"/>
          </a:p>
        </p:txBody>
      </p:sp>
      <p:sp>
        <p:nvSpPr>
          <p:cNvPr id="8" name="Text 6"/>
          <p:cNvSpPr/>
          <p:nvPr/>
        </p:nvSpPr>
        <p:spPr>
          <a:xfrm>
            <a:off x="777240" y="3017520"/>
            <a:ext cx="5394960" cy="256032"/>
          </a:xfrm>
          <a:prstGeom prst="rect">
            <a:avLst/>
          </a:prstGeom>
          <a:noFill/>
          <a:ln/>
        </p:spPr>
        <p:txBody>
          <a:bodyPr wrap="square" lIns="0" tIns="0" rIns="0" bIns="0" rtlCol="0" anchor="ctr"/>
          <a:lstStyle/>
          <a:p>
            <a:pPr marL="0" indent="0">
              <a:buNone/>
            </a:pPr>
            <a:r>
              <a:rPr lang="en-US" sz="1150" b="1" dirty="0">
                <a:solidFill>
                  <a:srgbClr val="FFC000"/>
                </a:solidFill>
                <a:latin typeface="Calibri" pitchFamily="34" charset="0"/>
                <a:ea typeface="Calibri" pitchFamily="34" charset="-122"/>
                <a:cs typeface="Calibri" pitchFamily="34" charset="-120"/>
              </a:rPr>
              <a:t>Six capstone objectives</a:t>
            </a:r>
            <a:endParaRPr lang="en-US" sz="1150" dirty="0"/>
          </a:p>
        </p:txBody>
      </p:sp>
      <p:sp>
        <p:nvSpPr>
          <p:cNvPr id="9" name="Text 7"/>
          <p:cNvSpPr/>
          <p:nvPr/>
        </p:nvSpPr>
        <p:spPr>
          <a:xfrm>
            <a:off x="822960" y="3310128"/>
            <a:ext cx="5349240" cy="1097280"/>
          </a:xfrm>
          <a:prstGeom prst="rect">
            <a:avLst/>
          </a:prstGeom>
          <a:noFill/>
          <a:ln/>
        </p:spPr>
        <p:txBody>
          <a:bodyPr wrap="square" lIns="0" tIns="0" rIns="0" bIns="0" rtlCol="0" anchor="t"/>
          <a:lstStyle/>
          <a:p>
            <a:pPr marL="342900" indent="-342900">
              <a:lnSpc>
                <a:spcPts val="1250"/>
              </a:lnSpc>
              <a:buSzPct val="100000"/>
              <a:buChar char="•"/>
            </a:pPr>
            <a:r>
              <a:rPr lang="en-US" sz="1000" dirty="0">
                <a:solidFill>
                  <a:srgbClr val="B9C6D6"/>
                </a:solidFill>
                <a:latin typeface="Calibri" pitchFamily="34" charset="0"/>
                <a:ea typeface="Calibri" pitchFamily="34" charset="-122"/>
                <a:cs typeface="Calibri" pitchFamily="34" charset="-120"/>
              </a:rPr>
              <a:t>Clean and standardise the dataset</a:t>
            </a:r>
            <a:endParaRPr lang="en-US" sz="1000" dirty="0"/>
          </a:p>
          <a:p>
            <a:pPr marL="342900" indent="-342900">
              <a:lnSpc>
                <a:spcPts val="1250"/>
              </a:lnSpc>
              <a:buSzPct val="100000"/>
              <a:buChar char="•"/>
            </a:pPr>
            <a:r>
              <a:rPr lang="en-US" sz="1000" dirty="0">
                <a:solidFill>
                  <a:srgbClr val="B9C6D6"/>
                </a:solidFill>
                <a:latin typeface="Calibri" pitchFamily="34" charset="0"/>
                <a:ea typeface="Calibri" pitchFamily="34" charset="-122"/>
                <a:cs typeface="Calibri" pitchFamily="34" charset="-120"/>
              </a:rPr>
              <a:t>Analyse accident frequency and severity</a:t>
            </a:r>
            <a:endParaRPr lang="en-US" sz="1000" dirty="0"/>
          </a:p>
          <a:p>
            <a:pPr marL="342900" indent="-342900">
              <a:lnSpc>
                <a:spcPts val="1250"/>
              </a:lnSpc>
              <a:buSzPct val="100000"/>
              <a:buChar char="•"/>
            </a:pPr>
            <a:r>
              <a:rPr lang="en-US" sz="1000" dirty="0">
                <a:solidFill>
                  <a:srgbClr val="B9C6D6"/>
                </a:solidFill>
                <a:latin typeface="Calibri" pitchFamily="34" charset="0"/>
                <a:ea typeface="Calibri" pitchFamily="34" charset="-122"/>
                <a:cs typeface="Calibri" pitchFamily="34" charset="-120"/>
              </a:rPr>
              <a:t>Identify high-risk contributing factors</a:t>
            </a:r>
            <a:endParaRPr lang="en-US" sz="1000" dirty="0"/>
          </a:p>
          <a:p>
            <a:pPr marL="342900" indent="-342900">
              <a:lnSpc>
                <a:spcPts val="1250"/>
              </a:lnSpc>
              <a:buSzPct val="100000"/>
              <a:buChar char="•"/>
            </a:pPr>
            <a:r>
              <a:rPr lang="en-US" sz="1000" dirty="0">
                <a:solidFill>
                  <a:srgbClr val="B9C6D6"/>
                </a:solidFill>
                <a:latin typeface="Calibri" pitchFamily="34" charset="0"/>
                <a:ea typeface="Calibri" pitchFamily="34" charset="-122"/>
                <a:cs typeface="Calibri" pitchFamily="34" charset="-120"/>
              </a:rPr>
              <a:t>Perform descriptive statistical analysis</a:t>
            </a:r>
            <a:endParaRPr lang="en-US" sz="1000" dirty="0"/>
          </a:p>
          <a:p>
            <a:pPr marL="342900" indent="-342900">
              <a:lnSpc>
                <a:spcPts val="1250"/>
              </a:lnSpc>
              <a:buSzPct val="100000"/>
              <a:buChar char="•"/>
            </a:pPr>
            <a:r>
              <a:rPr lang="en-US" sz="1000" dirty="0">
                <a:solidFill>
                  <a:srgbClr val="B9C6D6"/>
                </a:solidFill>
                <a:latin typeface="Calibri" pitchFamily="34" charset="0"/>
                <a:ea typeface="Calibri" pitchFamily="34" charset="-122"/>
                <a:cs typeface="Calibri" pitchFamily="34" charset="-120"/>
              </a:rPr>
              <a:t>Build an interactive Excel dashboard</a:t>
            </a:r>
            <a:endParaRPr lang="en-US" sz="1000" dirty="0"/>
          </a:p>
          <a:p>
            <a:pPr marL="342900" indent="-342900">
              <a:lnSpc>
                <a:spcPts val="1250"/>
              </a:lnSpc>
              <a:buSzPct val="100000"/>
              <a:buChar char="•"/>
            </a:pPr>
            <a:r>
              <a:rPr lang="en-US" sz="1000" dirty="0">
                <a:solidFill>
                  <a:srgbClr val="B9C6D6"/>
                </a:solidFill>
                <a:latin typeface="Calibri" pitchFamily="34" charset="0"/>
                <a:ea typeface="Calibri" pitchFamily="34" charset="-122"/>
                <a:cs typeface="Calibri" pitchFamily="34" charset="-120"/>
              </a:rPr>
              <a:t>Provide data-driven safety recommendations</a:t>
            </a:r>
            <a:endParaRPr lang="en-US" sz="1000" dirty="0"/>
          </a:p>
        </p:txBody>
      </p:sp>
      <p:sp>
        <p:nvSpPr>
          <p:cNvPr id="10" name="Text 8"/>
          <p:cNvSpPr/>
          <p:nvPr/>
        </p:nvSpPr>
        <p:spPr>
          <a:xfrm>
            <a:off x="6812280" y="1417320"/>
            <a:ext cx="4846320" cy="274320"/>
          </a:xfrm>
          <a:prstGeom prst="rect">
            <a:avLst/>
          </a:prstGeom>
          <a:noFill/>
          <a:ln/>
        </p:spPr>
        <p:txBody>
          <a:bodyPr wrap="square" lIns="0" tIns="0" rIns="0" bIns="0" rtlCol="0" anchor="ctr"/>
          <a:lstStyle/>
          <a:p>
            <a:pPr marL="0" indent="0">
              <a:buNone/>
            </a:pPr>
            <a:r>
              <a:rPr lang="en-US" sz="1300" b="1" dirty="0">
                <a:solidFill>
                  <a:srgbClr val="ED7D31"/>
                </a:solidFill>
                <a:latin typeface="Calibri" pitchFamily="34" charset="0"/>
                <a:ea typeface="Calibri" pitchFamily="34" charset="-122"/>
                <a:cs typeface="Calibri" pitchFamily="34" charset="-120"/>
              </a:rPr>
              <a:t>Rationale for the Project</a:t>
            </a:r>
            <a:endParaRPr lang="en-US" sz="1300" dirty="0"/>
          </a:p>
        </p:txBody>
      </p:sp>
      <p:sp>
        <p:nvSpPr>
          <p:cNvPr id="11" name="Shape 9"/>
          <p:cNvSpPr/>
          <p:nvPr/>
        </p:nvSpPr>
        <p:spPr>
          <a:xfrm>
            <a:off x="6812280" y="1929384"/>
            <a:ext cx="146304" cy="146304"/>
          </a:xfrm>
          <a:prstGeom prst="ellipse">
            <a:avLst/>
          </a:prstGeom>
          <a:solidFill>
            <a:srgbClr val="FFC000"/>
          </a:solidFill>
          <a:ln/>
        </p:spPr>
      </p:sp>
      <p:sp>
        <p:nvSpPr>
          <p:cNvPr id="12" name="Text 10"/>
          <p:cNvSpPr/>
          <p:nvPr/>
        </p:nvSpPr>
        <p:spPr>
          <a:xfrm>
            <a:off x="7059168" y="1874520"/>
            <a:ext cx="4572000" cy="237744"/>
          </a:xfrm>
          <a:prstGeom prst="rect">
            <a:avLst/>
          </a:prstGeom>
          <a:noFill/>
          <a:ln/>
        </p:spPr>
        <p:txBody>
          <a:bodyPr wrap="square" lIns="0" tIns="0" rIns="0" bIns="0" rtlCol="0" anchor="ctr"/>
          <a:lstStyle/>
          <a:p>
            <a:pPr marL="0" indent="0">
              <a:buNone/>
            </a:pPr>
            <a:r>
              <a:rPr lang="en-US" sz="1200" b="1" dirty="0">
                <a:solidFill>
                  <a:srgbClr val="16233A"/>
                </a:solidFill>
                <a:latin typeface="Calibri" pitchFamily="34" charset="0"/>
                <a:ea typeface="Calibri" pitchFamily="34" charset="-122"/>
                <a:cs typeface="Calibri" pitchFamily="34" charset="-120"/>
              </a:rPr>
              <a:t>Evidence over intuition</a:t>
            </a:r>
            <a:endParaRPr lang="en-US" sz="1200" dirty="0"/>
          </a:p>
        </p:txBody>
      </p:sp>
      <p:sp>
        <p:nvSpPr>
          <p:cNvPr id="13" name="Text 11"/>
          <p:cNvSpPr/>
          <p:nvPr/>
        </p:nvSpPr>
        <p:spPr>
          <a:xfrm>
            <a:off x="7059168" y="2112264"/>
            <a:ext cx="4572000" cy="384048"/>
          </a:xfrm>
          <a:prstGeom prst="rect">
            <a:avLst/>
          </a:prstGeom>
          <a:noFill/>
          <a:ln/>
        </p:spPr>
        <p:txBody>
          <a:bodyPr wrap="square" lIns="0" tIns="0" rIns="0" bIns="0" rtlCol="0" anchor="t"/>
          <a:lstStyle/>
          <a:p>
            <a:pPr marL="0" indent="0">
              <a:lnSpc>
                <a:spcPts val="1200"/>
              </a:lnSpc>
              <a:buNone/>
            </a:pPr>
            <a:r>
              <a:rPr lang="en-US" sz="1000" dirty="0">
                <a:solidFill>
                  <a:srgbClr val="5F6B7A"/>
                </a:solidFill>
                <a:latin typeface="Calibri" pitchFamily="34" charset="0"/>
                <a:ea typeface="Calibri" pitchFamily="34" charset="-122"/>
                <a:cs typeface="Calibri" pitchFamily="34" charset="-120"/>
              </a:rPr>
              <a:t>Replace anecdotal road safety assumptions with measured risk.</a:t>
            </a:r>
            <a:endParaRPr lang="en-US" sz="1000" dirty="0"/>
          </a:p>
        </p:txBody>
      </p:sp>
      <p:sp>
        <p:nvSpPr>
          <p:cNvPr id="14" name="Shape 12"/>
          <p:cNvSpPr/>
          <p:nvPr/>
        </p:nvSpPr>
        <p:spPr>
          <a:xfrm>
            <a:off x="6812280" y="2642616"/>
            <a:ext cx="146304" cy="146304"/>
          </a:xfrm>
          <a:prstGeom prst="ellipse">
            <a:avLst/>
          </a:prstGeom>
          <a:solidFill>
            <a:srgbClr val="FFC000"/>
          </a:solidFill>
          <a:ln/>
        </p:spPr>
      </p:sp>
      <p:sp>
        <p:nvSpPr>
          <p:cNvPr id="15" name="Text 13"/>
          <p:cNvSpPr/>
          <p:nvPr/>
        </p:nvSpPr>
        <p:spPr>
          <a:xfrm>
            <a:off x="7059168" y="2587752"/>
            <a:ext cx="4572000" cy="237744"/>
          </a:xfrm>
          <a:prstGeom prst="rect">
            <a:avLst/>
          </a:prstGeom>
          <a:noFill/>
          <a:ln/>
        </p:spPr>
        <p:txBody>
          <a:bodyPr wrap="square" lIns="0" tIns="0" rIns="0" bIns="0" rtlCol="0" anchor="ctr"/>
          <a:lstStyle/>
          <a:p>
            <a:pPr marL="0" indent="0">
              <a:buNone/>
            </a:pPr>
            <a:r>
              <a:rPr lang="en-US" sz="1200" b="1" dirty="0">
                <a:solidFill>
                  <a:srgbClr val="16233A"/>
                </a:solidFill>
                <a:latin typeface="Calibri" pitchFamily="34" charset="0"/>
                <a:ea typeface="Calibri" pitchFamily="34" charset="-122"/>
                <a:cs typeface="Calibri" pitchFamily="34" charset="-120"/>
              </a:rPr>
              <a:t>Targeted intervention</a:t>
            </a:r>
            <a:endParaRPr lang="en-US" sz="1200" dirty="0"/>
          </a:p>
        </p:txBody>
      </p:sp>
      <p:sp>
        <p:nvSpPr>
          <p:cNvPr id="16" name="Text 14"/>
          <p:cNvSpPr/>
          <p:nvPr/>
        </p:nvSpPr>
        <p:spPr>
          <a:xfrm>
            <a:off x="7059168" y="2825496"/>
            <a:ext cx="4572000" cy="384048"/>
          </a:xfrm>
          <a:prstGeom prst="rect">
            <a:avLst/>
          </a:prstGeom>
          <a:noFill/>
          <a:ln/>
        </p:spPr>
        <p:txBody>
          <a:bodyPr wrap="square" lIns="0" tIns="0" rIns="0" bIns="0" rtlCol="0" anchor="t"/>
          <a:lstStyle/>
          <a:p>
            <a:pPr marL="0" indent="0">
              <a:lnSpc>
                <a:spcPts val="1200"/>
              </a:lnSpc>
              <a:buNone/>
            </a:pPr>
            <a:r>
              <a:rPr lang="en-US" sz="1000" dirty="0">
                <a:solidFill>
                  <a:srgbClr val="5F6B7A"/>
                </a:solidFill>
                <a:latin typeface="Calibri" pitchFamily="34" charset="0"/>
                <a:ea typeface="Calibri" pitchFamily="34" charset="-122"/>
                <a:cs typeface="Calibri" pitchFamily="34" charset="-120"/>
              </a:rPr>
              <a:t>Direct scarce enforcement and engineering budget where risk concentrates.</a:t>
            </a:r>
            <a:endParaRPr lang="en-US" sz="1000" dirty="0"/>
          </a:p>
        </p:txBody>
      </p:sp>
      <p:sp>
        <p:nvSpPr>
          <p:cNvPr id="17" name="Shape 15"/>
          <p:cNvSpPr/>
          <p:nvPr/>
        </p:nvSpPr>
        <p:spPr>
          <a:xfrm>
            <a:off x="6812280" y="3355848"/>
            <a:ext cx="146304" cy="146304"/>
          </a:xfrm>
          <a:prstGeom prst="ellipse">
            <a:avLst/>
          </a:prstGeom>
          <a:solidFill>
            <a:srgbClr val="FFC000"/>
          </a:solidFill>
          <a:ln/>
        </p:spPr>
      </p:sp>
      <p:sp>
        <p:nvSpPr>
          <p:cNvPr id="18" name="Text 16"/>
          <p:cNvSpPr/>
          <p:nvPr/>
        </p:nvSpPr>
        <p:spPr>
          <a:xfrm>
            <a:off x="7059168" y="3300984"/>
            <a:ext cx="4572000" cy="237744"/>
          </a:xfrm>
          <a:prstGeom prst="rect">
            <a:avLst/>
          </a:prstGeom>
          <a:noFill/>
          <a:ln/>
        </p:spPr>
        <p:txBody>
          <a:bodyPr wrap="square" lIns="0" tIns="0" rIns="0" bIns="0" rtlCol="0" anchor="ctr"/>
          <a:lstStyle/>
          <a:p>
            <a:pPr marL="0" indent="0">
              <a:buNone/>
            </a:pPr>
            <a:r>
              <a:rPr lang="en-US" sz="1200" b="1" dirty="0">
                <a:solidFill>
                  <a:srgbClr val="16233A"/>
                </a:solidFill>
                <a:latin typeface="Calibri" pitchFamily="34" charset="0"/>
                <a:ea typeface="Calibri" pitchFamily="34" charset="-122"/>
                <a:cs typeface="Calibri" pitchFamily="34" charset="-120"/>
              </a:rPr>
              <a:t>Resource allocation</a:t>
            </a:r>
            <a:endParaRPr lang="en-US" sz="1200" dirty="0"/>
          </a:p>
        </p:txBody>
      </p:sp>
      <p:sp>
        <p:nvSpPr>
          <p:cNvPr id="19" name="Text 17"/>
          <p:cNvSpPr/>
          <p:nvPr/>
        </p:nvSpPr>
        <p:spPr>
          <a:xfrm>
            <a:off x="7059168" y="3538728"/>
            <a:ext cx="4572000" cy="384048"/>
          </a:xfrm>
          <a:prstGeom prst="rect">
            <a:avLst/>
          </a:prstGeom>
          <a:noFill/>
          <a:ln/>
        </p:spPr>
        <p:txBody>
          <a:bodyPr wrap="square" lIns="0" tIns="0" rIns="0" bIns="0" rtlCol="0" anchor="t"/>
          <a:lstStyle/>
          <a:p>
            <a:pPr marL="0" indent="0">
              <a:lnSpc>
                <a:spcPts val="1200"/>
              </a:lnSpc>
              <a:buNone/>
            </a:pPr>
            <a:r>
              <a:rPr lang="en-US" sz="1000" dirty="0">
                <a:solidFill>
                  <a:srgbClr val="5F6B7A"/>
                </a:solidFill>
                <a:latin typeface="Calibri" pitchFamily="34" charset="0"/>
                <a:ea typeface="Calibri" pitchFamily="34" charset="-122"/>
                <a:cs typeface="Calibri" pitchFamily="34" charset="-120"/>
              </a:rPr>
              <a:t>Align patrols, lighting and emergency response to peak-risk windows.</a:t>
            </a:r>
            <a:endParaRPr lang="en-US" sz="1000" dirty="0"/>
          </a:p>
        </p:txBody>
      </p:sp>
      <p:sp>
        <p:nvSpPr>
          <p:cNvPr id="20" name="Shape 18"/>
          <p:cNvSpPr/>
          <p:nvPr/>
        </p:nvSpPr>
        <p:spPr>
          <a:xfrm>
            <a:off x="6812280" y="4069080"/>
            <a:ext cx="146304" cy="146304"/>
          </a:xfrm>
          <a:prstGeom prst="ellipse">
            <a:avLst/>
          </a:prstGeom>
          <a:solidFill>
            <a:srgbClr val="FFC000"/>
          </a:solidFill>
          <a:ln/>
        </p:spPr>
      </p:sp>
      <p:sp>
        <p:nvSpPr>
          <p:cNvPr id="21" name="Text 19"/>
          <p:cNvSpPr/>
          <p:nvPr/>
        </p:nvSpPr>
        <p:spPr>
          <a:xfrm>
            <a:off x="7059168" y="4014216"/>
            <a:ext cx="4572000" cy="237744"/>
          </a:xfrm>
          <a:prstGeom prst="rect">
            <a:avLst/>
          </a:prstGeom>
          <a:noFill/>
          <a:ln/>
        </p:spPr>
        <p:txBody>
          <a:bodyPr wrap="square" lIns="0" tIns="0" rIns="0" bIns="0" rtlCol="0" anchor="ctr"/>
          <a:lstStyle/>
          <a:p>
            <a:pPr marL="0" indent="0">
              <a:buNone/>
            </a:pPr>
            <a:r>
              <a:rPr lang="en-US" sz="1200" b="1" dirty="0">
                <a:solidFill>
                  <a:srgbClr val="16233A"/>
                </a:solidFill>
                <a:latin typeface="Calibri" pitchFamily="34" charset="0"/>
                <a:ea typeface="Calibri" pitchFamily="34" charset="-122"/>
                <a:cs typeface="Calibri" pitchFamily="34" charset="-120"/>
              </a:rPr>
              <a:t>Policy accountability</a:t>
            </a:r>
            <a:endParaRPr lang="en-US" sz="1200" dirty="0"/>
          </a:p>
        </p:txBody>
      </p:sp>
      <p:sp>
        <p:nvSpPr>
          <p:cNvPr id="22" name="Text 20"/>
          <p:cNvSpPr/>
          <p:nvPr/>
        </p:nvSpPr>
        <p:spPr>
          <a:xfrm>
            <a:off x="7059168" y="4251960"/>
            <a:ext cx="4572000" cy="384048"/>
          </a:xfrm>
          <a:prstGeom prst="rect">
            <a:avLst/>
          </a:prstGeom>
          <a:noFill/>
          <a:ln/>
        </p:spPr>
        <p:txBody>
          <a:bodyPr wrap="square" lIns="0" tIns="0" rIns="0" bIns="0" rtlCol="0" anchor="t"/>
          <a:lstStyle/>
          <a:p>
            <a:pPr marL="0" indent="0">
              <a:lnSpc>
                <a:spcPts val="1200"/>
              </a:lnSpc>
              <a:buNone/>
            </a:pPr>
            <a:r>
              <a:rPr lang="en-US" sz="1000" dirty="0">
                <a:solidFill>
                  <a:srgbClr val="5F6B7A"/>
                </a:solidFill>
                <a:latin typeface="Calibri" pitchFamily="34" charset="0"/>
                <a:ea typeface="Calibri" pitchFamily="34" charset="-122"/>
                <a:cs typeface="Calibri" pitchFamily="34" charset="-120"/>
              </a:rPr>
              <a:t>Establish a measurable 2021 baseline against which policy can be tested.</a:t>
            </a:r>
            <a:endParaRPr lang="en-US" sz="1000" dirty="0"/>
          </a:p>
        </p:txBody>
      </p:sp>
      <p:sp>
        <p:nvSpPr>
          <p:cNvPr id="23" name="Shape 21"/>
          <p:cNvSpPr/>
          <p:nvPr/>
        </p:nvSpPr>
        <p:spPr>
          <a:xfrm>
            <a:off x="502920" y="4800600"/>
            <a:ext cx="11155680" cy="1143000"/>
          </a:xfrm>
          <a:prstGeom prst="roundRect">
            <a:avLst>
              <a:gd name="adj" fmla="val 6400"/>
            </a:avLst>
          </a:prstGeom>
          <a:solidFill>
            <a:srgbClr val="FFF6E0"/>
          </a:solidFill>
          <a:ln w="9525">
            <a:solidFill>
              <a:srgbClr val="FFC000"/>
            </a:solidFill>
            <a:prstDash val="solid"/>
          </a:ln>
        </p:spPr>
      </p:sp>
      <p:sp>
        <p:nvSpPr>
          <p:cNvPr id="24" name="Text 22"/>
          <p:cNvSpPr/>
          <p:nvPr/>
        </p:nvSpPr>
        <p:spPr>
          <a:xfrm>
            <a:off x="777240" y="4956048"/>
            <a:ext cx="1280160" cy="256032"/>
          </a:xfrm>
          <a:prstGeom prst="rect">
            <a:avLst/>
          </a:prstGeom>
          <a:noFill/>
          <a:ln/>
        </p:spPr>
        <p:txBody>
          <a:bodyPr wrap="square" lIns="0" tIns="0" rIns="0" bIns="0" rtlCol="0" anchor="ctr"/>
          <a:lstStyle/>
          <a:p>
            <a:pPr marL="0" indent="0">
              <a:buNone/>
            </a:pPr>
            <a:r>
              <a:rPr lang="en-US" sz="1100" b="1" dirty="0">
                <a:solidFill>
                  <a:srgbClr val="8A6100"/>
                </a:solidFill>
                <a:latin typeface="Calibri" pitchFamily="34" charset="0"/>
                <a:ea typeface="Calibri" pitchFamily="34" charset="-122"/>
                <a:cs typeface="Calibri" pitchFamily="34" charset="-120"/>
              </a:rPr>
              <a:t>Objective</a:t>
            </a:r>
            <a:endParaRPr lang="en-US" sz="1100" dirty="0"/>
          </a:p>
        </p:txBody>
      </p:sp>
      <p:sp>
        <p:nvSpPr>
          <p:cNvPr id="25" name="Text 23"/>
          <p:cNvSpPr/>
          <p:nvPr/>
        </p:nvSpPr>
        <p:spPr>
          <a:xfrm>
            <a:off x="777240" y="5230368"/>
            <a:ext cx="10607040" cy="621792"/>
          </a:xfrm>
          <a:prstGeom prst="rect">
            <a:avLst/>
          </a:prstGeom>
          <a:noFill/>
          <a:ln/>
        </p:spPr>
        <p:txBody>
          <a:bodyPr wrap="square" lIns="0" tIns="0" rIns="0" bIns="0" rtlCol="0" anchor="t"/>
          <a:lstStyle/>
          <a:p>
            <a:pPr marL="0" indent="0">
              <a:lnSpc>
                <a:spcPts val="1600"/>
              </a:lnSpc>
              <a:buNone/>
            </a:pPr>
            <a:r>
              <a:rPr lang="en-US" sz="1150" dirty="0">
                <a:solidFill>
                  <a:srgbClr val="5A4200"/>
                </a:solidFill>
                <a:latin typeface="Calibri" pitchFamily="34" charset="0"/>
                <a:ea typeface="Calibri" pitchFamily="34" charset="-122"/>
                <a:cs typeface="Calibri" pitchFamily="34" charset="-120"/>
              </a:rPr>
              <a:t>Clean and standardise the accident dataset, quantify frequency and severity, isolate the highest-risk conditions, and deliver an interactive dashboard that converts the findings into prioritised road safety recommendations.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02 · DATA DESCRIPTION</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Dataset &amp; Variables</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Shape 3"/>
          <p:cNvSpPr/>
          <p:nvPr/>
        </p:nvSpPr>
        <p:spPr>
          <a:xfrm>
            <a:off x="502920" y="1417320"/>
            <a:ext cx="2606040" cy="1371600"/>
          </a:xfrm>
          <a:prstGeom prst="roundRect">
            <a:avLst>
              <a:gd name="adj" fmla="val 5333"/>
            </a:avLst>
          </a:prstGeom>
          <a:solidFill>
            <a:srgbClr val="F4F5F7"/>
          </a:solidFill>
          <a:ln w="6350">
            <a:solidFill>
              <a:srgbClr val="E3E6EB"/>
            </a:solidFill>
            <a:prstDash val="solid"/>
          </a:ln>
        </p:spPr>
      </p:sp>
      <p:sp>
        <p:nvSpPr>
          <p:cNvPr id="6" name="Text 4"/>
          <p:cNvSpPr/>
          <p:nvPr/>
        </p:nvSpPr>
        <p:spPr>
          <a:xfrm>
            <a:off x="667512" y="1545336"/>
            <a:ext cx="2276856" cy="475488"/>
          </a:xfrm>
          <a:prstGeom prst="rect">
            <a:avLst/>
          </a:prstGeom>
          <a:noFill/>
          <a:ln/>
        </p:spPr>
        <p:txBody>
          <a:bodyPr wrap="square" lIns="0" tIns="0" rIns="0" bIns="0" rtlCol="0" anchor="t"/>
          <a:lstStyle/>
          <a:p>
            <a:pPr marL="0" indent="0">
              <a:buNone/>
            </a:pPr>
            <a:r>
              <a:rPr lang="en-US" sz="2800" b="1" dirty="0">
                <a:solidFill>
                  <a:srgbClr val="16233A"/>
                </a:solidFill>
                <a:latin typeface="Cambria" pitchFamily="34" charset="0"/>
                <a:ea typeface="Cambria" pitchFamily="34" charset="-122"/>
                <a:cs typeface="Cambria" pitchFamily="34" charset="-120"/>
              </a:rPr>
              <a:t>307,973</a:t>
            </a:r>
            <a:endParaRPr lang="en-US" sz="2800" dirty="0"/>
          </a:p>
        </p:txBody>
      </p:sp>
      <p:sp>
        <p:nvSpPr>
          <p:cNvPr id="7" name="Text 5"/>
          <p:cNvSpPr/>
          <p:nvPr/>
        </p:nvSpPr>
        <p:spPr>
          <a:xfrm>
            <a:off x="667512" y="2039112"/>
            <a:ext cx="2276856" cy="219456"/>
          </a:xfrm>
          <a:prstGeom prst="rect">
            <a:avLst/>
          </a:prstGeom>
          <a:noFill/>
          <a:ln/>
        </p:spPr>
        <p:txBody>
          <a:bodyPr wrap="square" lIns="0" tIns="0" rIns="0" bIns="0" rtlCol="0" anchor="t"/>
          <a:lstStyle/>
          <a:p>
            <a:pPr marL="0" indent="0">
              <a:buNone/>
            </a:pPr>
            <a:r>
              <a:rPr lang="en-US" sz="1150" b="1" dirty="0">
                <a:solidFill>
                  <a:srgbClr val="16233A"/>
                </a:solidFill>
                <a:latin typeface="Calibri" pitchFamily="34" charset="0"/>
                <a:ea typeface="Calibri" pitchFamily="34" charset="-122"/>
                <a:cs typeface="Calibri" pitchFamily="34" charset="-120"/>
              </a:rPr>
              <a:t>Accident records</a:t>
            </a:r>
            <a:endParaRPr lang="en-US" sz="1150" dirty="0"/>
          </a:p>
        </p:txBody>
      </p:sp>
      <p:sp>
        <p:nvSpPr>
          <p:cNvPr id="8" name="Text 6"/>
          <p:cNvSpPr/>
          <p:nvPr/>
        </p:nvSpPr>
        <p:spPr>
          <a:xfrm>
            <a:off x="667512" y="2276856"/>
            <a:ext cx="2276856" cy="384048"/>
          </a:xfrm>
          <a:prstGeom prst="rect">
            <a:avLst/>
          </a:prstGeom>
          <a:noFill/>
          <a:ln/>
        </p:spPr>
        <p:txBody>
          <a:bodyPr wrap="square" lIns="0" tIns="0" rIns="0" bIns="0" rtlCol="0" anchor="t"/>
          <a:lstStyle/>
          <a:p>
            <a:pPr marL="0" indent="0">
              <a:lnSpc>
                <a:spcPts val="1200"/>
              </a:lnSpc>
              <a:buNone/>
            </a:pPr>
            <a:r>
              <a:rPr lang="en-US" sz="950" dirty="0">
                <a:solidFill>
                  <a:srgbClr val="5F6B7A"/>
                </a:solidFill>
                <a:latin typeface="Calibri" pitchFamily="34" charset="0"/>
                <a:ea typeface="Calibri" pitchFamily="34" charset="-122"/>
                <a:cs typeface="Calibri" pitchFamily="34" charset="-120"/>
              </a:rPr>
              <a:t>Unique Accident_Index entries</a:t>
            </a:r>
            <a:endParaRPr lang="en-US" sz="950" dirty="0"/>
          </a:p>
        </p:txBody>
      </p:sp>
      <p:sp>
        <p:nvSpPr>
          <p:cNvPr id="9" name="Shape 7"/>
          <p:cNvSpPr/>
          <p:nvPr/>
        </p:nvSpPr>
        <p:spPr>
          <a:xfrm>
            <a:off x="3337560" y="1417320"/>
            <a:ext cx="2606040" cy="1371600"/>
          </a:xfrm>
          <a:prstGeom prst="roundRect">
            <a:avLst>
              <a:gd name="adj" fmla="val 5333"/>
            </a:avLst>
          </a:prstGeom>
          <a:solidFill>
            <a:srgbClr val="F4F5F7"/>
          </a:solidFill>
          <a:ln w="6350">
            <a:solidFill>
              <a:srgbClr val="E3E6EB"/>
            </a:solidFill>
            <a:prstDash val="solid"/>
          </a:ln>
        </p:spPr>
      </p:sp>
      <p:sp>
        <p:nvSpPr>
          <p:cNvPr id="10" name="Text 8"/>
          <p:cNvSpPr/>
          <p:nvPr/>
        </p:nvSpPr>
        <p:spPr>
          <a:xfrm>
            <a:off x="3502152" y="1545336"/>
            <a:ext cx="2276856" cy="475488"/>
          </a:xfrm>
          <a:prstGeom prst="rect">
            <a:avLst/>
          </a:prstGeom>
          <a:noFill/>
          <a:ln/>
        </p:spPr>
        <p:txBody>
          <a:bodyPr wrap="square" lIns="0" tIns="0" rIns="0" bIns="0" rtlCol="0" anchor="t"/>
          <a:lstStyle/>
          <a:p>
            <a:pPr marL="0" indent="0">
              <a:buNone/>
            </a:pPr>
            <a:r>
              <a:rPr lang="en-US" sz="2800" b="1" dirty="0">
                <a:solidFill>
                  <a:srgbClr val="16233A"/>
                </a:solidFill>
                <a:latin typeface="Cambria" pitchFamily="34" charset="0"/>
                <a:ea typeface="Cambria" pitchFamily="34" charset="-122"/>
                <a:cs typeface="Cambria" pitchFamily="34" charset="-120"/>
              </a:rPr>
              <a:t>23</a:t>
            </a:r>
            <a:endParaRPr lang="en-US" sz="2800" dirty="0"/>
          </a:p>
        </p:txBody>
      </p:sp>
      <p:sp>
        <p:nvSpPr>
          <p:cNvPr id="11" name="Text 9"/>
          <p:cNvSpPr/>
          <p:nvPr/>
        </p:nvSpPr>
        <p:spPr>
          <a:xfrm>
            <a:off x="3502152" y="2039112"/>
            <a:ext cx="2276856" cy="219456"/>
          </a:xfrm>
          <a:prstGeom prst="rect">
            <a:avLst/>
          </a:prstGeom>
          <a:noFill/>
          <a:ln/>
        </p:spPr>
        <p:txBody>
          <a:bodyPr wrap="square" lIns="0" tIns="0" rIns="0" bIns="0" rtlCol="0" anchor="t"/>
          <a:lstStyle/>
          <a:p>
            <a:pPr marL="0" indent="0">
              <a:buNone/>
            </a:pPr>
            <a:r>
              <a:rPr lang="en-US" sz="1150" b="1" dirty="0">
                <a:solidFill>
                  <a:srgbClr val="16233A"/>
                </a:solidFill>
                <a:latin typeface="Calibri" pitchFamily="34" charset="0"/>
                <a:ea typeface="Calibri" pitchFamily="34" charset="-122"/>
                <a:cs typeface="Calibri" pitchFamily="34" charset="-120"/>
              </a:rPr>
              <a:t>Variables</a:t>
            </a:r>
            <a:endParaRPr lang="en-US" sz="1150" dirty="0"/>
          </a:p>
        </p:txBody>
      </p:sp>
      <p:sp>
        <p:nvSpPr>
          <p:cNvPr id="12" name="Text 10"/>
          <p:cNvSpPr/>
          <p:nvPr/>
        </p:nvSpPr>
        <p:spPr>
          <a:xfrm>
            <a:off x="3502152" y="2276856"/>
            <a:ext cx="2276856" cy="384048"/>
          </a:xfrm>
          <a:prstGeom prst="rect">
            <a:avLst/>
          </a:prstGeom>
          <a:noFill/>
          <a:ln/>
        </p:spPr>
        <p:txBody>
          <a:bodyPr wrap="square" lIns="0" tIns="0" rIns="0" bIns="0" rtlCol="0" anchor="t"/>
          <a:lstStyle/>
          <a:p>
            <a:pPr marL="0" indent="0">
              <a:lnSpc>
                <a:spcPts val="1200"/>
              </a:lnSpc>
              <a:buNone/>
            </a:pPr>
            <a:r>
              <a:rPr lang="en-US" sz="950" dirty="0">
                <a:solidFill>
                  <a:srgbClr val="5F6B7A"/>
                </a:solidFill>
                <a:latin typeface="Calibri" pitchFamily="34" charset="0"/>
                <a:ea typeface="Calibri" pitchFamily="34" charset="-122"/>
                <a:cs typeface="Calibri" pitchFamily="34" charset="-120"/>
              </a:rPr>
              <a:t>Temporal, spatial, environmental</a:t>
            </a:r>
            <a:endParaRPr lang="en-US" sz="950" dirty="0"/>
          </a:p>
        </p:txBody>
      </p:sp>
      <p:sp>
        <p:nvSpPr>
          <p:cNvPr id="13" name="Shape 11"/>
          <p:cNvSpPr/>
          <p:nvPr/>
        </p:nvSpPr>
        <p:spPr>
          <a:xfrm>
            <a:off x="6172200" y="1417320"/>
            <a:ext cx="2606040" cy="1371600"/>
          </a:xfrm>
          <a:prstGeom prst="roundRect">
            <a:avLst>
              <a:gd name="adj" fmla="val 5333"/>
            </a:avLst>
          </a:prstGeom>
          <a:solidFill>
            <a:srgbClr val="F4F5F7"/>
          </a:solidFill>
          <a:ln w="6350">
            <a:solidFill>
              <a:srgbClr val="E3E6EB"/>
            </a:solidFill>
            <a:prstDash val="solid"/>
          </a:ln>
        </p:spPr>
      </p:sp>
      <p:sp>
        <p:nvSpPr>
          <p:cNvPr id="14" name="Text 12"/>
          <p:cNvSpPr/>
          <p:nvPr/>
        </p:nvSpPr>
        <p:spPr>
          <a:xfrm>
            <a:off x="6336792" y="1545336"/>
            <a:ext cx="2276856" cy="475488"/>
          </a:xfrm>
          <a:prstGeom prst="rect">
            <a:avLst/>
          </a:prstGeom>
          <a:noFill/>
          <a:ln/>
        </p:spPr>
        <p:txBody>
          <a:bodyPr wrap="square" lIns="0" tIns="0" rIns="0" bIns="0" rtlCol="0" anchor="t"/>
          <a:lstStyle/>
          <a:p>
            <a:pPr marL="0" indent="0">
              <a:buNone/>
            </a:pPr>
            <a:r>
              <a:rPr lang="en-US" sz="2800" b="1" dirty="0">
                <a:solidFill>
                  <a:srgbClr val="16233A"/>
                </a:solidFill>
                <a:latin typeface="Cambria" pitchFamily="34" charset="0"/>
                <a:ea typeface="Cambria" pitchFamily="34" charset="-122"/>
                <a:cs typeface="Cambria" pitchFamily="34" charset="-120"/>
              </a:rPr>
              <a:t>2</a:t>
            </a:r>
            <a:endParaRPr lang="en-US" sz="2800" dirty="0"/>
          </a:p>
        </p:txBody>
      </p:sp>
      <p:sp>
        <p:nvSpPr>
          <p:cNvPr id="15" name="Text 13"/>
          <p:cNvSpPr/>
          <p:nvPr/>
        </p:nvSpPr>
        <p:spPr>
          <a:xfrm>
            <a:off x="6336792" y="2039112"/>
            <a:ext cx="2276856" cy="219456"/>
          </a:xfrm>
          <a:prstGeom prst="rect">
            <a:avLst/>
          </a:prstGeom>
          <a:noFill/>
          <a:ln/>
        </p:spPr>
        <p:txBody>
          <a:bodyPr wrap="square" lIns="0" tIns="0" rIns="0" bIns="0" rtlCol="0" anchor="t"/>
          <a:lstStyle/>
          <a:p>
            <a:pPr marL="0" indent="0">
              <a:buNone/>
            </a:pPr>
            <a:r>
              <a:rPr lang="en-US" sz="1150" b="1" dirty="0">
                <a:solidFill>
                  <a:srgbClr val="16233A"/>
                </a:solidFill>
                <a:latin typeface="Calibri" pitchFamily="34" charset="0"/>
                <a:ea typeface="Calibri" pitchFamily="34" charset="-122"/>
                <a:cs typeface="Calibri" pitchFamily="34" charset="-120"/>
              </a:rPr>
              <a:t>Years covered</a:t>
            </a:r>
            <a:endParaRPr lang="en-US" sz="1150" dirty="0"/>
          </a:p>
        </p:txBody>
      </p:sp>
      <p:sp>
        <p:nvSpPr>
          <p:cNvPr id="16" name="Text 14"/>
          <p:cNvSpPr/>
          <p:nvPr/>
        </p:nvSpPr>
        <p:spPr>
          <a:xfrm>
            <a:off x="6336792" y="2276856"/>
            <a:ext cx="2276856" cy="384048"/>
          </a:xfrm>
          <a:prstGeom prst="rect">
            <a:avLst/>
          </a:prstGeom>
          <a:noFill/>
          <a:ln/>
        </p:spPr>
        <p:txBody>
          <a:bodyPr wrap="square" lIns="0" tIns="0" rIns="0" bIns="0" rtlCol="0" anchor="t"/>
          <a:lstStyle/>
          <a:p>
            <a:pPr marL="0" indent="0">
              <a:lnSpc>
                <a:spcPts val="1200"/>
              </a:lnSpc>
              <a:buNone/>
            </a:pPr>
            <a:r>
              <a:rPr lang="en-US" sz="950" dirty="0">
                <a:solidFill>
                  <a:srgbClr val="5F6B7A"/>
                </a:solidFill>
                <a:latin typeface="Calibri" pitchFamily="34" charset="0"/>
                <a:ea typeface="Calibri" pitchFamily="34" charset="-122"/>
                <a:cs typeface="Calibri" pitchFamily="34" charset="-120"/>
              </a:rPr>
              <a:t>January 2021 – December 2022</a:t>
            </a:r>
            <a:endParaRPr lang="en-US" sz="950" dirty="0"/>
          </a:p>
        </p:txBody>
      </p:sp>
      <p:sp>
        <p:nvSpPr>
          <p:cNvPr id="17" name="Shape 15"/>
          <p:cNvSpPr/>
          <p:nvPr/>
        </p:nvSpPr>
        <p:spPr>
          <a:xfrm>
            <a:off x="9006840" y="1417320"/>
            <a:ext cx="2651760" cy="1371600"/>
          </a:xfrm>
          <a:prstGeom prst="roundRect">
            <a:avLst>
              <a:gd name="adj" fmla="val 5333"/>
            </a:avLst>
          </a:prstGeom>
          <a:solidFill>
            <a:srgbClr val="F4F5F7"/>
          </a:solidFill>
          <a:ln w="6350">
            <a:solidFill>
              <a:srgbClr val="E3E6EB"/>
            </a:solidFill>
            <a:prstDash val="solid"/>
          </a:ln>
        </p:spPr>
      </p:sp>
      <p:sp>
        <p:nvSpPr>
          <p:cNvPr id="18" name="Text 16"/>
          <p:cNvSpPr/>
          <p:nvPr/>
        </p:nvSpPr>
        <p:spPr>
          <a:xfrm>
            <a:off x="9171432" y="1545336"/>
            <a:ext cx="2322576" cy="475488"/>
          </a:xfrm>
          <a:prstGeom prst="rect">
            <a:avLst/>
          </a:prstGeom>
          <a:noFill/>
          <a:ln/>
        </p:spPr>
        <p:txBody>
          <a:bodyPr wrap="square" lIns="0" tIns="0" rIns="0" bIns="0" rtlCol="0" anchor="t"/>
          <a:lstStyle/>
          <a:p>
            <a:pPr marL="0" indent="0">
              <a:buNone/>
            </a:pPr>
            <a:r>
              <a:rPr lang="en-US" sz="2800" b="1" dirty="0">
                <a:solidFill>
                  <a:srgbClr val="ED7D31"/>
                </a:solidFill>
                <a:latin typeface="Cambria" pitchFamily="34" charset="0"/>
                <a:ea typeface="Cambria" pitchFamily="34" charset="-122"/>
                <a:cs typeface="Cambria" pitchFamily="34" charset="-120"/>
              </a:rPr>
              <a:t>417,883</a:t>
            </a:r>
            <a:endParaRPr lang="en-US" sz="2800" dirty="0"/>
          </a:p>
        </p:txBody>
      </p:sp>
      <p:sp>
        <p:nvSpPr>
          <p:cNvPr id="19" name="Text 17"/>
          <p:cNvSpPr/>
          <p:nvPr/>
        </p:nvSpPr>
        <p:spPr>
          <a:xfrm>
            <a:off x="9171432" y="2039112"/>
            <a:ext cx="2322576" cy="219456"/>
          </a:xfrm>
          <a:prstGeom prst="rect">
            <a:avLst/>
          </a:prstGeom>
          <a:noFill/>
          <a:ln/>
        </p:spPr>
        <p:txBody>
          <a:bodyPr wrap="square" lIns="0" tIns="0" rIns="0" bIns="0" rtlCol="0" anchor="t"/>
          <a:lstStyle/>
          <a:p>
            <a:pPr marL="0" indent="0">
              <a:buNone/>
            </a:pPr>
            <a:r>
              <a:rPr lang="en-US" sz="1150" b="1" dirty="0">
                <a:solidFill>
                  <a:srgbClr val="16233A"/>
                </a:solidFill>
                <a:latin typeface="Calibri" pitchFamily="34" charset="0"/>
                <a:ea typeface="Calibri" pitchFamily="34" charset="-122"/>
                <a:cs typeface="Calibri" pitchFamily="34" charset="-120"/>
              </a:rPr>
              <a:t>Total casualties</a:t>
            </a:r>
            <a:endParaRPr lang="en-US" sz="1150" dirty="0"/>
          </a:p>
        </p:txBody>
      </p:sp>
      <p:sp>
        <p:nvSpPr>
          <p:cNvPr id="20" name="Text 18"/>
          <p:cNvSpPr/>
          <p:nvPr/>
        </p:nvSpPr>
        <p:spPr>
          <a:xfrm>
            <a:off x="9171432" y="2276856"/>
            <a:ext cx="2322576" cy="384048"/>
          </a:xfrm>
          <a:prstGeom prst="rect">
            <a:avLst/>
          </a:prstGeom>
          <a:noFill/>
          <a:ln/>
        </p:spPr>
        <p:txBody>
          <a:bodyPr wrap="square" lIns="0" tIns="0" rIns="0" bIns="0" rtlCol="0" anchor="t"/>
          <a:lstStyle/>
          <a:p>
            <a:pPr marL="0" indent="0">
              <a:lnSpc>
                <a:spcPts val="1200"/>
              </a:lnSpc>
              <a:buNone/>
            </a:pPr>
            <a:r>
              <a:rPr lang="en-US" sz="950" dirty="0">
                <a:solidFill>
                  <a:srgbClr val="5F6B7A"/>
                </a:solidFill>
                <a:latin typeface="Calibri" pitchFamily="34" charset="0"/>
                <a:ea typeface="Calibri" pitchFamily="34" charset="-122"/>
                <a:cs typeface="Calibri" pitchFamily="34" charset="-120"/>
              </a:rPr>
              <a:t>1.36 casualties per accident</a:t>
            </a:r>
            <a:endParaRPr lang="en-US" sz="9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2999232"/>
          <a:ext cx="11155680" cy="3017520"/>
        </p:xfrm>
        <a:graphic>
          <a:graphicData uri="http://schemas.openxmlformats.org/drawingml/2006/table">
            <a:tbl>
              <a:tblPr/>
              <a:tblGrid>
                <a:gridCol w="21945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30175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Variable</a:t>
                      </a:r>
                      <a:endParaRPr lang="en-US" sz="10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Description</a:t>
                      </a:r>
                      <a:endParaRPr lang="en-US" sz="10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Variable</a:t>
                      </a:r>
                      <a:endParaRPr lang="en-US" sz="10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Description</a:t>
                      </a:r>
                      <a:endParaRPr lang="en-US" sz="10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extLst>
                  <a:ext uri="{0D108BD9-81ED-4DB2-BD59-A6C34878D82A}">
                    <a16:rowId xmlns:a16="http://schemas.microsoft.com/office/drawing/2014/main" val="10000"/>
                  </a:ext>
                </a:extLst>
              </a:tr>
              <a:tr h="301752">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Accident_Index</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Unique record identifier</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Road_Surface_Conditions</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Dry, wet, snow/ice, flood</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Accident_Date / Month / Year</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Temporal dimensions</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Junction_Control / Detail</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Junction type and control</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301752">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Day_of_Week / Time</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Day and hour of accident</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Road_Type</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Carriageway classification</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Accident_Severity</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Fatal, Serious or Slight</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Speed_limit</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Posted limit in mph</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r h="301752">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Latitude / Longitude</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GPS coordinates</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Carriageway_Hazards</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Obstruction present</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Local_Authority (District)</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Administrative district</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Number_of_Casualties</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People injured or killed</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extLst>
                  <a:ext uri="{0D108BD9-81ED-4DB2-BD59-A6C34878D82A}">
                    <a16:rowId xmlns:a16="http://schemas.microsoft.com/office/drawing/2014/main" val="10006"/>
                  </a:ext>
                </a:extLst>
              </a:tr>
              <a:tr h="301752">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Urban_or_Rural_Area</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Area classification</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Number_of_Vehicles</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Vehicles involved</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Weather_Conditions</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Conditions at time of accident</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Vehicle_Type</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Type of vehicle involved</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extLst>
                  <a:ext uri="{0D108BD9-81ED-4DB2-BD59-A6C34878D82A}">
                    <a16:rowId xmlns:a16="http://schemas.microsoft.com/office/drawing/2014/main" val="10008"/>
                  </a:ext>
                </a:extLst>
              </a:tr>
              <a:tr h="301752">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Light_Conditions</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Lighting environment</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Police_Force</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Responding police district</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02 · METHODOLOGY</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Data Cleaning &amp; Preprocessing</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Shape 3"/>
          <p:cNvSpPr/>
          <p:nvPr/>
        </p:nvSpPr>
        <p:spPr>
          <a:xfrm>
            <a:off x="502920" y="1554480"/>
            <a:ext cx="3520440" cy="1463040"/>
          </a:xfrm>
          <a:prstGeom prst="roundRect">
            <a:avLst>
              <a:gd name="adj" fmla="val 5000"/>
            </a:avLst>
          </a:prstGeom>
          <a:solidFill>
            <a:srgbClr val="F4F5F7"/>
          </a:solidFill>
          <a:ln w="6350">
            <a:solidFill>
              <a:srgbClr val="E3E6EB"/>
            </a:solidFill>
            <a:prstDash val="solid"/>
          </a:ln>
        </p:spPr>
      </p:sp>
      <p:sp>
        <p:nvSpPr>
          <p:cNvPr id="6" name="Shape 4"/>
          <p:cNvSpPr/>
          <p:nvPr/>
        </p:nvSpPr>
        <p:spPr>
          <a:xfrm>
            <a:off x="731520" y="1755648"/>
            <a:ext cx="457200" cy="457200"/>
          </a:xfrm>
          <a:prstGeom prst="ellipse">
            <a:avLst/>
          </a:prstGeom>
          <a:solidFill>
            <a:srgbClr val="16233A"/>
          </a:solidFill>
          <a:ln/>
        </p:spPr>
      </p:sp>
      <p:sp>
        <p:nvSpPr>
          <p:cNvPr id="7" name="Text 5"/>
          <p:cNvSpPr/>
          <p:nvPr/>
        </p:nvSpPr>
        <p:spPr>
          <a:xfrm>
            <a:off x="731520" y="1847088"/>
            <a:ext cx="457200" cy="274320"/>
          </a:xfrm>
          <a:prstGeom prst="rect">
            <a:avLst/>
          </a:prstGeom>
          <a:noFill/>
          <a:ln/>
        </p:spPr>
        <p:txBody>
          <a:bodyPr wrap="square" lIns="0" tIns="0" rIns="0" bIns="0" rtlCol="0" anchor="ctr"/>
          <a:lstStyle/>
          <a:p>
            <a:pPr marL="0" indent="0" algn="ctr">
              <a:buNone/>
            </a:pPr>
            <a:r>
              <a:rPr lang="en-US" sz="1200" b="1" dirty="0">
                <a:solidFill>
                  <a:srgbClr val="FFC000"/>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1325880" y="1828800"/>
            <a:ext cx="2514600" cy="292608"/>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Coverage audit</a:t>
            </a:r>
            <a:endParaRPr lang="en-US" sz="1250" dirty="0"/>
          </a:p>
        </p:txBody>
      </p:sp>
      <p:sp>
        <p:nvSpPr>
          <p:cNvPr id="9" name="Text 7"/>
          <p:cNvSpPr/>
          <p:nvPr/>
        </p:nvSpPr>
        <p:spPr>
          <a:xfrm>
            <a:off x="731520" y="2331720"/>
            <a:ext cx="3108960" cy="640080"/>
          </a:xfrm>
          <a:prstGeom prst="rect">
            <a:avLst/>
          </a:prstGeom>
          <a:noFill/>
          <a:ln/>
        </p:spPr>
        <p:txBody>
          <a:bodyPr wrap="square" lIns="0" tIns="0" rIns="0" bIns="0" rtlCol="0" anchor="t"/>
          <a:lstStyle/>
          <a:p>
            <a:pPr marL="0" indent="0">
              <a:lnSpc>
                <a:spcPts val="1250"/>
              </a:lnSpc>
              <a:buNone/>
            </a:pPr>
            <a:r>
              <a:rPr lang="en-US" sz="950" dirty="0">
                <a:solidFill>
                  <a:srgbClr val="5F6B7A"/>
                </a:solidFill>
                <a:latin typeface="Calibri" pitchFamily="34" charset="0"/>
                <a:ea typeface="Calibri" pitchFamily="34" charset="-122"/>
                <a:cs typeface="Calibri" pitchFamily="34" charset="-120"/>
              </a:rPr>
              <a:t>Record counts cross-tabulated by year and local authority, exposing a material 2022 reporting gap across Scottish districts.</a:t>
            </a:r>
            <a:endParaRPr lang="en-US" sz="950" dirty="0"/>
          </a:p>
        </p:txBody>
      </p:sp>
      <p:sp>
        <p:nvSpPr>
          <p:cNvPr id="10" name="Shape 8"/>
          <p:cNvSpPr/>
          <p:nvPr/>
        </p:nvSpPr>
        <p:spPr>
          <a:xfrm>
            <a:off x="4297680" y="1554480"/>
            <a:ext cx="3520440" cy="1463040"/>
          </a:xfrm>
          <a:prstGeom prst="roundRect">
            <a:avLst>
              <a:gd name="adj" fmla="val 5000"/>
            </a:avLst>
          </a:prstGeom>
          <a:solidFill>
            <a:srgbClr val="F4F5F7"/>
          </a:solidFill>
          <a:ln w="6350">
            <a:solidFill>
              <a:srgbClr val="E3E6EB"/>
            </a:solidFill>
            <a:prstDash val="solid"/>
          </a:ln>
        </p:spPr>
      </p:sp>
      <p:sp>
        <p:nvSpPr>
          <p:cNvPr id="11" name="Shape 9"/>
          <p:cNvSpPr/>
          <p:nvPr/>
        </p:nvSpPr>
        <p:spPr>
          <a:xfrm>
            <a:off x="4526280" y="1755648"/>
            <a:ext cx="457200" cy="457200"/>
          </a:xfrm>
          <a:prstGeom prst="ellipse">
            <a:avLst/>
          </a:prstGeom>
          <a:solidFill>
            <a:srgbClr val="16233A"/>
          </a:solidFill>
          <a:ln/>
        </p:spPr>
      </p:sp>
      <p:sp>
        <p:nvSpPr>
          <p:cNvPr id="12" name="Text 10"/>
          <p:cNvSpPr/>
          <p:nvPr/>
        </p:nvSpPr>
        <p:spPr>
          <a:xfrm>
            <a:off x="4526280" y="1847088"/>
            <a:ext cx="457200" cy="274320"/>
          </a:xfrm>
          <a:prstGeom prst="rect">
            <a:avLst/>
          </a:prstGeom>
          <a:noFill/>
          <a:ln/>
        </p:spPr>
        <p:txBody>
          <a:bodyPr wrap="square" lIns="0" tIns="0" rIns="0" bIns="0" rtlCol="0" anchor="ctr"/>
          <a:lstStyle/>
          <a:p>
            <a:pPr marL="0" indent="0" algn="ctr">
              <a:buNone/>
            </a:pPr>
            <a:r>
              <a:rPr lang="en-US" sz="1200" b="1" dirty="0">
                <a:solidFill>
                  <a:srgbClr val="FFC000"/>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5120640" y="1828800"/>
            <a:ext cx="2514600" cy="292608"/>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Missing value treatment</a:t>
            </a:r>
            <a:endParaRPr lang="en-US" sz="1250" dirty="0"/>
          </a:p>
        </p:txBody>
      </p:sp>
      <p:sp>
        <p:nvSpPr>
          <p:cNvPr id="14" name="Text 12"/>
          <p:cNvSpPr/>
          <p:nvPr/>
        </p:nvSpPr>
        <p:spPr>
          <a:xfrm>
            <a:off x="4526280" y="2331720"/>
            <a:ext cx="3108960" cy="640080"/>
          </a:xfrm>
          <a:prstGeom prst="rect">
            <a:avLst/>
          </a:prstGeom>
          <a:noFill/>
          <a:ln/>
        </p:spPr>
        <p:txBody>
          <a:bodyPr wrap="square" lIns="0" tIns="0" rIns="0" bIns="0" rtlCol="0" anchor="t"/>
          <a:lstStyle/>
          <a:p>
            <a:pPr marL="0" indent="0">
              <a:lnSpc>
                <a:spcPts val="1250"/>
              </a:lnSpc>
              <a:buNone/>
            </a:pPr>
            <a:r>
              <a:rPr lang="en-US" sz="950" dirty="0">
                <a:solidFill>
                  <a:srgbClr val="5F6B7A"/>
                </a:solidFill>
                <a:latin typeface="Calibri" pitchFamily="34" charset="0"/>
                <a:ea typeface="Calibri" pitchFamily="34" charset="-122"/>
                <a:cs typeface="Calibri" pitchFamily="34" charset="-120"/>
              </a:rPr>
              <a:t>Carriageway_Hazards nulls interpreted as 'None' — absence records a clear carriageway rather than a missing observation.</a:t>
            </a:r>
            <a:endParaRPr lang="en-US" sz="950" dirty="0"/>
          </a:p>
        </p:txBody>
      </p:sp>
      <p:sp>
        <p:nvSpPr>
          <p:cNvPr id="15" name="Shape 13"/>
          <p:cNvSpPr/>
          <p:nvPr/>
        </p:nvSpPr>
        <p:spPr>
          <a:xfrm>
            <a:off x="8092440" y="1554480"/>
            <a:ext cx="3520440" cy="1463040"/>
          </a:xfrm>
          <a:prstGeom prst="roundRect">
            <a:avLst>
              <a:gd name="adj" fmla="val 5000"/>
            </a:avLst>
          </a:prstGeom>
          <a:solidFill>
            <a:srgbClr val="F4F5F7"/>
          </a:solidFill>
          <a:ln w="6350">
            <a:solidFill>
              <a:srgbClr val="E3E6EB"/>
            </a:solidFill>
            <a:prstDash val="solid"/>
          </a:ln>
        </p:spPr>
      </p:sp>
      <p:sp>
        <p:nvSpPr>
          <p:cNvPr id="16" name="Shape 14"/>
          <p:cNvSpPr/>
          <p:nvPr/>
        </p:nvSpPr>
        <p:spPr>
          <a:xfrm>
            <a:off x="8321040" y="1755648"/>
            <a:ext cx="457200" cy="457200"/>
          </a:xfrm>
          <a:prstGeom prst="ellipse">
            <a:avLst/>
          </a:prstGeom>
          <a:solidFill>
            <a:srgbClr val="16233A"/>
          </a:solidFill>
          <a:ln/>
        </p:spPr>
      </p:sp>
      <p:sp>
        <p:nvSpPr>
          <p:cNvPr id="17" name="Text 15"/>
          <p:cNvSpPr/>
          <p:nvPr/>
        </p:nvSpPr>
        <p:spPr>
          <a:xfrm>
            <a:off x="8321040" y="1847088"/>
            <a:ext cx="457200" cy="274320"/>
          </a:xfrm>
          <a:prstGeom prst="rect">
            <a:avLst/>
          </a:prstGeom>
          <a:noFill/>
          <a:ln/>
        </p:spPr>
        <p:txBody>
          <a:bodyPr wrap="square" lIns="0" tIns="0" rIns="0" bIns="0" rtlCol="0" anchor="ctr"/>
          <a:lstStyle/>
          <a:p>
            <a:pPr marL="0" indent="0" algn="ctr">
              <a:buNone/>
            </a:pPr>
            <a:r>
              <a:rPr lang="en-US" sz="1200" b="1" dirty="0">
                <a:solidFill>
                  <a:srgbClr val="FFC000"/>
                </a:solidFill>
                <a:latin typeface="Calibri" pitchFamily="34" charset="0"/>
                <a:ea typeface="Calibri" pitchFamily="34" charset="-122"/>
                <a:cs typeface="Calibri" pitchFamily="34" charset="-120"/>
              </a:rPr>
              <a:t>03</a:t>
            </a:r>
            <a:endParaRPr lang="en-US" sz="1200" dirty="0"/>
          </a:p>
        </p:txBody>
      </p:sp>
      <p:sp>
        <p:nvSpPr>
          <p:cNvPr id="18" name="Text 16"/>
          <p:cNvSpPr/>
          <p:nvPr/>
        </p:nvSpPr>
        <p:spPr>
          <a:xfrm>
            <a:off x="8915400" y="1828800"/>
            <a:ext cx="2514600" cy="292608"/>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Type standardisation</a:t>
            </a:r>
            <a:endParaRPr lang="en-US" sz="1250" dirty="0"/>
          </a:p>
        </p:txBody>
      </p:sp>
      <p:sp>
        <p:nvSpPr>
          <p:cNvPr id="19" name="Text 17"/>
          <p:cNvSpPr/>
          <p:nvPr/>
        </p:nvSpPr>
        <p:spPr>
          <a:xfrm>
            <a:off x="8321040" y="2331720"/>
            <a:ext cx="3108960" cy="640080"/>
          </a:xfrm>
          <a:prstGeom prst="rect">
            <a:avLst/>
          </a:prstGeom>
          <a:noFill/>
          <a:ln/>
        </p:spPr>
        <p:txBody>
          <a:bodyPr wrap="square" lIns="0" tIns="0" rIns="0" bIns="0" rtlCol="0" anchor="t"/>
          <a:lstStyle/>
          <a:p>
            <a:pPr marL="0" indent="0">
              <a:lnSpc>
                <a:spcPts val="1250"/>
              </a:lnSpc>
              <a:buNone/>
            </a:pPr>
            <a:r>
              <a:rPr lang="en-US" sz="950" dirty="0">
                <a:solidFill>
                  <a:srgbClr val="5F6B7A"/>
                </a:solidFill>
                <a:latin typeface="Calibri" pitchFamily="34" charset="0"/>
                <a:ea typeface="Calibri" pitchFamily="34" charset="-122"/>
                <a:cs typeface="Calibri" pitchFamily="34" charset="-120"/>
              </a:rPr>
              <a:t>Accident_Date converted to date format, Time to HH:MM, speed limit and casualty counts confirmed as integers.</a:t>
            </a:r>
            <a:endParaRPr lang="en-US" sz="950" dirty="0"/>
          </a:p>
        </p:txBody>
      </p:sp>
      <p:sp>
        <p:nvSpPr>
          <p:cNvPr id="20" name="Shape 18"/>
          <p:cNvSpPr/>
          <p:nvPr/>
        </p:nvSpPr>
        <p:spPr>
          <a:xfrm>
            <a:off x="502920" y="3291840"/>
            <a:ext cx="3520440" cy="1463040"/>
          </a:xfrm>
          <a:prstGeom prst="roundRect">
            <a:avLst>
              <a:gd name="adj" fmla="val 5000"/>
            </a:avLst>
          </a:prstGeom>
          <a:solidFill>
            <a:srgbClr val="F4F5F7"/>
          </a:solidFill>
          <a:ln w="6350">
            <a:solidFill>
              <a:srgbClr val="E3E6EB"/>
            </a:solidFill>
            <a:prstDash val="solid"/>
          </a:ln>
        </p:spPr>
      </p:sp>
      <p:sp>
        <p:nvSpPr>
          <p:cNvPr id="21" name="Shape 19"/>
          <p:cNvSpPr/>
          <p:nvPr/>
        </p:nvSpPr>
        <p:spPr>
          <a:xfrm>
            <a:off x="731520" y="3493008"/>
            <a:ext cx="457200" cy="457200"/>
          </a:xfrm>
          <a:prstGeom prst="ellipse">
            <a:avLst/>
          </a:prstGeom>
          <a:solidFill>
            <a:srgbClr val="16233A"/>
          </a:solidFill>
          <a:ln/>
        </p:spPr>
      </p:sp>
      <p:sp>
        <p:nvSpPr>
          <p:cNvPr id="22" name="Text 20"/>
          <p:cNvSpPr/>
          <p:nvPr/>
        </p:nvSpPr>
        <p:spPr>
          <a:xfrm>
            <a:off x="731520" y="3584448"/>
            <a:ext cx="457200" cy="274320"/>
          </a:xfrm>
          <a:prstGeom prst="rect">
            <a:avLst/>
          </a:prstGeom>
          <a:noFill/>
          <a:ln/>
        </p:spPr>
        <p:txBody>
          <a:bodyPr wrap="square" lIns="0" tIns="0" rIns="0" bIns="0" rtlCol="0" anchor="ctr"/>
          <a:lstStyle/>
          <a:p>
            <a:pPr marL="0" indent="0" algn="ctr">
              <a:buNone/>
            </a:pPr>
            <a:r>
              <a:rPr lang="en-US" sz="1200" b="1" dirty="0">
                <a:solidFill>
                  <a:srgbClr val="FFC000"/>
                </a:solidFill>
                <a:latin typeface="Calibri" pitchFamily="34" charset="0"/>
                <a:ea typeface="Calibri" pitchFamily="34" charset="-122"/>
                <a:cs typeface="Calibri" pitchFamily="34" charset="-120"/>
              </a:rPr>
              <a:t>04</a:t>
            </a:r>
            <a:endParaRPr lang="en-US" sz="1200" dirty="0"/>
          </a:p>
        </p:txBody>
      </p:sp>
      <p:sp>
        <p:nvSpPr>
          <p:cNvPr id="23" name="Text 21"/>
          <p:cNvSpPr/>
          <p:nvPr/>
        </p:nvSpPr>
        <p:spPr>
          <a:xfrm>
            <a:off x="1325880" y="3566160"/>
            <a:ext cx="2514600" cy="292608"/>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Categorical consistency</a:t>
            </a:r>
            <a:endParaRPr lang="en-US" sz="1250" dirty="0"/>
          </a:p>
        </p:txBody>
      </p:sp>
      <p:sp>
        <p:nvSpPr>
          <p:cNvPr id="24" name="Text 22"/>
          <p:cNvSpPr/>
          <p:nvPr/>
        </p:nvSpPr>
        <p:spPr>
          <a:xfrm>
            <a:off x="731520" y="4069080"/>
            <a:ext cx="3108960" cy="640080"/>
          </a:xfrm>
          <a:prstGeom prst="rect">
            <a:avLst/>
          </a:prstGeom>
          <a:noFill/>
          <a:ln/>
        </p:spPr>
        <p:txBody>
          <a:bodyPr wrap="square" lIns="0" tIns="0" rIns="0" bIns="0" rtlCol="0" anchor="t"/>
          <a:lstStyle/>
          <a:p>
            <a:pPr marL="0" indent="0">
              <a:lnSpc>
                <a:spcPts val="1250"/>
              </a:lnSpc>
              <a:buNone/>
            </a:pPr>
            <a:r>
              <a:rPr lang="en-US" sz="950" dirty="0">
                <a:solidFill>
                  <a:srgbClr val="5F6B7A"/>
                </a:solidFill>
                <a:latin typeface="Calibri" pitchFamily="34" charset="0"/>
                <a:ea typeface="Calibri" pitchFamily="34" charset="-122"/>
                <a:cs typeface="Calibri" pitchFamily="34" charset="-120"/>
              </a:rPr>
              <a:t>Severity, weather, light and road surface labels normalised so equivalent categories aggregate correctly.</a:t>
            </a:r>
            <a:endParaRPr lang="en-US" sz="950" dirty="0"/>
          </a:p>
        </p:txBody>
      </p:sp>
      <p:sp>
        <p:nvSpPr>
          <p:cNvPr id="25" name="Shape 23"/>
          <p:cNvSpPr/>
          <p:nvPr/>
        </p:nvSpPr>
        <p:spPr>
          <a:xfrm>
            <a:off x="4297680" y="3291840"/>
            <a:ext cx="3520440" cy="1463040"/>
          </a:xfrm>
          <a:prstGeom prst="roundRect">
            <a:avLst>
              <a:gd name="adj" fmla="val 5000"/>
            </a:avLst>
          </a:prstGeom>
          <a:solidFill>
            <a:srgbClr val="F4F5F7"/>
          </a:solidFill>
          <a:ln w="6350">
            <a:solidFill>
              <a:srgbClr val="E3E6EB"/>
            </a:solidFill>
            <a:prstDash val="solid"/>
          </a:ln>
        </p:spPr>
      </p:sp>
      <p:sp>
        <p:nvSpPr>
          <p:cNvPr id="26" name="Shape 24"/>
          <p:cNvSpPr/>
          <p:nvPr/>
        </p:nvSpPr>
        <p:spPr>
          <a:xfrm>
            <a:off x="4526280" y="3493008"/>
            <a:ext cx="457200" cy="457200"/>
          </a:xfrm>
          <a:prstGeom prst="ellipse">
            <a:avLst/>
          </a:prstGeom>
          <a:solidFill>
            <a:srgbClr val="16233A"/>
          </a:solidFill>
          <a:ln/>
        </p:spPr>
      </p:sp>
      <p:sp>
        <p:nvSpPr>
          <p:cNvPr id="27" name="Text 25"/>
          <p:cNvSpPr/>
          <p:nvPr/>
        </p:nvSpPr>
        <p:spPr>
          <a:xfrm>
            <a:off x="4526280" y="3584448"/>
            <a:ext cx="457200" cy="274320"/>
          </a:xfrm>
          <a:prstGeom prst="rect">
            <a:avLst/>
          </a:prstGeom>
          <a:noFill/>
          <a:ln/>
        </p:spPr>
        <p:txBody>
          <a:bodyPr wrap="square" lIns="0" tIns="0" rIns="0" bIns="0" rtlCol="0" anchor="ctr"/>
          <a:lstStyle/>
          <a:p>
            <a:pPr marL="0" indent="0" algn="ctr">
              <a:buNone/>
            </a:pPr>
            <a:r>
              <a:rPr lang="en-US" sz="1200" b="1" dirty="0">
                <a:solidFill>
                  <a:srgbClr val="FFC000"/>
                </a:solidFill>
                <a:latin typeface="Calibri" pitchFamily="34" charset="0"/>
                <a:ea typeface="Calibri" pitchFamily="34" charset="-122"/>
                <a:cs typeface="Calibri" pitchFamily="34" charset="-120"/>
              </a:rPr>
              <a:t>05</a:t>
            </a:r>
            <a:endParaRPr lang="en-US" sz="1200" dirty="0"/>
          </a:p>
        </p:txBody>
      </p:sp>
      <p:sp>
        <p:nvSpPr>
          <p:cNvPr id="28" name="Text 26"/>
          <p:cNvSpPr/>
          <p:nvPr/>
        </p:nvSpPr>
        <p:spPr>
          <a:xfrm>
            <a:off x="5120640" y="3566160"/>
            <a:ext cx="2514600" cy="292608"/>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Derived measures</a:t>
            </a:r>
            <a:endParaRPr lang="en-US" sz="1250" dirty="0"/>
          </a:p>
        </p:txBody>
      </p:sp>
      <p:sp>
        <p:nvSpPr>
          <p:cNvPr id="29" name="Text 27"/>
          <p:cNvSpPr/>
          <p:nvPr/>
        </p:nvSpPr>
        <p:spPr>
          <a:xfrm>
            <a:off x="4526280" y="4069080"/>
            <a:ext cx="3108960" cy="640080"/>
          </a:xfrm>
          <a:prstGeom prst="rect">
            <a:avLst/>
          </a:prstGeom>
          <a:noFill/>
          <a:ln/>
        </p:spPr>
        <p:txBody>
          <a:bodyPr wrap="square" lIns="0" tIns="0" rIns="0" bIns="0" rtlCol="0" anchor="t"/>
          <a:lstStyle/>
          <a:p>
            <a:pPr marL="0" indent="0">
              <a:lnSpc>
                <a:spcPts val="1250"/>
              </a:lnSpc>
              <a:buNone/>
            </a:pPr>
            <a:r>
              <a:rPr lang="en-US" sz="950" dirty="0">
                <a:solidFill>
                  <a:srgbClr val="5F6B7A"/>
                </a:solidFill>
                <a:latin typeface="Calibri" pitchFamily="34" charset="0"/>
                <a:ea typeface="Calibri" pitchFamily="34" charset="-122"/>
                <a:cs typeface="Calibri" pitchFamily="34" charset="-120"/>
              </a:rPr>
              <a:t>Pivot tables built for monthly trend, hour of day, severity by condition and urban/rural comparison.</a:t>
            </a:r>
            <a:endParaRPr lang="en-US" sz="950" dirty="0"/>
          </a:p>
        </p:txBody>
      </p:sp>
      <p:sp>
        <p:nvSpPr>
          <p:cNvPr id="30" name="Shape 28"/>
          <p:cNvSpPr/>
          <p:nvPr/>
        </p:nvSpPr>
        <p:spPr>
          <a:xfrm>
            <a:off x="8092440" y="3291840"/>
            <a:ext cx="3520440" cy="1463040"/>
          </a:xfrm>
          <a:prstGeom prst="roundRect">
            <a:avLst>
              <a:gd name="adj" fmla="val 5000"/>
            </a:avLst>
          </a:prstGeom>
          <a:solidFill>
            <a:srgbClr val="F4F5F7"/>
          </a:solidFill>
          <a:ln w="6350">
            <a:solidFill>
              <a:srgbClr val="E3E6EB"/>
            </a:solidFill>
            <a:prstDash val="solid"/>
          </a:ln>
        </p:spPr>
      </p:sp>
      <p:sp>
        <p:nvSpPr>
          <p:cNvPr id="31" name="Shape 29"/>
          <p:cNvSpPr/>
          <p:nvPr/>
        </p:nvSpPr>
        <p:spPr>
          <a:xfrm>
            <a:off x="8321040" y="3493008"/>
            <a:ext cx="457200" cy="457200"/>
          </a:xfrm>
          <a:prstGeom prst="ellipse">
            <a:avLst/>
          </a:prstGeom>
          <a:solidFill>
            <a:srgbClr val="16233A"/>
          </a:solidFill>
          <a:ln/>
        </p:spPr>
      </p:sp>
      <p:sp>
        <p:nvSpPr>
          <p:cNvPr id="32" name="Text 30"/>
          <p:cNvSpPr/>
          <p:nvPr/>
        </p:nvSpPr>
        <p:spPr>
          <a:xfrm>
            <a:off x="8321040" y="3584448"/>
            <a:ext cx="457200" cy="274320"/>
          </a:xfrm>
          <a:prstGeom prst="rect">
            <a:avLst/>
          </a:prstGeom>
          <a:noFill/>
          <a:ln/>
        </p:spPr>
        <p:txBody>
          <a:bodyPr wrap="square" lIns="0" tIns="0" rIns="0" bIns="0" rtlCol="0" anchor="ctr"/>
          <a:lstStyle/>
          <a:p>
            <a:pPr marL="0" indent="0" algn="ctr">
              <a:buNone/>
            </a:pPr>
            <a:r>
              <a:rPr lang="en-US" sz="1200" b="1" dirty="0">
                <a:solidFill>
                  <a:srgbClr val="FFC000"/>
                </a:solidFill>
                <a:latin typeface="Calibri" pitchFamily="34" charset="0"/>
                <a:ea typeface="Calibri" pitchFamily="34" charset="-122"/>
                <a:cs typeface="Calibri" pitchFamily="34" charset="-120"/>
              </a:rPr>
              <a:t>06</a:t>
            </a:r>
            <a:endParaRPr lang="en-US" sz="1200" dirty="0"/>
          </a:p>
        </p:txBody>
      </p:sp>
      <p:sp>
        <p:nvSpPr>
          <p:cNvPr id="33" name="Text 31"/>
          <p:cNvSpPr/>
          <p:nvPr/>
        </p:nvSpPr>
        <p:spPr>
          <a:xfrm>
            <a:off x="8915400" y="3566160"/>
            <a:ext cx="2514600" cy="292608"/>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Validation</a:t>
            </a:r>
            <a:endParaRPr lang="en-US" sz="1250" dirty="0"/>
          </a:p>
        </p:txBody>
      </p:sp>
      <p:sp>
        <p:nvSpPr>
          <p:cNvPr id="34" name="Text 32"/>
          <p:cNvSpPr/>
          <p:nvPr/>
        </p:nvSpPr>
        <p:spPr>
          <a:xfrm>
            <a:off x="8321040" y="4069080"/>
            <a:ext cx="3108960" cy="640080"/>
          </a:xfrm>
          <a:prstGeom prst="rect">
            <a:avLst/>
          </a:prstGeom>
          <a:noFill/>
          <a:ln/>
        </p:spPr>
        <p:txBody>
          <a:bodyPr wrap="square" lIns="0" tIns="0" rIns="0" bIns="0" rtlCol="0" anchor="t"/>
          <a:lstStyle/>
          <a:p>
            <a:pPr marL="0" indent="0">
              <a:lnSpc>
                <a:spcPts val="1250"/>
              </a:lnSpc>
              <a:buNone/>
            </a:pPr>
            <a:r>
              <a:rPr lang="en-US" sz="950" dirty="0">
                <a:solidFill>
                  <a:srgbClr val="5F6B7A"/>
                </a:solidFill>
                <a:latin typeface="Calibri" pitchFamily="34" charset="0"/>
                <a:ea typeface="Calibri" pitchFamily="34" charset="-122"/>
                <a:cs typeface="Calibri" pitchFamily="34" charset="-120"/>
              </a:rPr>
              <a:t>Casualty totals reconciled against the severity breakdown (351,436 + 59,312 + 7,135 = 417,883); district count confirmed at 422.</a:t>
            </a:r>
            <a:endParaRPr lang="en-US" sz="950" dirty="0"/>
          </a:p>
        </p:txBody>
      </p:sp>
      <p:sp>
        <p:nvSpPr>
          <p:cNvPr id="35" name="Shape 33"/>
          <p:cNvSpPr/>
          <p:nvPr/>
        </p:nvSpPr>
        <p:spPr>
          <a:xfrm>
            <a:off x="502920" y="5166360"/>
            <a:ext cx="11155680" cy="1005840"/>
          </a:xfrm>
          <a:prstGeom prst="roundRect">
            <a:avLst>
              <a:gd name="adj" fmla="val 7273"/>
            </a:avLst>
          </a:prstGeom>
          <a:solidFill>
            <a:srgbClr val="16233A"/>
          </a:solidFill>
          <a:ln/>
        </p:spPr>
      </p:sp>
      <p:sp>
        <p:nvSpPr>
          <p:cNvPr id="36" name="Text 34"/>
          <p:cNvSpPr/>
          <p:nvPr/>
        </p:nvSpPr>
        <p:spPr>
          <a:xfrm>
            <a:off x="777240" y="5303520"/>
            <a:ext cx="1280160" cy="256032"/>
          </a:xfrm>
          <a:prstGeom prst="rect">
            <a:avLst/>
          </a:prstGeom>
          <a:noFill/>
          <a:ln/>
        </p:spPr>
        <p:txBody>
          <a:bodyPr wrap="square" lIns="0" tIns="0" rIns="0" bIns="0" rtlCol="0" anchor="ctr"/>
          <a:lstStyle/>
          <a:p>
            <a:pPr marL="0" indent="0">
              <a:buNone/>
            </a:pPr>
            <a:r>
              <a:rPr lang="en-US" sz="1100" b="1" dirty="0">
                <a:solidFill>
                  <a:srgbClr val="FFC000"/>
                </a:solidFill>
                <a:latin typeface="Calibri" pitchFamily="34" charset="0"/>
                <a:ea typeface="Calibri" pitchFamily="34" charset="-122"/>
                <a:cs typeface="Calibri" pitchFamily="34" charset="-120"/>
              </a:rPr>
              <a:t>Result</a:t>
            </a:r>
            <a:endParaRPr lang="en-US" sz="1100" dirty="0"/>
          </a:p>
        </p:txBody>
      </p:sp>
      <p:sp>
        <p:nvSpPr>
          <p:cNvPr id="37" name="Text 35"/>
          <p:cNvSpPr/>
          <p:nvPr/>
        </p:nvSpPr>
        <p:spPr>
          <a:xfrm>
            <a:off x="777240" y="5559552"/>
            <a:ext cx="10607040" cy="502920"/>
          </a:xfrm>
          <a:prstGeom prst="rect">
            <a:avLst/>
          </a:prstGeom>
          <a:noFill/>
          <a:ln/>
        </p:spPr>
        <p:txBody>
          <a:bodyPr wrap="square" lIns="0" tIns="0" rIns="0" bIns="0" rtlCol="0" anchor="t"/>
          <a:lstStyle/>
          <a:p>
            <a:pPr marL="0" indent="0">
              <a:lnSpc>
                <a:spcPts val="1600"/>
              </a:lnSpc>
              <a:buNone/>
            </a:pPr>
            <a:r>
              <a:rPr lang="en-US" sz="1150" dirty="0">
                <a:solidFill>
                  <a:srgbClr val="D7DEE8"/>
                </a:solidFill>
                <a:latin typeface="Calibri" pitchFamily="34" charset="0"/>
                <a:ea typeface="Calibri" pitchFamily="34" charset="-122"/>
                <a:cs typeface="Calibri" pitchFamily="34" charset="-120"/>
              </a:rPr>
              <a:t>A standardised dataset of 307,973 accident records across 23 variables and 422 districts, with reconciled casualty totals and one known coverage limitation carried forward explicitly rather than silently.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33A"/>
        </a:solidFill>
        <a:effectLst/>
      </p:bgPr>
    </p:bg>
    <p:spTree>
      <p:nvGrpSpPr>
        <p:cNvPr id="1" name=""/>
        <p:cNvGrpSpPr/>
        <p:nvPr/>
      </p:nvGrpSpPr>
      <p:grpSpPr>
        <a:xfrm>
          <a:off x="0" y="0"/>
          <a:ext cx="0" cy="0"/>
          <a:chOff x="0" y="0"/>
          <a:chExt cx="0" cy="0"/>
        </a:xfrm>
      </p:grpSpPr>
      <p:sp>
        <p:nvSpPr>
          <p:cNvPr id="2" name="Text 0"/>
          <p:cNvSpPr/>
          <p:nvPr/>
        </p:nvSpPr>
        <p:spPr>
          <a:xfrm>
            <a:off x="502920" y="411480"/>
            <a:ext cx="5486400" cy="256032"/>
          </a:xfrm>
          <a:prstGeom prst="rect">
            <a:avLst/>
          </a:prstGeom>
          <a:noFill/>
          <a:ln/>
        </p:spPr>
        <p:txBody>
          <a:bodyPr wrap="square" lIns="0" tIns="0" rIns="0" bIns="0" rtlCol="0" anchor="ctr"/>
          <a:lstStyle/>
          <a:p>
            <a:pPr marL="0" indent="0">
              <a:buNone/>
            </a:pPr>
            <a:r>
              <a:rPr lang="en-US" sz="1100" b="1" kern="0" spc="200" dirty="0">
                <a:solidFill>
                  <a:srgbClr val="FFC000"/>
                </a:solidFill>
                <a:latin typeface="Calibri" pitchFamily="34" charset="0"/>
                <a:ea typeface="Calibri" pitchFamily="34" charset="-122"/>
                <a:cs typeface="Calibri" pitchFamily="34" charset="-120"/>
              </a:rPr>
              <a:t>03 · KPI OVERVIEW</a:t>
            </a:r>
            <a:endParaRPr lang="en-US" sz="1100" dirty="0"/>
          </a:p>
        </p:txBody>
      </p:sp>
      <p:sp>
        <p:nvSpPr>
          <p:cNvPr id="3" name="Text 1"/>
          <p:cNvSpPr/>
          <p:nvPr/>
        </p:nvSpPr>
        <p:spPr>
          <a:xfrm>
            <a:off x="502920" y="731520"/>
            <a:ext cx="8229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Headline Position</a:t>
            </a:r>
            <a:endParaRPr lang="en-US" sz="3000" dirty="0"/>
          </a:p>
        </p:txBody>
      </p:sp>
      <p:sp>
        <p:nvSpPr>
          <p:cNvPr id="4" name="Shape 2"/>
          <p:cNvSpPr/>
          <p:nvPr/>
        </p:nvSpPr>
        <p:spPr>
          <a:xfrm>
            <a:off x="502920" y="1600200"/>
            <a:ext cx="2651760" cy="1554480"/>
          </a:xfrm>
          <a:prstGeom prst="roundRect">
            <a:avLst>
              <a:gd name="adj" fmla="val 4706"/>
            </a:avLst>
          </a:prstGeom>
          <a:solidFill>
            <a:srgbClr val="233553"/>
          </a:solidFill>
          <a:ln/>
        </p:spPr>
      </p:sp>
      <p:sp>
        <p:nvSpPr>
          <p:cNvPr id="5" name="Text 3"/>
          <p:cNvSpPr/>
          <p:nvPr/>
        </p:nvSpPr>
        <p:spPr>
          <a:xfrm>
            <a:off x="731520" y="1783080"/>
            <a:ext cx="219456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307,973</a:t>
            </a:r>
            <a:endParaRPr lang="en-US" sz="3000" dirty="0"/>
          </a:p>
        </p:txBody>
      </p:sp>
      <p:sp>
        <p:nvSpPr>
          <p:cNvPr id="6" name="Text 4"/>
          <p:cNvSpPr/>
          <p:nvPr/>
        </p:nvSpPr>
        <p:spPr>
          <a:xfrm>
            <a:off x="731520" y="2359152"/>
            <a:ext cx="21945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Total accidents</a:t>
            </a:r>
            <a:endParaRPr lang="en-US" sz="1200" dirty="0"/>
          </a:p>
        </p:txBody>
      </p:sp>
      <p:sp>
        <p:nvSpPr>
          <p:cNvPr id="7" name="Text 5"/>
          <p:cNvSpPr/>
          <p:nvPr/>
        </p:nvSpPr>
        <p:spPr>
          <a:xfrm>
            <a:off x="731520" y="2615184"/>
            <a:ext cx="2240280" cy="411480"/>
          </a:xfrm>
          <a:prstGeom prst="rect">
            <a:avLst/>
          </a:prstGeom>
          <a:noFill/>
          <a:ln/>
        </p:spPr>
        <p:txBody>
          <a:bodyPr wrap="square" lIns="0" tIns="0" rIns="0" bIns="0" rtlCol="0" anchor="t"/>
          <a:lstStyle/>
          <a:p>
            <a:pPr marL="0" indent="0">
              <a:lnSpc>
                <a:spcPts val="1200"/>
              </a:lnSpc>
              <a:buNone/>
            </a:pPr>
            <a:r>
              <a:rPr lang="en-US" sz="950" dirty="0">
                <a:solidFill>
                  <a:srgbClr val="9FB0C6"/>
                </a:solidFill>
                <a:latin typeface="Calibri" pitchFamily="34" charset="0"/>
                <a:ea typeface="Calibri" pitchFamily="34" charset="-122"/>
                <a:cs typeface="Calibri" pitchFamily="34" charset="-120"/>
              </a:rPr>
              <a:t>2021 and 2022 combined</a:t>
            </a:r>
            <a:endParaRPr lang="en-US" sz="950" dirty="0"/>
          </a:p>
        </p:txBody>
      </p:sp>
      <p:sp>
        <p:nvSpPr>
          <p:cNvPr id="8" name="Shape 6"/>
          <p:cNvSpPr/>
          <p:nvPr/>
        </p:nvSpPr>
        <p:spPr>
          <a:xfrm>
            <a:off x="3355848" y="1600200"/>
            <a:ext cx="2651760" cy="1554480"/>
          </a:xfrm>
          <a:prstGeom prst="roundRect">
            <a:avLst>
              <a:gd name="adj" fmla="val 4706"/>
            </a:avLst>
          </a:prstGeom>
          <a:solidFill>
            <a:srgbClr val="233553"/>
          </a:solidFill>
          <a:ln/>
        </p:spPr>
      </p:sp>
      <p:sp>
        <p:nvSpPr>
          <p:cNvPr id="9" name="Text 7"/>
          <p:cNvSpPr/>
          <p:nvPr/>
        </p:nvSpPr>
        <p:spPr>
          <a:xfrm>
            <a:off x="3584448" y="1783080"/>
            <a:ext cx="2194560" cy="548640"/>
          </a:xfrm>
          <a:prstGeom prst="rect">
            <a:avLst/>
          </a:prstGeom>
          <a:noFill/>
          <a:ln/>
        </p:spPr>
        <p:txBody>
          <a:bodyPr wrap="square" lIns="0" tIns="0" rIns="0" bIns="0" rtlCol="0" anchor="ctr"/>
          <a:lstStyle/>
          <a:p>
            <a:pPr marL="0" indent="0">
              <a:buNone/>
            </a:pPr>
            <a:r>
              <a:rPr lang="en-US" sz="3000" b="1" dirty="0">
                <a:solidFill>
                  <a:srgbClr val="FFC000"/>
                </a:solidFill>
                <a:latin typeface="Cambria" pitchFamily="34" charset="0"/>
                <a:ea typeface="Cambria" pitchFamily="34" charset="-122"/>
                <a:cs typeface="Cambria" pitchFamily="34" charset="-120"/>
              </a:rPr>
              <a:t>417,883</a:t>
            </a:r>
            <a:endParaRPr lang="en-US" sz="3000" dirty="0"/>
          </a:p>
        </p:txBody>
      </p:sp>
      <p:sp>
        <p:nvSpPr>
          <p:cNvPr id="10" name="Text 8"/>
          <p:cNvSpPr/>
          <p:nvPr/>
        </p:nvSpPr>
        <p:spPr>
          <a:xfrm>
            <a:off x="3584448" y="2359152"/>
            <a:ext cx="21945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Total casualties</a:t>
            </a:r>
            <a:endParaRPr lang="en-US" sz="1200" dirty="0"/>
          </a:p>
        </p:txBody>
      </p:sp>
      <p:sp>
        <p:nvSpPr>
          <p:cNvPr id="11" name="Text 9"/>
          <p:cNvSpPr/>
          <p:nvPr/>
        </p:nvSpPr>
        <p:spPr>
          <a:xfrm>
            <a:off x="3584448" y="2615184"/>
            <a:ext cx="2240280" cy="411480"/>
          </a:xfrm>
          <a:prstGeom prst="rect">
            <a:avLst/>
          </a:prstGeom>
          <a:noFill/>
          <a:ln/>
        </p:spPr>
        <p:txBody>
          <a:bodyPr wrap="square" lIns="0" tIns="0" rIns="0" bIns="0" rtlCol="0" anchor="t"/>
          <a:lstStyle/>
          <a:p>
            <a:pPr marL="0" indent="0">
              <a:lnSpc>
                <a:spcPts val="1200"/>
              </a:lnSpc>
              <a:buNone/>
            </a:pPr>
            <a:r>
              <a:rPr lang="en-US" sz="950" dirty="0">
                <a:solidFill>
                  <a:srgbClr val="9FB0C6"/>
                </a:solidFill>
                <a:latin typeface="Calibri" pitchFamily="34" charset="0"/>
                <a:ea typeface="Calibri" pitchFamily="34" charset="-122"/>
                <a:cs typeface="Calibri" pitchFamily="34" charset="-120"/>
              </a:rPr>
              <a:t>1.36 people harmed per accident</a:t>
            </a:r>
            <a:endParaRPr lang="en-US" sz="950" dirty="0"/>
          </a:p>
        </p:txBody>
      </p:sp>
      <p:sp>
        <p:nvSpPr>
          <p:cNvPr id="12" name="Shape 10"/>
          <p:cNvSpPr/>
          <p:nvPr/>
        </p:nvSpPr>
        <p:spPr>
          <a:xfrm>
            <a:off x="6208776" y="1600200"/>
            <a:ext cx="2651760" cy="1554480"/>
          </a:xfrm>
          <a:prstGeom prst="roundRect">
            <a:avLst>
              <a:gd name="adj" fmla="val 4706"/>
            </a:avLst>
          </a:prstGeom>
          <a:solidFill>
            <a:srgbClr val="233553"/>
          </a:solidFill>
          <a:ln/>
        </p:spPr>
      </p:sp>
      <p:sp>
        <p:nvSpPr>
          <p:cNvPr id="13" name="Text 11"/>
          <p:cNvSpPr/>
          <p:nvPr/>
        </p:nvSpPr>
        <p:spPr>
          <a:xfrm>
            <a:off x="6437376" y="1783080"/>
            <a:ext cx="2194560" cy="548640"/>
          </a:xfrm>
          <a:prstGeom prst="rect">
            <a:avLst/>
          </a:prstGeom>
          <a:noFill/>
          <a:ln/>
        </p:spPr>
        <p:txBody>
          <a:bodyPr wrap="square" lIns="0" tIns="0" rIns="0" bIns="0" rtlCol="0" anchor="ctr"/>
          <a:lstStyle/>
          <a:p>
            <a:pPr marL="0" indent="0">
              <a:buNone/>
            </a:pPr>
            <a:r>
              <a:rPr lang="en-US" sz="3000" b="1" dirty="0">
                <a:solidFill>
                  <a:srgbClr val="C00000"/>
                </a:solidFill>
                <a:latin typeface="Cambria" pitchFamily="34" charset="0"/>
                <a:ea typeface="Cambria" pitchFamily="34" charset="-122"/>
                <a:cs typeface="Cambria" pitchFamily="34" charset="-120"/>
              </a:rPr>
              <a:t>3,953</a:t>
            </a:r>
            <a:endParaRPr lang="en-US" sz="3000" dirty="0"/>
          </a:p>
        </p:txBody>
      </p:sp>
      <p:sp>
        <p:nvSpPr>
          <p:cNvPr id="14" name="Text 12"/>
          <p:cNvSpPr/>
          <p:nvPr/>
        </p:nvSpPr>
        <p:spPr>
          <a:xfrm>
            <a:off x="6437376" y="2359152"/>
            <a:ext cx="21945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Fatal accidents</a:t>
            </a:r>
            <a:endParaRPr lang="en-US" sz="1200" dirty="0"/>
          </a:p>
        </p:txBody>
      </p:sp>
      <p:sp>
        <p:nvSpPr>
          <p:cNvPr id="15" name="Text 13"/>
          <p:cNvSpPr/>
          <p:nvPr/>
        </p:nvSpPr>
        <p:spPr>
          <a:xfrm>
            <a:off x="6437376" y="2615184"/>
            <a:ext cx="2240280" cy="411480"/>
          </a:xfrm>
          <a:prstGeom prst="rect">
            <a:avLst/>
          </a:prstGeom>
          <a:noFill/>
          <a:ln/>
        </p:spPr>
        <p:txBody>
          <a:bodyPr wrap="square" lIns="0" tIns="0" rIns="0" bIns="0" rtlCol="0" anchor="t"/>
          <a:lstStyle/>
          <a:p>
            <a:pPr marL="0" indent="0">
              <a:lnSpc>
                <a:spcPts val="1200"/>
              </a:lnSpc>
              <a:buNone/>
            </a:pPr>
            <a:r>
              <a:rPr lang="en-US" sz="950" dirty="0">
                <a:solidFill>
                  <a:srgbClr val="9FB0C6"/>
                </a:solidFill>
                <a:latin typeface="Calibri" pitchFamily="34" charset="0"/>
                <a:ea typeface="Calibri" pitchFamily="34" charset="-122"/>
                <a:cs typeface="Calibri" pitchFamily="34" charset="-120"/>
              </a:rPr>
              <a:t>Concentrated but disproportionate harm</a:t>
            </a:r>
            <a:endParaRPr lang="en-US" sz="950" dirty="0"/>
          </a:p>
        </p:txBody>
      </p:sp>
      <p:sp>
        <p:nvSpPr>
          <p:cNvPr id="16" name="Shape 14"/>
          <p:cNvSpPr/>
          <p:nvPr/>
        </p:nvSpPr>
        <p:spPr>
          <a:xfrm>
            <a:off x="9061704" y="1600200"/>
            <a:ext cx="2651760" cy="1554480"/>
          </a:xfrm>
          <a:prstGeom prst="roundRect">
            <a:avLst>
              <a:gd name="adj" fmla="val 4706"/>
            </a:avLst>
          </a:prstGeom>
          <a:solidFill>
            <a:srgbClr val="233553"/>
          </a:solidFill>
          <a:ln/>
        </p:spPr>
      </p:sp>
      <p:sp>
        <p:nvSpPr>
          <p:cNvPr id="17" name="Text 15"/>
          <p:cNvSpPr/>
          <p:nvPr/>
        </p:nvSpPr>
        <p:spPr>
          <a:xfrm>
            <a:off x="9290304" y="1783080"/>
            <a:ext cx="2194560" cy="548640"/>
          </a:xfrm>
          <a:prstGeom prst="rect">
            <a:avLst/>
          </a:prstGeom>
          <a:noFill/>
          <a:ln/>
        </p:spPr>
        <p:txBody>
          <a:bodyPr wrap="square" lIns="0" tIns="0" rIns="0" bIns="0" rtlCol="0" anchor="ctr"/>
          <a:lstStyle/>
          <a:p>
            <a:pPr marL="0" indent="0">
              <a:buNone/>
            </a:pPr>
            <a:r>
              <a:rPr lang="en-US" sz="3000" b="1" dirty="0">
                <a:solidFill>
                  <a:srgbClr val="C00000"/>
                </a:solidFill>
                <a:latin typeface="Cambria" pitchFamily="34" charset="0"/>
                <a:ea typeface="Cambria" pitchFamily="34" charset="-122"/>
                <a:cs typeface="Cambria" pitchFamily="34" charset="-120"/>
              </a:rPr>
              <a:t>1.3%</a:t>
            </a:r>
            <a:endParaRPr lang="en-US" sz="3000" dirty="0"/>
          </a:p>
        </p:txBody>
      </p:sp>
      <p:sp>
        <p:nvSpPr>
          <p:cNvPr id="18" name="Text 16"/>
          <p:cNvSpPr/>
          <p:nvPr/>
        </p:nvSpPr>
        <p:spPr>
          <a:xfrm>
            <a:off x="9290304" y="2359152"/>
            <a:ext cx="21945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Fatal accident rate</a:t>
            </a:r>
            <a:endParaRPr lang="en-US" sz="1200" dirty="0"/>
          </a:p>
        </p:txBody>
      </p:sp>
      <p:sp>
        <p:nvSpPr>
          <p:cNvPr id="19" name="Text 17"/>
          <p:cNvSpPr/>
          <p:nvPr/>
        </p:nvSpPr>
        <p:spPr>
          <a:xfrm>
            <a:off x="9290304" y="2615184"/>
            <a:ext cx="2240280" cy="411480"/>
          </a:xfrm>
          <a:prstGeom prst="rect">
            <a:avLst/>
          </a:prstGeom>
          <a:noFill/>
          <a:ln/>
        </p:spPr>
        <p:txBody>
          <a:bodyPr wrap="square" lIns="0" tIns="0" rIns="0" bIns="0" rtlCol="0" anchor="t"/>
          <a:lstStyle/>
          <a:p>
            <a:pPr marL="0" indent="0">
              <a:lnSpc>
                <a:spcPts val="1200"/>
              </a:lnSpc>
              <a:buNone/>
            </a:pPr>
            <a:r>
              <a:rPr lang="en-US" sz="950" dirty="0">
                <a:solidFill>
                  <a:srgbClr val="9FB0C6"/>
                </a:solidFill>
                <a:latin typeface="Calibri" pitchFamily="34" charset="0"/>
                <a:ea typeface="Calibri" pitchFamily="34" charset="-122"/>
                <a:cs typeface="Calibri" pitchFamily="34" charset="-120"/>
              </a:rPr>
              <a:t>Share of all recorded accidents</a:t>
            </a:r>
            <a:endParaRPr lang="en-US" sz="950" dirty="0"/>
          </a:p>
        </p:txBody>
      </p:sp>
      <p:sp>
        <p:nvSpPr>
          <p:cNvPr id="20" name="Shape 18"/>
          <p:cNvSpPr/>
          <p:nvPr/>
        </p:nvSpPr>
        <p:spPr>
          <a:xfrm>
            <a:off x="502920" y="3337560"/>
            <a:ext cx="2651760" cy="1371600"/>
          </a:xfrm>
          <a:prstGeom prst="roundRect">
            <a:avLst>
              <a:gd name="adj" fmla="val 5333"/>
            </a:avLst>
          </a:prstGeom>
          <a:solidFill>
            <a:srgbClr val="233553"/>
          </a:solidFill>
          <a:ln/>
        </p:spPr>
      </p:sp>
      <p:sp>
        <p:nvSpPr>
          <p:cNvPr id="21" name="Text 19"/>
          <p:cNvSpPr/>
          <p:nvPr/>
        </p:nvSpPr>
        <p:spPr>
          <a:xfrm>
            <a:off x="731520" y="3520440"/>
            <a:ext cx="2286000" cy="45720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422</a:t>
            </a:r>
            <a:endParaRPr lang="en-US" sz="2100" dirty="0"/>
          </a:p>
        </p:txBody>
      </p:sp>
      <p:sp>
        <p:nvSpPr>
          <p:cNvPr id="22" name="Text 20"/>
          <p:cNvSpPr/>
          <p:nvPr/>
        </p:nvSpPr>
        <p:spPr>
          <a:xfrm>
            <a:off x="731520" y="4005072"/>
            <a:ext cx="2194560" cy="256032"/>
          </a:xfrm>
          <a:prstGeom prst="rect">
            <a:avLst/>
          </a:prstGeom>
          <a:noFill/>
          <a:ln/>
        </p:spPr>
        <p:txBody>
          <a:bodyPr wrap="square" lIns="0" tIns="0" rIns="0" bIns="0" rtlCol="0" anchor="ctr"/>
          <a:lstStyle/>
          <a:p>
            <a:pPr marL="0" indent="0">
              <a:buNone/>
            </a:pPr>
            <a:r>
              <a:rPr lang="en-US" sz="1150" b="1" dirty="0">
                <a:solidFill>
                  <a:srgbClr val="FFC000"/>
                </a:solidFill>
                <a:latin typeface="Calibri" pitchFamily="34" charset="0"/>
                <a:ea typeface="Calibri" pitchFamily="34" charset="-122"/>
                <a:cs typeface="Calibri" pitchFamily="34" charset="-120"/>
              </a:rPr>
              <a:t>Districts covered</a:t>
            </a:r>
            <a:endParaRPr lang="en-US" sz="1150" dirty="0"/>
          </a:p>
        </p:txBody>
      </p:sp>
      <p:sp>
        <p:nvSpPr>
          <p:cNvPr id="23" name="Text 21"/>
          <p:cNvSpPr/>
          <p:nvPr/>
        </p:nvSpPr>
        <p:spPr>
          <a:xfrm>
            <a:off x="731520" y="4261104"/>
            <a:ext cx="2240280" cy="274320"/>
          </a:xfrm>
          <a:prstGeom prst="rect">
            <a:avLst/>
          </a:prstGeom>
          <a:noFill/>
          <a:ln/>
        </p:spPr>
        <p:txBody>
          <a:bodyPr wrap="square" lIns="0" tIns="0" rIns="0" bIns="0" rtlCol="0" anchor="ctr"/>
          <a:lstStyle/>
          <a:p>
            <a:pPr marL="0" indent="0">
              <a:buNone/>
            </a:pPr>
            <a:r>
              <a:rPr lang="en-US" sz="950" dirty="0">
                <a:solidFill>
                  <a:srgbClr val="9FB0C6"/>
                </a:solidFill>
                <a:latin typeface="Calibri" pitchFamily="34" charset="0"/>
                <a:ea typeface="Calibri" pitchFamily="34" charset="-122"/>
                <a:cs typeface="Calibri" pitchFamily="34" charset="-120"/>
              </a:rPr>
              <a:t>Local authorities in the dataset</a:t>
            </a:r>
            <a:endParaRPr lang="en-US" sz="950" dirty="0"/>
          </a:p>
        </p:txBody>
      </p:sp>
      <p:sp>
        <p:nvSpPr>
          <p:cNvPr id="24" name="Shape 22"/>
          <p:cNvSpPr/>
          <p:nvPr/>
        </p:nvSpPr>
        <p:spPr>
          <a:xfrm>
            <a:off x="3355848" y="3337560"/>
            <a:ext cx="2651760" cy="1371600"/>
          </a:xfrm>
          <a:prstGeom prst="roundRect">
            <a:avLst>
              <a:gd name="adj" fmla="val 5333"/>
            </a:avLst>
          </a:prstGeom>
          <a:solidFill>
            <a:srgbClr val="233553"/>
          </a:solidFill>
          <a:ln/>
        </p:spPr>
      </p:sp>
      <p:sp>
        <p:nvSpPr>
          <p:cNvPr id="25" name="Text 23"/>
          <p:cNvSpPr/>
          <p:nvPr/>
        </p:nvSpPr>
        <p:spPr>
          <a:xfrm>
            <a:off x="3584448" y="3520440"/>
            <a:ext cx="2286000" cy="45720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64% / 36%</a:t>
            </a:r>
            <a:endParaRPr lang="en-US" sz="2100" dirty="0"/>
          </a:p>
        </p:txBody>
      </p:sp>
      <p:sp>
        <p:nvSpPr>
          <p:cNvPr id="26" name="Text 24"/>
          <p:cNvSpPr/>
          <p:nvPr/>
        </p:nvSpPr>
        <p:spPr>
          <a:xfrm>
            <a:off x="3584448" y="4005072"/>
            <a:ext cx="2194560" cy="256032"/>
          </a:xfrm>
          <a:prstGeom prst="rect">
            <a:avLst/>
          </a:prstGeom>
          <a:noFill/>
          <a:ln/>
        </p:spPr>
        <p:txBody>
          <a:bodyPr wrap="square" lIns="0" tIns="0" rIns="0" bIns="0" rtlCol="0" anchor="ctr"/>
          <a:lstStyle/>
          <a:p>
            <a:pPr marL="0" indent="0">
              <a:buNone/>
            </a:pPr>
            <a:r>
              <a:rPr lang="en-US" sz="1150" b="1" dirty="0">
                <a:solidFill>
                  <a:srgbClr val="FFC000"/>
                </a:solidFill>
                <a:latin typeface="Calibri" pitchFamily="34" charset="0"/>
                <a:ea typeface="Calibri" pitchFamily="34" charset="-122"/>
                <a:cs typeface="Calibri" pitchFamily="34" charset="-120"/>
              </a:rPr>
              <a:t>Urban vs rural</a:t>
            </a:r>
            <a:endParaRPr lang="en-US" sz="1150" dirty="0"/>
          </a:p>
        </p:txBody>
      </p:sp>
      <p:sp>
        <p:nvSpPr>
          <p:cNvPr id="27" name="Text 25"/>
          <p:cNvSpPr/>
          <p:nvPr/>
        </p:nvSpPr>
        <p:spPr>
          <a:xfrm>
            <a:off x="3584448" y="4261104"/>
            <a:ext cx="2240280" cy="274320"/>
          </a:xfrm>
          <a:prstGeom prst="rect">
            <a:avLst/>
          </a:prstGeom>
          <a:noFill/>
          <a:ln/>
        </p:spPr>
        <p:txBody>
          <a:bodyPr wrap="square" lIns="0" tIns="0" rIns="0" bIns="0" rtlCol="0" anchor="ctr"/>
          <a:lstStyle/>
          <a:p>
            <a:pPr marL="0" indent="0">
              <a:buNone/>
            </a:pPr>
            <a:r>
              <a:rPr lang="en-US" sz="950" dirty="0">
                <a:solidFill>
                  <a:srgbClr val="9FB0C6"/>
                </a:solidFill>
                <a:latin typeface="Calibri" pitchFamily="34" charset="0"/>
                <a:ea typeface="Calibri" pitchFamily="34" charset="-122"/>
                <a:cs typeface="Calibri" pitchFamily="34" charset="-120"/>
              </a:rPr>
              <a:t>197,103 urban, 110,870 rural</a:t>
            </a:r>
            <a:endParaRPr lang="en-US" sz="950" dirty="0"/>
          </a:p>
        </p:txBody>
      </p:sp>
      <p:sp>
        <p:nvSpPr>
          <p:cNvPr id="28" name="Shape 26"/>
          <p:cNvSpPr/>
          <p:nvPr/>
        </p:nvSpPr>
        <p:spPr>
          <a:xfrm>
            <a:off x="6208776" y="3337560"/>
            <a:ext cx="2651760" cy="1371600"/>
          </a:xfrm>
          <a:prstGeom prst="roundRect">
            <a:avLst>
              <a:gd name="adj" fmla="val 5333"/>
            </a:avLst>
          </a:prstGeom>
          <a:solidFill>
            <a:srgbClr val="233553"/>
          </a:solidFill>
          <a:ln/>
        </p:spPr>
      </p:sp>
      <p:sp>
        <p:nvSpPr>
          <p:cNvPr id="29" name="Text 27"/>
          <p:cNvSpPr/>
          <p:nvPr/>
        </p:nvSpPr>
        <p:spPr>
          <a:xfrm>
            <a:off x="6437376" y="3520440"/>
            <a:ext cx="2286000" cy="45720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85.5%</a:t>
            </a:r>
            <a:endParaRPr lang="en-US" sz="2100" dirty="0"/>
          </a:p>
        </p:txBody>
      </p:sp>
      <p:sp>
        <p:nvSpPr>
          <p:cNvPr id="30" name="Text 28"/>
          <p:cNvSpPr/>
          <p:nvPr/>
        </p:nvSpPr>
        <p:spPr>
          <a:xfrm>
            <a:off x="6437376" y="4005072"/>
            <a:ext cx="2194560" cy="256032"/>
          </a:xfrm>
          <a:prstGeom prst="rect">
            <a:avLst/>
          </a:prstGeom>
          <a:noFill/>
          <a:ln/>
        </p:spPr>
        <p:txBody>
          <a:bodyPr wrap="square" lIns="0" tIns="0" rIns="0" bIns="0" rtlCol="0" anchor="ctr"/>
          <a:lstStyle/>
          <a:p>
            <a:pPr marL="0" indent="0">
              <a:buNone/>
            </a:pPr>
            <a:r>
              <a:rPr lang="en-US" sz="1150" b="1" dirty="0">
                <a:solidFill>
                  <a:srgbClr val="FFC000"/>
                </a:solidFill>
                <a:latin typeface="Calibri" pitchFamily="34" charset="0"/>
                <a:ea typeface="Calibri" pitchFamily="34" charset="-122"/>
                <a:cs typeface="Calibri" pitchFamily="34" charset="-120"/>
              </a:rPr>
              <a:t>Slight severity</a:t>
            </a:r>
            <a:endParaRPr lang="en-US" sz="1150" dirty="0"/>
          </a:p>
        </p:txBody>
      </p:sp>
      <p:sp>
        <p:nvSpPr>
          <p:cNvPr id="31" name="Text 29"/>
          <p:cNvSpPr/>
          <p:nvPr/>
        </p:nvSpPr>
        <p:spPr>
          <a:xfrm>
            <a:off x="6437376" y="4261104"/>
            <a:ext cx="2240280" cy="274320"/>
          </a:xfrm>
          <a:prstGeom prst="rect">
            <a:avLst/>
          </a:prstGeom>
          <a:noFill/>
          <a:ln/>
        </p:spPr>
        <p:txBody>
          <a:bodyPr wrap="square" lIns="0" tIns="0" rIns="0" bIns="0" rtlCol="0" anchor="ctr"/>
          <a:lstStyle/>
          <a:p>
            <a:pPr marL="0" indent="0">
              <a:buNone/>
            </a:pPr>
            <a:r>
              <a:rPr lang="en-US" sz="950" dirty="0">
                <a:solidFill>
                  <a:srgbClr val="9FB0C6"/>
                </a:solidFill>
                <a:latin typeface="Calibri" pitchFamily="34" charset="0"/>
                <a:ea typeface="Calibri" pitchFamily="34" charset="-122"/>
                <a:cs typeface="Calibri" pitchFamily="34" charset="-120"/>
              </a:rPr>
              <a:t>263,280 of 307,973 accidents</a:t>
            </a:r>
            <a:endParaRPr lang="en-US" sz="950" dirty="0"/>
          </a:p>
        </p:txBody>
      </p:sp>
      <p:sp>
        <p:nvSpPr>
          <p:cNvPr id="32" name="Shape 30"/>
          <p:cNvSpPr/>
          <p:nvPr/>
        </p:nvSpPr>
        <p:spPr>
          <a:xfrm>
            <a:off x="9061704" y="3337560"/>
            <a:ext cx="2651760" cy="1371600"/>
          </a:xfrm>
          <a:prstGeom prst="roundRect">
            <a:avLst>
              <a:gd name="adj" fmla="val 5333"/>
            </a:avLst>
          </a:prstGeom>
          <a:solidFill>
            <a:srgbClr val="233553"/>
          </a:solidFill>
          <a:ln/>
        </p:spPr>
      </p:sp>
      <p:sp>
        <p:nvSpPr>
          <p:cNvPr id="33" name="Text 31"/>
          <p:cNvSpPr/>
          <p:nvPr/>
        </p:nvSpPr>
        <p:spPr>
          <a:xfrm>
            <a:off x="9290304" y="3520440"/>
            <a:ext cx="2286000" cy="45720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74.9%</a:t>
            </a:r>
            <a:endParaRPr lang="en-US" sz="2100" dirty="0"/>
          </a:p>
        </p:txBody>
      </p:sp>
      <p:sp>
        <p:nvSpPr>
          <p:cNvPr id="34" name="Text 32"/>
          <p:cNvSpPr/>
          <p:nvPr/>
        </p:nvSpPr>
        <p:spPr>
          <a:xfrm>
            <a:off x="9290304" y="4005072"/>
            <a:ext cx="2194560" cy="256032"/>
          </a:xfrm>
          <a:prstGeom prst="rect">
            <a:avLst/>
          </a:prstGeom>
          <a:noFill/>
          <a:ln/>
        </p:spPr>
        <p:txBody>
          <a:bodyPr wrap="square" lIns="0" tIns="0" rIns="0" bIns="0" rtlCol="0" anchor="ctr"/>
          <a:lstStyle/>
          <a:p>
            <a:pPr marL="0" indent="0">
              <a:buNone/>
            </a:pPr>
            <a:r>
              <a:rPr lang="en-US" sz="1150" b="1" dirty="0">
                <a:solidFill>
                  <a:srgbClr val="FFC000"/>
                </a:solidFill>
                <a:latin typeface="Calibri" pitchFamily="34" charset="0"/>
                <a:ea typeface="Calibri" pitchFamily="34" charset="-122"/>
                <a:cs typeface="Calibri" pitchFamily="34" charset="-120"/>
              </a:rPr>
              <a:t>Single carriageway</a:t>
            </a:r>
            <a:endParaRPr lang="en-US" sz="1150" dirty="0"/>
          </a:p>
        </p:txBody>
      </p:sp>
      <p:sp>
        <p:nvSpPr>
          <p:cNvPr id="35" name="Text 33"/>
          <p:cNvSpPr/>
          <p:nvPr/>
        </p:nvSpPr>
        <p:spPr>
          <a:xfrm>
            <a:off x="9290304" y="4261104"/>
            <a:ext cx="2240280" cy="274320"/>
          </a:xfrm>
          <a:prstGeom prst="rect">
            <a:avLst/>
          </a:prstGeom>
          <a:noFill/>
          <a:ln/>
        </p:spPr>
        <p:txBody>
          <a:bodyPr wrap="square" lIns="0" tIns="0" rIns="0" bIns="0" rtlCol="0" anchor="ctr"/>
          <a:lstStyle/>
          <a:p>
            <a:pPr marL="0" indent="0">
              <a:buNone/>
            </a:pPr>
            <a:r>
              <a:rPr lang="en-US" sz="950" dirty="0">
                <a:solidFill>
                  <a:srgbClr val="9FB0C6"/>
                </a:solidFill>
                <a:latin typeface="Calibri" pitchFamily="34" charset="0"/>
                <a:ea typeface="Calibri" pitchFamily="34" charset="-122"/>
                <a:cs typeface="Calibri" pitchFamily="34" charset="-120"/>
              </a:rPr>
              <a:t>230,612 accidents</a:t>
            </a:r>
            <a:endParaRPr lang="en-US" sz="950" dirty="0"/>
          </a:p>
        </p:txBody>
      </p:sp>
      <p:sp>
        <p:nvSpPr>
          <p:cNvPr id="36" name="Shape 34"/>
          <p:cNvSpPr/>
          <p:nvPr/>
        </p:nvSpPr>
        <p:spPr>
          <a:xfrm>
            <a:off x="502920" y="4983480"/>
            <a:ext cx="11155680" cy="1051560"/>
          </a:xfrm>
          <a:prstGeom prst="roundRect">
            <a:avLst>
              <a:gd name="adj" fmla="val 6957"/>
            </a:avLst>
          </a:prstGeom>
          <a:solidFill>
            <a:srgbClr val="2E1A1A"/>
          </a:solidFill>
          <a:ln w="9525">
            <a:solidFill>
              <a:srgbClr val="C00000"/>
            </a:solidFill>
            <a:prstDash val="solid"/>
          </a:ln>
        </p:spPr>
      </p:sp>
      <p:sp>
        <p:nvSpPr>
          <p:cNvPr id="37" name="Text 35"/>
          <p:cNvSpPr/>
          <p:nvPr/>
        </p:nvSpPr>
        <p:spPr>
          <a:xfrm>
            <a:off x="777240" y="5120640"/>
            <a:ext cx="1828800" cy="256032"/>
          </a:xfrm>
          <a:prstGeom prst="rect">
            <a:avLst/>
          </a:prstGeom>
          <a:noFill/>
          <a:ln/>
        </p:spPr>
        <p:txBody>
          <a:bodyPr wrap="square" lIns="0" tIns="0" rIns="0" bIns="0" rtlCol="0" anchor="ctr"/>
          <a:lstStyle/>
          <a:p>
            <a:pPr marL="0" indent="0">
              <a:buNone/>
            </a:pPr>
            <a:r>
              <a:rPr lang="en-US" sz="1100" b="1" dirty="0">
                <a:solidFill>
                  <a:srgbClr val="FF8A8A"/>
                </a:solidFill>
                <a:latin typeface="Calibri" pitchFamily="34" charset="0"/>
                <a:ea typeface="Calibri" pitchFamily="34" charset="-122"/>
                <a:cs typeface="Calibri" pitchFamily="34" charset="-120"/>
              </a:rPr>
              <a:t>Read this first</a:t>
            </a:r>
            <a:endParaRPr lang="en-US" sz="1100" dirty="0"/>
          </a:p>
        </p:txBody>
      </p:sp>
      <p:sp>
        <p:nvSpPr>
          <p:cNvPr id="38" name="Text 36"/>
          <p:cNvSpPr/>
          <p:nvPr/>
        </p:nvSpPr>
        <p:spPr>
          <a:xfrm>
            <a:off x="777240" y="5376672"/>
            <a:ext cx="10607040" cy="548640"/>
          </a:xfrm>
          <a:prstGeom prst="rect">
            <a:avLst/>
          </a:prstGeom>
          <a:noFill/>
          <a:ln/>
        </p:spPr>
        <p:txBody>
          <a:bodyPr wrap="square" lIns="0" tIns="0" rIns="0" bIns="0" rtlCol="0" anchor="t"/>
          <a:lstStyle/>
          <a:p>
            <a:pPr marL="0" indent="0">
              <a:lnSpc>
                <a:spcPts val="1600"/>
              </a:lnSpc>
              <a:buNone/>
            </a:pPr>
            <a:r>
              <a:rPr lang="en-US" sz="1150" dirty="0">
                <a:solidFill>
                  <a:srgbClr val="E8D6D6"/>
                </a:solidFill>
                <a:latin typeface="Calibri" pitchFamily="34" charset="0"/>
                <a:ea typeface="Calibri" pitchFamily="34" charset="-122"/>
                <a:cs typeface="Calibri" pitchFamily="34" charset="-120"/>
              </a:rPr>
              <a:t>Fatal accidents are rare but disproportionately costly: 3,953 fatal accidents produced 7,135 casualties — 1.80 people per event, against 1.34 for slight accidents. Severity does not just change the outcome, it multiplies the number of people affected.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04 · FINDINGS</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Severity Distribution &amp; the Casualty Multiplier</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graphicFrame>
        <p:nvGraphicFramePr>
          <p:cNvPr id="5" name="Chart 0"/>
          <p:cNvGraphicFramePr/>
          <p:nvPr/>
        </p:nvGraphicFramePr>
        <p:xfrm>
          <a:off x="502920" y="1371600"/>
          <a:ext cx="64922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7315200" y="1417320"/>
            <a:ext cx="4343400" cy="274320"/>
          </a:xfrm>
          <a:prstGeom prst="rect">
            <a:avLst/>
          </a:prstGeom>
          <a:noFill/>
          <a:ln/>
        </p:spPr>
        <p:txBody>
          <a:bodyPr wrap="square" lIns="0" tIns="0" rIns="0" bIns="0" rtlCol="0" anchor="ctr"/>
          <a:lstStyle/>
          <a:p>
            <a:pPr marL="0" indent="0">
              <a:buNone/>
            </a:pPr>
            <a:r>
              <a:rPr lang="en-US" sz="1300" b="1" dirty="0">
                <a:solidFill>
                  <a:srgbClr val="ED7D31"/>
                </a:solidFill>
                <a:latin typeface="Calibri" pitchFamily="34" charset="0"/>
                <a:ea typeface="Calibri" pitchFamily="34" charset="-122"/>
                <a:cs typeface="Calibri" pitchFamily="34" charset="-120"/>
              </a:rPr>
              <a:t>What the split reveals</a:t>
            </a:r>
            <a:endParaRPr lang="en-US" sz="1300" dirty="0"/>
          </a:p>
        </p:txBody>
      </p:sp>
      <p:sp>
        <p:nvSpPr>
          <p:cNvPr id="7" name="Text 4"/>
          <p:cNvSpPr/>
          <p:nvPr/>
        </p:nvSpPr>
        <p:spPr>
          <a:xfrm>
            <a:off x="7315200" y="1783080"/>
            <a:ext cx="384048" cy="292608"/>
          </a:xfrm>
          <a:prstGeom prst="rect">
            <a:avLst/>
          </a:prstGeom>
          <a:noFill/>
          <a:ln/>
        </p:spPr>
        <p:txBody>
          <a:bodyPr wrap="square" lIns="0" tIns="0" rIns="0" bIns="0" rtlCol="0" anchor="ctr"/>
          <a:lstStyle/>
          <a:p>
            <a:pPr marL="0" indent="0">
              <a:buNone/>
            </a:pPr>
            <a:r>
              <a:rPr lang="en-US" sz="1700" b="1" dirty="0">
                <a:solidFill>
                  <a:srgbClr val="FFC000"/>
                </a:solidFill>
                <a:latin typeface="Cambria" pitchFamily="34" charset="0"/>
                <a:ea typeface="Cambria" pitchFamily="34" charset="-122"/>
                <a:cs typeface="Cambria" pitchFamily="34" charset="-120"/>
              </a:rPr>
              <a:t>01</a:t>
            </a:r>
            <a:endParaRPr lang="en-US" sz="1700" dirty="0"/>
          </a:p>
        </p:txBody>
      </p:sp>
      <p:sp>
        <p:nvSpPr>
          <p:cNvPr id="8" name="Text 5"/>
          <p:cNvSpPr/>
          <p:nvPr/>
        </p:nvSpPr>
        <p:spPr>
          <a:xfrm>
            <a:off x="7699248" y="1783080"/>
            <a:ext cx="3959352" cy="27432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Slight dominates volume</a:t>
            </a:r>
            <a:endParaRPr lang="en-US" sz="1300" dirty="0"/>
          </a:p>
        </p:txBody>
      </p:sp>
      <p:sp>
        <p:nvSpPr>
          <p:cNvPr id="9" name="Text 6"/>
          <p:cNvSpPr/>
          <p:nvPr/>
        </p:nvSpPr>
        <p:spPr>
          <a:xfrm>
            <a:off x="7699248" y="2075688"/>
            <a:ext cx="3959352" cy="822960"/>
          </a:xfrm>
          <a:prstGeom prst="rect">
            <a:avLst/>
          </a:prstGeom>
          <a:noFill/>
          <a:ln/>
        </p:spPr>
        <p:txBody>
          <a:bodyPr wrap="square" lIns="0" tIns="0" rIns="0" bIns="0" rtlCol="0" anchor="t"/>
          <a:lstStyle/>
          <a:p>
            <a:pPr marL="0" indent="0">
              <a:lnSpc>
                <a:spcPts val="1400"/>
              </a:lnSpc>
              <a:buNone/>
            </a:pPr>
            <a:r>
              <a:rPr lang="en-US" sz="1050" dirty="0">
                <a:solidFill>
                  <a:srgbClr val="5F6B7A"/>
                </a:solidFill>
                <a:latin typeface="Calibri" pitchFamily="34" charset="0"/>
                <a:ea typeface="Calibri" pitchFamily="34" charset="-122"/>
                <a:cs typeface="Calibri" pitchFamily="34" charset="-120"/>
              </a:rPr>
              <a:t>263,280 slight accidents account for 85.5% of all events, and drive the bulk of demand on emergency and insurance systems.</a:t>
            </a:r>
            <a:endParaRPr lang="en-US" sz="1050" dirty="0"/>
          </a:p>
        </p:txBody>
      </p:sp>
      <p:sp>
        <p:nvSpPr>
          <p:cNvPr id="10" name="Text 7"/>
          <p:cNvSpPr/>
          <p:nvPr/>
        </p:nvSpPr>
        <p:spPr>
          <a:xfrm>
            <a:off x="7315200" y="2926080"/>
            <a:ext cx="384048" cy="292608"/>
          </a:xfrm>
          <a:prstGeom prst="rect">
            <a:avLst/>
          </a:prstGeom>
          <a:noFill/>
          <a:ln/>
        </p:spPr>
        <p:txBody>
          <a:bodyPr wrap="square" lIns="0" tIns="0" rIns="0" bIns="0" rtlCol="0" anchor="ctr"/>
          <a:lstStyle/>
          <a:p>
            <a:pPr marL="0" indent="0">
              <a:buNone/>
            </a:pPr>
            <a:r>
              <a:rPr lang="en-US" sz="1700" b="1" dirty="0">
                <a:solidFill>
                  <a:srgbClr val="C00000"/>
                </a:solidFill>
                <a:latin typeface="Cambria" pitchFamily="34" charset="0"/>
                <a:ea typeface="Cambria" pitchFamily="34" charset="-122"/>
                <a:cs typeface="Cambria" pitchFamily="34" charset="-120"/>
              </a:rPr>
              <a:t>02</a:t>
            </a:r>
            <a:endParaRPr lang="en-US" sz="1700" dirty="0"/>
          </a:p>
        </p:txBody>
      </p:sp>
      <p:sp>
        <p:nvSpPr>
          <p:cNvPr id="11" name="Text 8"/>
          <p:cNvSpPr/>
          <p:nvPr/>
        </p:nvSpPr>
        <p:spPr>
          <a:xfrm>
            <a:off x="7699248" y="2926080"/>
            <a:ext cx="3959352" cy="27432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Fatal escalates harm</a:t>
            </a:r>
            <a:endParaRPr lang="en-US" sz="1300" dirty="0"/>
          </a:p>
        </p:txBody>
      </p:sp>
      <p:sp>
        <p:nvSpPr>
          <p:cNvPr id="12" name="Text 9"/>
          <p:cNvSpPr/>
          <p:nvPr/>
        </p:nvSpPr>
        <p:spPr>
          <a:xfrm>
            <a:off x="7699248" y="3218688"/>
            <a:ext cx="3959352" cy="822960"/>
          </a:xfrm>
          <a:prstGeom prst="rect">
            <a:avLst/>
          </a:prstGeom>
          <a:noFill/>
          <a:ln/>
        </p:spPr>
        <p:txBody>
          <a:bodyPr wrap="square" lIns="0" tIns="0" rIns="0" bIns="0" rtlCol="0" anchor="t"/>
          <a:lstStyle/>
          <a:p>
            <a:pPr marL="0" indent="0">
              <a:lnSpc>
                <a:spcPts val="1400"/>
              </a:lnSpc>
              <a:buNone/>
            </a:pPr>
            <a:r>
              <a:rPr lang="en-US" sz="1050" dirty="0">
                <a:solidFill>
                  <a:srgbClr val="5F6B7A"/>
                </a:solidFill>
                <a:latin typeface="Calibri" pitchFamily="34" charset="0"/>
                <a:ea typeface="Calibri" pitchFamily="34" charset="-122"/>
                <a:cs typeface="Calibri" pitchFamily="34" charset="-120"/>
              </a:rPr>
              <a:t>Each fatal accident produces 1.80 casualties versus 1.34 for slight — a 34% higher human cost per event.</a:t>
            </a:r>
            <a:endParaRPr lang="en-US" sz="1050" dirty="0"/>
          </a:p>
        </p:txBody>
      </p:sp>
      <p:sp>
        <p:nvSpPr>
          <p:cNvPr id="13" name="Text 10"/>
          <p:cNvSpPr/>
          <p:nvPr/>
        </p:nvSpPr>
        <p:spPr>
          <a:xfrm>
            <a:off x="7315200" y="4069080"/>
            <a:ext cx="384048" cy="292608"/>
          </a:xfrm>
          <a:prstGeom prst="rect">
            <a:avLst/>
          </a:prstGeom>
          <a:noFill/>
          <a:ln/>
        </p:spPr>
        <p:txBody>
          <a:bodyPr wrap="square" lIns="0" tIns="0" rIns="0" bIns="0" rtlCol="0" anchor="ctr"/>
          <a:lstStyle/>
          <a:p>
            <a:pPr marL="0" indent="0">
              <a:buNone/>
            </a:pPr>
            <a:r>
              <a:rPr lang="en-US" sz="1700" b="1" dirty="0">
                <a:solidFill>
                  <a:srgbClr val="ED7D31"/>
                </a:solidFill>
                <a:latin typeface="Cambria" pitchFamily="34" charset="0"/>
                <a:ea typeface="Cambria" pitchFamily="34" charset="-122"/>
                <a:cs typeface="Cambria" pitchFamily="34" charset="-120"/>
              </a:rPr>
              <a:t>03</a:t>
            </a:r>
            <a:endParaRPr lang="en-US" sz="1700" dirty="0"/>
          </a:p>
        </p:txBody>
      </p:sp>
      <p:sp>
        <p:nvSpPr>
          <p:cNvPr id="14" name="Text 11"/>
          <p:cNvSpPr/>
          <p:nvPr/>
        </p:nvSpPr>
        <p:spPr>
          <a:xfrm>
            <a:off x="7699248" y="4069080"/>
            <a:ext cx="3959352" cy="27432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Serious sits in between</a:t>
            </a:r>
            <a:endParaRPr lang="en-US" sz="1300" dirty="0"/>
          </a:p>
        </p:txBody>
      </p:sp>
      <p:sp>
        <p:nvSpPr>
          <p:cNvPr id="15" name="Text 12"/>
          <p:cNvSpPr/>
          <p:nvPr/>
        </p:nvSpPr>
        <p:spPr>
          <a:xfrm>
            <a:off x="7699248" y="4361688"/>
            <a:ext cx="3959352" cy="822960"/>
          </a:xfrm>
          <a:prstGeom prst="rect">
            <a:avLst/>
          </a:prstGeom>
          <a:noFill/>
          <a:ln/>
        </p:spPr>
        <p:txBody>
          <a:bodyPr wrap="square" lIns="0" tIns="0" rIns="0" bIns="0" rtlCol="0" anchor="t"/>
          <a:lstStyle/>
          <a:p>
            <a:pPr marL="0" indent="0">
              <a:lnSpc>
                <a:spcPts val="1400"/>
              </a:lnSpc>
              <a:buNone/>
            </a:pPr>
            <a:r>
              <a:rPr lang="en-US" sz="1050" dirty="0">
                <a:solidFill>
                  <a:srgbClr val="5F6B7A"/>
                </a:solidFill>
                <a:latin typeface="Calibri" pitchFamily="34" charset="0"/>
                <a:ea typeface="Calibri" pitchFamily="34" charset="-122"/>
                <a:cs typeface="Calibri" pitchFamily="34" charset="-120"/>
              </a:rPr>
              <a:t>59,312 casualties from 40,740 accidents (1.46 per event) confirms a clean severity-to-casualty gradient.</a:t>
            </a:r>
            <a:endParaRPr lang="en-US" sz="1050" dirty="0"/>
          </a:p>
        </p:txBody>
      </p:sp>
      <p:sp>
        <p:nvSpPr>
          <p:cNvPr id="16" name="Shape 13"/>
          <p:cNvSpPr/>
          <p:nvPr/>
        </p:nvSpPr>
        <p:spPr>
          <a:xfrm>
            <a:off x="502920" y="5230368"/>
            <a:ext cx="11155680" cy="868680"/>
          </a:xfrm>
          <a:prstGeom prst="roundRect">
            <a:avLst>
              <a:gd name="adj" fmla="val 8421"/>
            </a:avLst>
          </a:prstGeom>
          <a:solidFill>
            <a:srgbClr val="F4F5F7"/>
          </a:solidFill>
          <a:ln w="6350">
            <a:solidFill>
              <a:srgbClr val="E3E6EB"/>
            </a:solidFill>
            <a:prstDash val="solid"/>
          </a:ln>
        </p:spPr>
      </p:sp>
      <p:sp>
        <p:nvSpPr>
          <p:cNvPr id="17" name="Text 14"/>
          <p:cNvSpPr/>
          <p:nvPr/>
        </p:nvSpPr>
        <p:spPr>
          <a:xfrm>
            <a:off x="777240" y="5349240"/>
            <a:ext cx="2286000" cy="237744"/>
          </a:xfrm>
          <a:prstGeom prst="rect">
            <a:avLst/>
          </a:prstGeom>
          <a:noFill/>
          <a:ln/>
        </p:spPr>
        <p:txBody>
          <a:bodyPr wrap="square" lIns="0" tIns="0" rIns="0" bIns="0" rtlCol="0" anchor="ctr"/>
          <a:lstStyle/>
          <a:p>
            <a:pPr marL="0" indent="0">
              <a:buNone/>
            </a:pPr>
            <a:r>
              <a:rPr lang="en-US" sz="1100" b="1" dirty="0">
                <a:solidFill>
                  <a:srgbClr val="16233A"/>
                </a:solidFill>
                <a:latin typeface="Calibri" pitchFamily="34" charset="0"/>
                <a:ea typeface="Calibri" pitchFamily="34" charset="-122"/>
                <a:cs typeface="Calibri" pitchFamily="34" charset="-120"/>
              </a:rPr>
              <a:t>Prescriptive implication</a:t>
            </a:r>
            <a:endParaRPr lang="en-US" sz="1100" dirty="0"/>
          </a:p>
        </p:txBody>
      </p:sp>
      <p:sp>
        <p:nvSpPr>
          <p:cNvPr id="18" name="Text 15"/>
          <p:cNvSpPr/>
          <p:nvPr/>
        </p:nvSpPr>
        <p:spPr>
          <a:xfrm>
            <a:off x="777240" y="5596128"/>
            <a:ext cx="10607040" cy="457200"/>
          </a:xfrm>
          <a:prstGeom prst="rect">
            <a:avLst/>
          </a:prstGeom>
          <a:noFill/>
          <a:ln/>
        </p:spPr>
        <p:txBody>
          <a:bodyPr wrap="square" lIns="0" tIns="0" rIns="0" bIns="0" rtlCol="0" anchor="t"/>
          <a:lstStyle/>
          <a:p>
            <a:pPr marL="0" indent="0">
              <a:lnSpc>
                <a:spcPts val="1400"/>
              </a:lnSpc>
              <a:buNone/>
            </a:pPr>
            <a:r>
              <a:rPr lang="en-US" sz="1050" dirty="0">
                <a:solidFill>
                  <a:srgbClr val="5F6B7A"/>
                </a:solidFill>
                <a:latin typeface="Calibri" pitchFamily="34" charset="0"/>
                <a:ea typeface="Calibri" pitchFamily="34" charset="-122"/>
                <a:cs typeface="Calibri" pitchFamily="34" charset="-120"/>
              </a:rPr>
              <a:t>Volume-reduction measures and severity-reduction measures are different investments. Reducing slight accidents saves cost; reducing fatal accidents saves lives at a 1.8x casualty rate. Budget should be split accordingly, not merged into a single 'accident reduction' target.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04 · FINDINGS — TEMPORAL</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When Accidents Happen</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graphicFrame>
        <p:nvGraphicFramePr>
          <p:cNvPr id="5" name="Chart 0"/>
          <p:cNvGraphicFramePr/>
          <p:nvPr/>
        </p:nvGraphicFramePr>
        <p:xfrm>
          <a:off x="502920" y="1371600"/>
          <a:ext cx="5486400" cy="28803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6263640" y="1371600"/>
          <a:ext cx="5394960" cy="288036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502920" y="4434840"/>
            <a:ext cx="3520440" cy="1600200"/>
          </a:xfrm>
          <a:prstGeom prst="roundRect">
            <a:avLst>
              <a:gd name="adj" fmla="val 4571"/>
            </a:avLst>
          </a:prstGeom>
          <a:solidFill>
            <a:srgbClr val="F4F5F7"/>
          </a:solidFill>
          <a:ln w="6350">
            <a:solidFill>
              <a:srgbClr val="E3E6EB"/>
            </a:solidFill>
            <a:prstDash val="solid"/>
          </a:ln>
        </p:spPr>
      </p:sp>
      <p:sp>
        <p:nvSpPr>
          <p:cNvPr id="8" name="Shape 4"/>
          <p:cNvSpPr/>
          <p:nvPr/>
        </p:nvSpPr>
        <p:spPr>
          <a:xfrm>
            <a:off x="731520" y="4645152"/>
            <a:ext cx="128016" cy="128016"/>
          </a:xfrm>
          <a:prstGeom prst="ellipse">
            <a:avLst/>
          </a:prstGeom>
          <a:solidFill>
            <a:srgbClr val="1F3864"/>
          </a:solidFill>
          <a:ln/>
        </p:spPr>
      </p:sp>
      <p:sp>
        <p:nvSpPr>
          <p:cNvPr id="9" name="Text 5"/>
          <p:cNvSpPr/>
          <p:nvPr/>
        </p:nvSpPr>
        <p:spPr>
          <a:xfrm>
            <a:off x="960120" y="4572000"/>
            <a:ext cx="2834640" cy="274320"/>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Friday peak</a:t>
            </a:r>
            <a:endParaRPr lang="en-US" sz="1250" dirty="0"/>
          </a:p>
        </p:txBody>
      </p:sp>
      <p:sp>
        <p:nvSpPr>
          <p:cNvPr id="10" name="Text 6"/>
          <p:cNvSpPr/>
          <p:nvPr/>
        </p:nvSpPr>
        <p:spPr>
          <a:xfrm>
            <a:off x="731520" y="4937760"/>
            <a:ext cx="3108960" cy="960120"/>
          </a:xfrm>
          <a:prstGeom prst="rect">
            <a:avLst/>
          </a:prstGeom>
          <a:noFill/>
          <a:ln/>
        </p:spPr>
        <p:txBody>
          <a:bodyPr wrap="square" lIns="0" tIns="0" rIns="0" bIns="0" rtlCol="0" anchor="t"/>
          <a:lstStyle/>
          <a:p>
            <a:pPr marL="0" indent="0">
              <a:lnSpc>
                <a:spcPts val="1300"/>
              </a:lnSpc>
              <a:buNone/>
            </a:pPr>
            <a:r>
              <a:rPr lang="en-US" sz="1000" dirty="0">
                <a:solidFill>
                  <a:srgbClr val="5F6B7A"/>
                </a:solidFill>
                <a:latin typeface="Calibri" pitchFamily="34" charset="0"/>
                <a:ea typeface="Calibri" pitchFamily="34" charset="-122"/>
                <a:cs typeface="Calibri" pitchFamily="34" charset="-120"/>
              </a:rPr>
              <a:t>50,529 accidents, 50.6% above Sunday, the quietest day. End-of-week fatigue and leisure travel compound commuter volume.</a:t>
            </a:r>
            <a:endParaRPr lang="en-US" sz="1000" dirty="0"/>
          </a:p>
        </p:txBody>
      </p:sp>
      <p:sp>
        <p:nvSpPr>
          <p:cNvPr id="11" name="Shape 7"/>
          <p:cNvSpPr/>
          <p:nvPr/>
        </p:nvSpPr>
        <p:spPr>
          <a:xfrm>
            <a:off x="4297680" y="4434840"/>
            <a:ext cx="3520440" cy="1600200"/>
          </a:xfrm>
          <a:prstGeom prst="roundRect">
            <a:avLst>
              <a:gd name="adj" fmla="val 4571"/>
            </a:avLst>
          </a:prstGeom>
          <a:solidFill>
            <a:srgbClr val="F4F5F7"/>
          </a:solidFill>
          <a:ln w="6350">
            <a:solidFill>
              <a:srgbClr val="E3E6EB"/>
            </a:solidFill>
            <a:prstDash val="solid"/>
          </a:ln>
        </p:spPr>
      </p:sp>
      <p:sp>
        <p:nvSpPr>
          <p:cNvPr id="12" name="Shape 8"/>
          <p:cNvSpPr/>
          <p:nvPr/>
        </p:nvSpPr>
        <p:spPr>
          <a:xfrm>
            <a:off x="4526280" y="4645152"/>
            <a:ext cx="128016" cy="128016"/>
          </a:xfrm>
          <a:prstGeom prst="ellipse">
            <a:avLst/>
          </a:prstGeom>
          <a:solidFill>
            <a:srgbClr val="ED7D31"/>
          </a:solidFill>
          <a:ln/>
        </p:spPr>
      </p:sp>
      <p:sp>
        <p:nvSpPr>
          <p:cNvPr id="13" name="Text 9"/>
          <p:cNvSpPr/>
          <p:nvPr/>
        </p:nvSpPr>
        <p:spPr>
          <a:xfrm>
            <a:off x="4754880" y="4572000"/>
            <a:ext cx="2834640" cy="274320"/>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Evening rush dominates</a:t>
            </a:r>
            <a:endParaRPr lang="en-US" sz="1250" dirty="0"/>
          </a:p>
        </p:txBody>
      </p:sp>
      <p:sp>
        <p:nvSpPr>
          <p:cNvPr id="14" name="Text 10"/>
          <p:cNvSpPr/>
          <p:nvPr/>
        </p:nvSpPr>
        <p:spPr>
          <a:xfrm>
            <a:off x="4526280" y="4937760"/>
            <a:ext cx="3108960" cy="960120"/>
          </a:xfrm>
          <a:prstGeom prst="rect">
            <a:avLst/>
          </a:prstGeom>
          <a:noFill/>
          <a:ln/>
        </p:spPr>
        <p:txBody>
          <a:bodyPr wrap="square" lIns="0" tIns="0" rIns="0" bIns="0" rtlCol="0" anchor="t"/>
          <a:lstStyle/>
          <a:p>
            <a:pPr marL="0" indent="0">
              <a:lnSpc>
                <a:spcPts val="1300"/>
              </a:lnSpc>
              <a:buNone/>
            </a:pPr>
            <a:r>
              <a:rPr lang="en-US" sz="1000" dirty="0">
                <a:solidFill>
                  <a:srgbClr val="5F6B7A"/>
                </a:solidFill>
                <a:latin typeface="Calibri" pitchFamily="34" charset="0"/>
                <a:ea typeface="Calibri" pitchFamily="34" charset="-122"/>
                <a:cs typeface="Calibri" pitchFamily="34" charset="-120"/>
              </a:rPr>
              <a:t>The 17:00 hour is the single highest-risk hour of the day, exceeding the 08:00 morning peak by a clear margin.</a:t>
            </a:r>
            <a:endParaRPr lang="en-US" sz="1000" dirty="0"/>
          </a:p>
        </p:txBody>
      </p:sp>
      <p:sp>
        <p:nvSpPr>
          <p:cNvPr id="15" name="Shape 11"/>
          <p:cNvSpPr/>
          <p:nvPr/>
        </p:nvSpPr>
        <p:spPr>
          <a:xfrm>
            <a:off x="8092440" y="4434840"/>
            <a:ext cx="3520440" cy="1600200"/>
          </a:xfrm>
          <a:prstGeom prst="roundRect">
            <a:avLst>
              <a:gd name="adj" fmla="val 4571"/>
            </a:avLst>
          </a:prstGeom>
          <a:solidFill>
            <a:srgbClr val="F4F5F7"/>
          </a:solidFill>
          <a:ln w="6350">
            <a:solidFill>
              <a:srgbClr val="E3E6EB"/>
            </a:solidFill>
            <a:prstDash val="solid"/>
          </a:ln>
        </p:spPr>
      </p:sp>
      <p:sp>
        <p:nvSpPr>
          <p:cNvPr id="16" name="Shape 12"/>
          <p:cNvSpPr/>
          <p:nvPr/>
        </p:nvSpPr>
        <p:spPr>
          <a:xfrm>
            <a:off x="8321040" y="4645152"/>
            <a:ext cx="128016" cy="128016"/>
          </a:xfrm>
          <a:prstGeom prst="ellipse">
            <a:avLst/>
          </a:prstGeom>
          <a:solidFill>
            <a:srgbClr val="16233A"/>
          </a:solidFill>
          <a:ln/>
        </p:spPr>
      </p:sp>
      <p:sp>
        <p:nvSpPr>
          <p:cNvPr id="17" name="Text 13"/>
          <p:cNvSpPr/>
          <p:nvPr/>
        </p:nvSpPr>
        <p:spPr>
          <a:xfrm>
            <a:off x="8549640" y="4572000"/>
            <a:ext cx="2834640" cy="274320"/>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Overnight is low-volume</a:t>
            </a:r>
            <a:endParaRPr lang="en-US" sz="1250" dirty="0"/>
          </a:p>
        </p:txBody>
      </p:sp>
      <p:sp>
        <p:nvSpPr>
          <p:cNvPr id="18" name="Text 14"/>
          <p:cNvSpPr/>
          <p:nvPr/>
        </p:nvSpPr>
        <p:spPr>
          <a:xfrm>
            <a:off x="8321040" y="4937760"/>
            <a:ext cx="3108960" cy="960120"/>
          </a:xfrm>
          <a:prstGeom prst="rect">
            <a:avLst/>
          </a:prstGeom>
          <a:noFill/>
          <a:ln/>
        </p:spPr>
        <p:txBody>
          <a:bodyPr wrap="square" lIns="0" tIns="0" rIns="0" bIns="0" rtlCol="0" anchor="t"/>
          <a:lstStyle/>
          <a:p>
            <a:pPr marL="0" indent="0">
              <a:lnSpc>
                <a:spcPts val="1300"/>
              </a:lnSpc>
              <a:buNone/>
            </a:pPr>
            <a:r>
              <a:rPr lang="en-US" sz="1000" dirty="0">
                <a:solidFill>
                  <a:srgbClr val="5F6B7A"/>
                </a:solidFill>
                <a:latin typeface="Calibri" pitchFamily="34" charset="0"/>
                <a:ea typeface="Calibri" pitchFamily="34" charset="-122"/>
                <a:cs typeface="Calibri" pitchFamily="34" charset="-120"/>
              </a:rPr>
              <a:t>The 03:00–05:00 window records the fewest accidents, but with the thinnest traffic — meaning risk per vehicle is far higher than volume suggests.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04 · FINDINGS — INFRASTRUCTURE</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Where Risk Concentrates: Road Type &amp; Speed</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graphicFrame>
        <p:nvGraphicFramePr>
          <p:cNvPr id="5" name="Chart 0"/>
          <p:cNvGraphicFramePr/>
          <p:nvPr/>
        </p:nvGraphicFramePr>
        <p:xfrm>
          <a:off x="502920" y="1371600"/>
          <a:ext cx="5486400" cy="28346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6263640" y="1371600"/>
          <a:ext cx="5394960"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502920" y="4434840"/>
            <a:ext cx="384048" cy="292608"/>
          </a:xfrm>
          <a:prstGeom prst="rect">
            <a:avLst/>
          </a:prstGeom>
          <a:noFill/>
          <a:ln/>
        </p:spPr>
        <p:txBody>
          <a:bodyPr wrap="square" lIns="0" tIns="0" rIns="0" bIns="0" rtlCol="0" anchor="ctr"/>
          <a:lstStyle/>
          <a:p>
            <a:pPr marL="0" indent="0">
              <a:buNone/>
            </a:pPr>
            <a:r>
              <a:rPr lang="en-US" sz="1700" b="1" dirty="0">
                <a:solidFill>
                  <a:srgbClr val="4472C4"/>
                </a:solidFill>
                <a:latin typeface="Cambria" pitchFamily="34" charset="0"/>
                <a:ea typeface="Cambria" pitchFamily="34" charset="-122"/>
                <a:cs typeface="Cambria" pitchFamily="34" charset="-120"/>
              </a:rPr>
              <a:t>01</a:t>
            </a:r>
            <a:endParaRPr lang="en-US" sz="1700" dirty="0"/>
          </a:p>
        </p:txBody>
      </p:sp>
      <p:sp>
        <p:nvSpPr>
          <p:cNvPr id="8" name="Text 4"/>
          <p:cNvSpPr/>
          <p:nvPr/>
        </p:nvSpPr>
        <p:spPr>
          <a:xfrm>
            <a:off x="886968" y="4434840"/>
            <a:ext cx="3182112" cy="27432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Single carriageways carry 75%</a:t>
            </a:r>
            <a:endParaRPr lang="en-US" sz="1300" dirty="0"/>
          </a:p>
        </p:txBody>
      </p:sp>
      <p:sp>
        <p:nvSpPr>
          <p:cNvPr id="9" name="Text 5"/>
          <p:cNvSpPr/>
          <p:nvPr/>
        </p:nvSpPr>
        <p:spPr>
          <a:xfrm>
            <a:off x="886968" y="4727448"/>
            <a:ext cx="3182112" cy="822960"/>
          </a:xfrm>
          <a:prstGeom prst="rect">
            <a:avLst/>
          </a:prstGeom>
          <a:noFill/>
          <a:ln/>
        </p:spPr>
        <p:txBody>
          <a:bodyPr wrap="square" lIns="0" tIns="0" rIns="0" bIns="0" rtlCol="0" anchor="t"/>
          <a:lstStyle/>
          <a:p>
            <a:pPr marL="0" indent="0">
              <a:lnSpc>
                <a:spcPts val="1400"/>
              </a:lnSpc>
              <a:buNone/>
            </a:pPr>
            <a:r>
              <a:rPr lang="en-US" sz="1050" dirty="0">
                <a:solidFill>
                  <a:srgbClr val="5F6B7A"/>
                </a:solidFill>
                <a:latin typeface="Calibri" pitchFamily="34" charset="0"/>
                <a:ea typeface="Calibri" pitchFamily="34" charset="-122"/>
                <a:cs typeface="Calibri" pitchFamily="34" charset="-120"/>
              </a:rPr>
              <a:t>230,612 accidents against 77,361 for every other road type combined. This is the primary national exposure.</a:t>
            </a:r>
            <a:endParaRPr lang="en-US" sz="1050" dirty="0"/>
          </a:p>
        </p:txBody>
      </p:sp>
      <p:sp>
        <p:nvSpPr>
          <p:cNvPr id="10" name="Text 6"/>
          <p:cNvSpPr/>
          <p:nvPr/>
        </p:nvSpPr>
        <p:spPr>
          <a:xfrm>
            <a:off x="4297680" y="4434840"/>
            <a:ext cx="384048" cy="292608"/>
          </a:xfrm>
          <a:prstGeom prst="rect">
            <a:avLst/>
          </a:prstGeom>
          <a:noFill/>
          <a:ln/>
        </p:spPr>
        <p:txBody>
          <a:bodyPr wrap="square" lIns="0" tIns="0" rIns="0" bIns="0" rtlCol="0" anchor="ctr"/>
          <a:lstStyle/>
          <a:p>
            <a:pPr marL="0" indent="0">
              <a:buNone/>
            </a:pPr>
            <a:r>
              <a:rPr lang="en-US" sz="1700" b="1" dirty="0">
                <a:solidFill>
                  <a:srgbClr val="FFC000"/>
                </a:solidFill>
                <a:latin typeface="Cambria" pitchFamily="34" charset="0"/>
                <a:ea typeface="Cambria" pitchFamily="34" charset="-122"/>
                <a:cs typeface="Cambria" pitchFamily="34" charset="-120"/>
              </a:rPr>
              <a:t>02</a:t>
            </a:r>
            <a:endParaRPr lang="en-US" sz="1700" dirty="0"/>
          </a:p>
        </p:txBody>
      </p:sp>
      <p:sp>
        <p:nvSpPr>
          <p:cNvPr id="11" name="Text 7"/>
          <p:cNvSpPr/>
          <p:nvPr/>
        </p:nvSpPr>
        <p:spPr>
          <a:xfrm>
            <a:off x="4681728" y="4434840"/>
            <a:ext cx="3182112" cy="27432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30 mph zones concentrate volume</a:t>
            </a:r>
            <a:endParaRPr lang="en-US" sz="1300" dirty="0"/>
          </a:p>
        </p:txBody>
      </p:sp>
      <p:sp>
        <p:nvSpPr>
          <p:cNvPr id="12" name="Text 8"/>
          <p:cNvSpPr/>
          <p:nvPr/>
        </p:nvSpPr>
        <p:spPr>
          <a:xfrm>
            <a:off x="4681728" y="4727448"/>
            <a:ext cx="3182112" cy="822960"/>
          </a:xfrm>
          <a:prstGeom prst="rect">
            <a:avLst/>
          </a:prstGeom>
          <a:noFill/>
          <a:ln/>
        </p:spPr>
        <p:txBody>
          <a:bodyPr wrap="square" lIns="0" tIns="0" rIns="0" bIns="0" rtlCol="0" anchor="t"/>
          <a:lstStyle/>
          <a:p>
            <a:pPr marL="0" indent="0">
              <a:lnSpc>
                <a:spcPts val="1400"/>
              </a:lnSpc>
              <a:buNone/>
            </a:pPr>
            <a:r>
              <a:rPr lang="en-US" sz="1050" dirty="0">
                <a:solidFill>
                  <a:srgbClr val="5F6B7A"/>
                </a:solidFill>
                <a:latin typeface="Calibri" pitchFamily="34" charset="0"/>
                <a:ea typeface="Calibri" pitchFamily="34" charset="-122"/>
                <a:cs typeface="Calibri" pitchFamily="34" charset="-120"/>
              </a:rPr>
              <a:t>The 30 mph band dominates all others, reflecting the urban road network where most driving happens.</a:t>
            </a:r>
            <a:endParaRPr lang="en-US" sz="1050" dirty="0"/>
          </a:p>
        </p:txBody>
      </p:sp>
      <p:sp>
        <p:nvSpPr>
          <p:cNvPr id="13" name="Text 9"/>
          <p:cNvSpPr/>
          <p:nvPr/>
        </p:nvSpPr>
        <p:spPr>
          <a:xfrm>
            <a:off x="8092440" y="4434840"/>
            <a:ext cx="384048" cy="292608"/>
          </a:xfrm>
          <a:prstGeom prst="rect">
            <a:avLst/>
          </a:prstGeom>
          <a:noFill/>
          <a:ln/>
        </p:spPr>
        <p:txBody>
          <a:bodyPr wrap="square" lIns="0" tIns="0" rIns="0" bIns="0" rtlCol="0" anchor="ctr"/>
          <a:lstStyle/>
          <a:p>
            <a:pPr marL="0" indent="0">
              <a:buNone/>
            </a:pPr>
            <a:r>
              <a:rPr lang="en-US" sz="1700" b="1" dirty="0">
                <a:solidFill>
                  <a:srgbClr val="ED7D31"/>
                </a:solidFill>
                <a:latin typeface="Cambria" pitchFamily="34" charset="0"/>
                <a:ea typeface="Cambria" pitchFamily="34" charset="-122"/>
                <a:cs typeface="Cambria" pitchFamily="34" charset="-120"/>
              </a:rPr>
              <a:t>03</a:t>
            </a:r>
            <a:endParaRPr lang="en-US" sz="1700" dirty="0"/>
          </a:p>
        </p:txBody>
      </p:sp>
      <p:sp>
        <p:nvSpPr>
          <p:cNvPr id="14" name="Text 10"/>
          <p:cNvSpPr/>
          <p:nvPr/>
        </p:nvSpPr>
        <p:spPr>
          <a:xfrm>
            <a:off x="8476488" y="4434840"/>
            <a:ext cx="3182112" cy="27432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60 mph carries fatal weight</a:t>
            </a:r>
            <a:endParaRPr lang="en-US" sz="1300" dirty="0"/>
          </a:p>
        </p:txBody>
      </p:sp>
      <p:sp>
        <p:nvSpPr>
          <p:cNvPr id="15" name="Text 11"/>
          <p:cNvSpPr/>
          <p:nvPr/>
        </p:nvSpPr>
        <p:spPr>
          <a:xfrm>
            <a:off x="8476488" y="4727448"/>
            <a:ext cx="3182112" cy="822960"/>
          </a:xfrm>
          <a:prstGeom prst="rect">
            <a:avLst/>
          </a:prstGeom>
          <a:noFill/>
          <a:ln/>
        </p:spPr>
        <p:txBody>
          <a:bodyPr wrap="square" lIns="0" tIns="0" rIns="0" bIns="0" rtlCol="0" anchor="t"/>
          <a:lstStyle/>
          <a:p>
            <a:pPr marL="0" indent="0">
              <a:lnSpc>
                <a:spcPts val="1400"/>
              </a:lnSpc>
              <a:buNone/>
            </a:pPr>
            <a:r>
              <a:rPr lang="en-US" sz="1050" dirty="0">
                <a:solidFill>
                  <a:srgbClr val="5F6B7A"/>
                </a:solidFill>
                <a:latin typeface="Calibri" pitchFamily="34" charset="0"/>
                <a:ea typeface="Calibri" pitchFamily="34" charset="-122"/>
                <a:cs typeface="Calibri" pitchFamily="34" charset="-120"/>
              </a:rPr>
              <a:t>Rural 60 mph roads show a visibly heavier fatal band than their volume warrants — speed converts collisions into fatalities.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04 · FINDINGS — ENVIRONMENT</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Environmental Conditions: The Counterintuitive Finding</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graphicFrame>
        <p:nvGraphicFramePr>
          <p:cNvPr id="5" name="Chart 0"/>
          <p:cNvGraphicFramePr/>
          <p:nvPr/>
        </p:nvGraphicFramePr>
        <p:xfrm>
          <a:off x="502920" y="1371600"/>
          <a:ext cx="5486400" cy="2788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6263640" y="1371600"/>
          <a:ext cx="5394960"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502920" y="4343400"/>
            <a:ext cx="11155680" cy="1737360"/>
          </a:xfrm>
          <a:prstGeom prst="roundRect">
            <a:avLst>
              <a:gd name="adj" fmla="val 4211"/>
            </a:avLst>
          </a:prstGeom>
          <a:solidFill>
            <a:srgbClr val="16233A"/>
          </a:solidFill>
          <a:ln/>
        </p:spPr>
      </p:sp>
      <p:sp>
        <p:nvSpPr>
          <p:cNvPr id="8" name="Text 4"/>
          <p:cNvSpPr/>
          <p:nvPr/>
        </p:nvSpPr>
        <p:spPr>
          <a:xfrm>
            <a:off x="777240" y="4526280"/>
            <a:ext cx="4572000" cy="274320"/>
          </a:xfrm>
          <a:prstGeom prst="rect">
            <a:avLst/>
          </a:prstGeom>
          <a:noFill/>
          <a:ln/>
        </p:spPr>
        <p:txBody>
          <a:bodyPr wrap="square" lIns="0" tIns="0" rIns="0" bIns="0" rtlCol="0" anchor="ctr"/>
          <a:lstStyle/>
          <a:p>
            <a:pPr marL="0" indent="0">
              <a:buNone/>
            </a:pPr>
            <a:r>
              <a:rPr lang="en-US" sz="1300" b="1" dirty="0">
                <a:solidFill>
                  <a:srgbClr val="FFC000"/>
                </a:solidFill>
                <a:latin typeface="Calibri" pitchFamily="34" charset="0"/>
                <a:ea typeface="Calibri" pitchFamily="34" charset="-122"/>
                <a:cs typeface="Calibri" pitchFamily="34" charset="-120"/>
              </a:rPr>
              <a:t>Do not misread the volume</a:t>
            </a:r>
            <a:endParaRPr lang="en-US" sz="1300" dirty="0"/>
          </a:p>
        </p:txBody>
      </p:sp>
      <p:sp>
        <p:nvSpPr>
          <p:cNvPr id="9" name="Text 5"/>
          <p:cNvSpPr/>
          <p:nvPr/>
        </p:nvSpPr>
        <p:spPr>
          <a:xfrm>
            <a:off x="777240" y="4846320"/>
            <a:ext cx="5394960" cy="1005840"/>
          </a:xfrm>
          <a:prstGeom prst="rect">
            <a:avLst/>
          </a:prstGeom>
          <a:noFill/>
          <a:ln/>
        </p:spPr>
        <p:txBody>
          <a:bodyPr wrap="square" lIns="0" tIns="0" rIns="0" bIns="0" rtlCol="0" anchor="t"/>
          <a:lstStyle/>
          <a:p>
            <a:pPr marL="0" indent="0">
              <a:lnSpc>
                <a:spcPts val="1600"/>
              </a:lnSpc>
              <a:buNone/>
            </a:pPr>
            <a:r>
              <a:rPr lang="en-US" sz="1100" dirty="0">
                <a:solidFill>
                  <a:srgbClr val="D7DEE8"/>
                </a:solidFill>
                <a:latin typeface="Calibri" pitchFamily="34" charset="0"/>
                <a:ea typeface="Calibri" pitchFamily="34" charset="-122"/>
                <a:cs typeface="Calibri" pitchFamily="34" charset="-120"/>
              </a:rPr>
              <a:t>73.8% of accidents occur in daylight and roughly 71% on dry roads. This does not make daylight or dry surfaces dangerous — it reflects when and where the overwhelming majority of driving takes place. Exposure, not risk, drives these bars.</a:t>
            </a:r>
            <a:endParaRPr lang="en-US" sz="1100" dirty="0"/>
          </a:p>
        </p:txBody>
      </p:sp>
      <p:sp>
        <p:nvSpPr>
          <p:cNvPr id="10" name="Text 6"/>
          <p:cNvSpPr/>
          <p:nvPr/>
        </p:nvSpPr>
        <p:spPr>
          <a:xfrm>
            <a:off x="6492240" y="4526280"/>
            <a:ext cx="4572000" cy="274320"/>
          </a:xfrm>
          <a:prstGeom prst="rect">
            <a:avLst/>
          </a:prstGeom>
          <a:noFill/>
          <a:ln/>
        </p:spPr>
        <p:txBody>
          <a:bodyPr wrap="square" lIns="0" tIns="0" rIns="0" bIns="0" rtlCol="0" anchor="ctr"/>
          <a:lstStyle/>
          <a:p>
            <a:pPr marL="0" indent="0">
              <a:buNone/>
            </a:pPr>
            <a:r>
              <a:rPr lang="en-US" sz="1300" b="1" dirty="0">
                <a:solidFill>
                  <a:srgbClr val="FF8A8A"/>
                </a:solidFill>
                <a:latin typeface="Calibri" pitchFamily="34" charset="0"/>
                <a:ea typeface="Calibri" pitchFamily="34" charset="-122"/>
                <a:cs typeface="Calibri" pitchFamily="34" charset="-120"/>
              </a:rPr>
              <a:t>The actionable signal</a:t>
            </a:r>
            <a:endParaRPr lang="en-US" sz="1300" dirty="0"/>
          </a:p>
        </p:txBody>
      </p:sp>
      <p:sp>
        <p:nvSpPr>
          <p:cNvPr id="11" name="Text 7"/>
          <p:cNvSpPr/>
          <p:nvPr/>
        </p:nvSpPr>
        <p:spPr>
          <a:xfrm>
            <a:off x="6492240" y="4846320"/>
            <a:ext cx="5166360" cy="1005840"/>
          </a:xfrm>
          <a:prstGeom prst="rect">
            <a:avLst/>
          </a:prstGeom>
          <a:noFill/>
          <a:ln/>
        </p:spPr>
        <p:txBody>
          <a:bodyPr wrap="square" lIns="0" tIns="0" rIns="0" bIns="0" rtlCol="0" anchor="t"/>
          <a:lstStyle/>
          <a:p>
            <a:pPr marL="0" indent="0">
              <a:lnSpc>
                <a:spcPts val="1600"/>
              </a:lnSpc>
              <a:buNone/>
            </a:pPr>
            <a:r>
              <a:rPr lang="en-US" sz="1100" dirty="0">
                <a:solidFill>
                  <a:srgbClr val="D7DEE8"/>
                </a:solidFill>
                <a:latin typeface="Calibri" pitchFamily="34" charset="0"/>
                <a:ea typeface="Calibri" pitchFamily="34" charset="-122"/>
                <a:cs typeface="Calibri" pitchFamily="34" charset="-120"/>
              </a:rPr>
              <a:t>16,528 accidents occurred on roads with no lighting at all, and a further 1,142 where lighting existed but was unlit. Combined, that is a fully addressable engineering problem: roughly 17,700 accidents sitting on infrastructure that could be fixed with capital spend rather than behaviour change.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04 · FINDINGS — GEOGRAPHY</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Geographic Concentration</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Text 3"/>
          <p:cNvSpPr/>
          <p:nvPr/>
        </p:nvSpPr>
        <p:spPr>
          <a:xfrm>
            <a:off x="502920" y="1371600"/>
            <a:ext cx="5029200" cy="274320"/>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Highest accident volume</a:t>
            </a:r>
            <a:endParaRPr lang="en-US" sz="1250" dirty="0"/>
          </a:p>
        </p:txBody>
      </p:sp>
      <p:sp>
        <p:nvSpPr>
          <p:cNvPr id="6" name="Shape 4"/>
          <p:cNvSpPr/>
          <p:nvPr/>
        </p:nvSpPr>
        <p:spPr>
          <a:xfrm>
            <a:off x="502920" y="1773936"/>
            <a:ext cx="201168" cy="201168"/>
          </a:xfrm>
          <a:prstGeom prst="rect">
            <a:avLst/>
          </a:prstGeom>
          <a:solidFill>
            <a:srgbClr val="4472C4"/>
          </a:solidFill>
          <a:ln/>
        </p:spPr>
      </p:sp>
      <p:sp>
        <p:nvSpPr>
          <p:cNvPr id="7" name="Text 5"/>
          <p:cNvSpPr/>
          <p:nvPr/>
        </p:nvSpPr>
        <p:spPr>
          <a:xfrm>
            <a:off x="502920" y="1783080"/>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 name="Text 6"/>
          <p:cNvSpPr/>
          <p:nvPr/>
        </p:nvSpPr>
        <p:spPr>
          <a:xfrm>
            <a:off x="822960" y="1737360"/>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Birmingham</a:t>
            </a:r>
            <a:endParaRPr lang="en-US" sz="1100" dirty="0"/>
          </a:p>
        </p:txBody>
      </p:sp>
      <p:sp>
        <p:nvSpPr>
          <p:cNvPr id="9" name="Shape 7"/>
          <p:cNvSpPr/>
          <p:nvPr/>
        </p:nvSpPr>
        <p:spPr>
          <a:xfrm>
            <a:off x="502920" y="2084832"/>
            <a:ext cx="201168" cy="201168"/>
          </a:xfrm>
          <a:prstGeom prst="rect">
            <a:avLst/>
          </a:prstGeom>
          <a:solidFill>
            <a:srgbClr val="4472C4"/>
          </a:solidFill>
          <a:ln/>
        </p:spPr>
      </p:sp>
      <p:sp>
        <p:nvSpPr>
          <p:cNvPr id="10" name="Text 8"/>
          <p:cNvSpPr/>
          <p:nvPr/>
        </p:nvSpPr>
        <p:spPr>
          <a:xfrm>
            <a:off x="502920" y="2093976"/>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1" name="Text 9"/>
          <p:cNvSpPr/>
          <p:nvPr/>
        </p:nvSpPr>
        <p:spPr>
          <a:xfrm>
            <a:off x="822960" y="2048256"/>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Leeds</a:t>
            </a:r>
            <a:endParaRPr lang="en-US" sz="1100" dirty="0"/>
          </a:p>
        </p:txBody>
      </p:sp>
      <p:sp>
        <p:nvSpPr>
          <p:cNvPr id="12" name="Shape 10"/>
          <p:cNvSpPr/>
          <p:nvPr/>
        </p:nvSpPr>
        <p:spPr>
          <a:xfrm>
            <a:off x="502920" y="2395728"/>
            <a:ext cx="201168" cy="201168"/>
          </a:xfrm>
          <a:prstGeom prst="rect">
            <a:avLst/>
          </a:prstGeom>
          <a:solidFill>
            <a:srgbClr val="4472C4"/>
          </a:solidFill>
          <a:ln/>
        </p:spPr>
      </p:sp>
      <p:sp>
        <p:nvSpPr>
          <p:cNvPr id="13" name="Text 11"/>
          <p:cNvSpPr/>
          <p:nvPr/>
        </p:nvSpPr>
        <p:spPr>
          <a:xfrm>
            <a:off x="502920" y="2404872"/>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4" name="Text 12"/>
          <p:cNvSpPr/>
          <p:nvPr/>
        </p:nvSpPr>
        <p:spPr>
          <a:xfrm>
            <a:off x="822960" y="2359152"/>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Manchester</a:t>
            </a:r>
            <a:endParaRPr lang="en-US" sz="1100" dirty="0"/>
          </a:p>
        </p:txBody>
      </p:sp>
      <p:sp>
        <p:nvSpPr>
          <p:cNvPr id="15" name="Shape 13"/>
          <p:cNvSpPr/>
          <p:nvPr/>
        </p:nvSpPr>
        <p:spPr>
          <a:xfrm>
            <a:off x="502920" y="2706624"/>
            <a:ext cx="201168" cy="201168"/>
          </a:xfrm>
          <a:prstGeom prst="rect">
            <a:avLst/>
          </a:prstGeom>
          <a:solidFill>
            <a:srgbClr val="4472C4"/>
          </a:solidFill>
          <a:ln/>
        </p:spPr>
      </p:sp>
      <p:sp>
        <p:nvSpPr>
          <p:cNvPr id="16" name="Text 14"/>
          <p:cNvSpPr/>
          <p:nvPr/>
        </p:nvSpPr>
        <p:spPr>
          <a:xfrm>
            <a:off x="502920" y="2715768"/>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7" name="Text 15"/>
          <p:cNvSpPr/>
          <p:nvPr/>
        </p:nvSpPr>
        <p:spPr>
          <a:xfrm>
            <a:off x="822960" y="2670048"/>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Bradford</a:t>
            </a:r>
            <a:endParaRPr lang="en-US" sz="1100" dirty="0"/>
          </a:p>
        </p:txBody>
      </p:sp>
      <p:sp>
        <p:nvSpPr>
          <p:cNvPr id="18" name="Shape 16"/>
          <p:cNvSpPr/>
          <p:nvPr/>
        </p:nvSpPr>
        <p:spPr>
          <a:xfrm>
            <a:off x="502920" y="3017520"/>
            <a:ext cx="201168" cy="201168"/>
          </a:xfrm>
          <a:prstGeom prst="rect">
            <a:avLst/>
          </a:prstGeom>
          <a:solidFill>
            <a:srgbClr val="4472C4"/>
          </a:solidFill>
          <a:ln/>
        </p:spPr>
      </p:sp>
      <p:sp>
        <p:nvSpPr>
          <p:cNvPr id="19" name="Text 17"/>
          <p:cNvSpPr/>
          <p:nvPr/>
        </p:nvSpPr>
        <p:spPr>
          <a:xfrm>
            <a:off x="502920" y="3026664"/>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0" name="Text 18"/>
          <p:cNvSpPr/>
          <p:nvPr/>
        </p:nvSpPr>
        <p:spPr>
          <a:xfrm>
            <a:off x="822960" y="2980944"/>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Westminster</a:t>
            </a:r>
            <a:endParaRPr lang="en-US" sz="1100" dirty="0"/>
          </a:p>
        </p:txBody>
      </p:sp>
      <p:sp>
        <p:nvSpPr>
          <p:cNvPr id="21" name="Shape 19"/>
          <p:cNvSpPr/>
          <p:nvPr/>
        </p:nvSpPr>
        <p:spPr>
          <a:xfrm>
            <a:off x="502920" y="3328416"/>
            <a:ext cx="201168" cy="201168"/>
          </a:xfrm>
          <a:prstGeom prst="rect">
            <a:avLst/>
          </a:prstGeom>
          <a:solidFill>
            <a:srgbClr val="4472C4"/>
          </a:solidFill>
          <a:ln/>
        </p:spPr>
      </p:sp>
      <p:sp>
        <p:nvSpPr>
          <p:cNvPr id="22" name="Text 20"/>
          <p:cNvSpPr/>
          <p:nvPr/>
        </p:nvSpPr>
        <p:spPr>
          <a:xfrm>
            <a:off x="502920" y="3337560"/>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3" name="Text 21"/>
          <p:cNvSpPr/>
          <p:nvPr/>
        </p:nvSpPr>
        <p:spPr>
          <a:xfrm>
            <a:off x="822960" y="3291840"/>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Sheffield</a:t>
            </a:r>
            <a:endParaRPr lang="en-US" sz="1100" dirty="0"/>
          </a:p>
        </p:txBody>
      </p:sp>
      <p:sp>
        <p:nvSpPr>
          <p:cNvPr id="24" name="Shape 22"/>
          <p:cNvSpPr/>
          <p:nvPr/>
        </p:nvSpPr>
        <p:spPr>
          <a:xfrm>
            <a:off x="502920" y="3639312"/>
            <a:ext cx="201168" cy="201168"/>
          </a:xfrm>
          <a:prstGeom prst="rect">
            <a:avLst/>
          </a:prstGeom>
          <a:solidFill>
            <a:srgbClr val="4472C4"/>
          </a:solidFill>
          <a:ln/>
        </p:spPr>
      </p:sp>
      <p:sp>
        <p:nvSpPr>
          <p:cNvPr id="25" name="Text 23"/>
          <p:cNvSpPr/>
          <p:nvPr/>
        </p:nvSpPr>
        <p:spPr>
          <a:xfrm>
            <a:off x="502920" y="3648456"/>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26" name="Text 24"/>
          <p:cNvSpPr/>
          <p:nvPr/>
        </p:nvSpPr>
        <p:spPr>
          <a:xfrm>
            <a:off x="822960" y="3602736"/>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Liverpool</a:t>
            </a:r>
            <a:endParaRPr lang="en-US" sz="1100" dirty="0"/>
          </a:p>
        </p:txBody>
      </p:sp>
      <p:sp>
        <p:nvSpPr>
          <p:cNvPr id="27" name="Shape 25"/>
          <p:cNvSpPr/>
          <p:nvPr/>
        </p:nvSpPr>
        <p:spPr>
          <a:xfrm>
            <a:off x="502920" y="3950208"/>
            <a:ext cx="201168" cy="201168"/>
          </a:xfrm>
          <a:prstGeom prst="rect">
            <a:avLst/>
          </a:prstGeom>
          <a:solidFill>
            <a:srgbClr val="4472C4"/>
          </a:solidFill>
          <a:ln/>
        </p:spPr>
      </p:sp>
      <p:sp>
        <p:nvSpPr>
          <p:cNvPr id="28" name="Text 26"/>
          <p:cNvSpPr/>
          <p:nvPr/>
        </p:nvSpPr>
        <p:spPr>
          <a:xfrm>
            <a:off x="502920" y="3959352"/>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29" name="Text 27"/>
          <p:cNvSpPr/>
          <p:nvPr/>
        </p:nvSpPr>
        <p:spPr>
          <a:xfrm>
            <a:off x="822960" y="3913632"/>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Cornwall</a:t>
            </a:r>
            <a:endParaRPr lang="en-US" sz="1100" dirty="0"/>
          </a:p>
        </p:txBody>
      </p:sp>
      <p:sp>
        <p:nvSpPr>
          <p:cNvPr id="30" name="Shape 28"/>
          <p:cNvSpPr/>
          <p:nvPr/>
        </p:nvSpPr>
        <p:spPr>
          <a:xfrm>
            <a:off x="502920" y="4261104"/>
            <a:ext cx="201168" cy="201168"/>
          </a:xfrm>
          <a:prstGeom prst="rect">
            <a:avLst/>
          </a:prstGeom>
          <a:solidFill>
            <a:srgbClr val="4472C4"/>
          </a:solidFill>
          <a:ln/>
        </p:spPr>
      </p:sp>
      <p:sp>
        <p:nvSpPr>
          <p:cNvPr id="31" name="Text 29"/>
          <p:cNvSpPr/>
          <p:nvPr/>
        </p:nvSpPr>
        <p:spPr>
          <a:xfrm>
            <a:off x="502920" y="4270248"/>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9</a:t>
            </a:r>
            <a:endParaRPr lang="en-US" sz="900" dirty="0"/>
          </a:p>
        </p:txBody>
      </p:sp>
      <p:sp>
        <p:nvSpPr>
          <p:cNvPr id="32" name="Text 30"/>
          <p:cNvSpPr/>
          <p:nvPr/>
        </p:nvSpPr>
        <p:spPr>
          <a:xfrm>
            <a:off x="822960" y="4224528"/>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Barnet</a:t>
            </a:r>
            <a:endParaRPr lang="en-US" sz="1100" dirty="0"/>
          </a:p>
        </p:txBody>
      </p:sp>
      <p:sp>
        <p:nvSpPr>
          <p:cNvPr id="33" name="Shape 31"/>
          <p:cNvSpPr/>
          <p:nvPr/>
        </p:nvSpPr>
        <p:spPr>
          <a:xfrm>
            <a:off x="502920" y="4572000"/>
            <a:ext cx="201168" cy="201168"/>
          </a:xfrm>
          <a:prstGeom prst="rect">
            <a:avLst/>
          </a:prstGeom>
          <a:solidFill>
            <a:srgbClr val="4472C4"/>
          </a:solidFill>
          <a:ln/>
        </p:spPr>
      </p:sp>
      <p:sp>
        <p:nvSpPr>
          <p:cNvPr id="34" name="Text 32"/>
          <p:cNvSpPr/>
          <p:nvPr/>
        </p:nvSpPr>
        <p:spPr>
          <a:xfrm>
            <a:off x="502920" y="4581144"/>
            <a:ext cx="201168"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a:t>
            </a:r>
            <a:endParaRPr lang="en-US" sz="900" dirty="0"/>
          </a:p>
        </p:txBody>
      </p:sp>
      <p:sp>
        <p:nvSpPr>
          <p:cNvPr id="35" name="Text 33"/>
          <p:cNvSpPr/>
          <p:nvPr/>
        </p:nvSpPr>
        <p:spPr>
          <a:xfrm>
            <a:off x="822960" y="4535424"/>
            <a:ext cx="3108960" cy="256032"/>
          </a:xfrm>
          <a:prstGeom prst="rect">
            <a:avLst/>
          </a:prstGeom>
          <a:noFill/>
          <a:ln/>
        </p:spPr>
        <p:txBody>
          <a:bodyPr wrap="square" lIns="0" tIns="0" rIns="0" bIns="0" rtlCol="0" anchor="ctr"/>
          <a:lstStyle/>
          <a:p>
            <a:pPr marL="0" indent="0">
              <a:buNone/>
            </a:pPr>
            <a:r>
              <a:rPr lang="en-US" sz="1100" dirty="0">
                <a:solidFill>
                  <a:srgbClr val="16233A"/>
                </a:solidFill>
                <a:latin typeface="Calibri" pitchFamily="34" charset="0"/>
                <a:ea typeface="Calibri" pitchFamily="34" charset="-122"/>
                <a:cs typeface="Calibri" pitchFamily="34" charset="-120"/>
              </a:rPr>
              <a:t>Bristol, City</a:t>
            </a:r>
            <a:endParaRPr lang="en-US" sz="1100" dirty="0"/>
          </a:p>
        </p:txBody>
      </p:sp>
      <p:sp>
        <p:nvSpPr>
          <p:cNvPr id="36" name="Shape 34"/>
          <p:cNvSpPr/>
          <p:nvPr/>
        </p:nvSpPr>
        <p:spPr>
          <a:xfrm>
            <a:off x="4434840" y="1371600"/>
            <a:ext cx="3520440" cy="3520440"/>
          </a:xfrm>
          <a:prstGeom prst="roundRect">
            <a:avLst>
              <a:gd name="adj" fmla="val 2078"/>
            </a:avLst>
          </a:prstGeom>
          <a:solidFill>
            <a:srgbClr val="F4F5F7"/>
          </a:solidFill>
          <a:ln w="6350">
            <a:solidFill>
              <a:srgbClr val="E3E6EB"/>
            </a:solidFill>
            <a:prstDash val="solid"/>
          </a:ln>
        </p:spPr>
      </p:sp>
      <p:sp>
        <p:nvSpPr>
          <p:cNvPr id="37" name="Text 35"/>
          <p:cNvSpPr/>
          <p:nvPr/>
        </p:nvSpPr>
        <p:spPr>
          <a:xfrm>
            <a:off x="4663440" y="1572768"/>
            <a:ext cx="3108960" cy="274320"/>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Metropolitan concentration</a:t>
            </a:r>
            <a:endParaRPr lang="en-US" sz="1250" dirty="0"/>
          </a:p>
        </p:txBody>
      </p:sp>
      <p:sp>
        <p:nvSpPr>
          <p:cNvPr id="38" name="Text 36"/>
          <p:cNvSpPr/>
          <p:nvPr/>
        </p:nvSpPr>
        <p:spPr>
          <a:xfrm>
            <a:off x="4663440" y="1920240"/>
            <a:ext cx="3108960" cy="1371600"/>
          </a:xfrm>
          <a:prstGeom prst="rect">
            <a:avLst/>
          </a:prstGeom>
          <a:noFill/>
          <a:ln/>
        </p:spPr>
        <p:txBody>
          <a:bodyPr wrap="square" lIns="0" tIns="0" rIns="0" bIns="0" rtlCol="0" anchor="t"/>
          <a:lstStyle/>
          <a:p>
            <a:pPr marL="0" indent="0">
              <a:lnSpc>
                <a:spcPts val="1400"/>
              </a:lnSpc>
              <a:buNone/>
            </a:pPr>
            <a:r>
              <a:rPr lang="en-US" sz="1050" dirty="0">
                <a:solidFill>
                  <a:srgbClr val="5F6B7A"/>
                </a:solidFill>
                <a:latin typeface="Calibri" pitchFamily="34" charset="0"/>
                <a:ea typeface="Calibri" pitchFamily="34" charset="-122"/>
                <a:cs typeface="Calibri" pitchFamily="34" charset="-120"/>
              </a:rPr>
              <a:t>Birmingham, Leeds and Manchester head the volume list, consistent with the 64% urban share. Together the top ten districts concentrate a disproportionate share of national accident volume, making them the natural first targets for any intervention programme.</a:t>
            </a:r>
            <a:endParaRPr lang="en-US" sz="1050" dirty="0"/>
          </a:p>
        </p:txBody>
      </p:sp>
      <p:sp>
        <p:nvSpPr>
          <p:cNvPr id="39" name="Text 37"/>
          <p:cNvSpPr/>
          <p:nvPr/>
        </p:nvSpPr>
        <p:spPr>
          <a:xfrm>
            <a:off x="4663440" y="3429000"/>
            <a:ext cx="3108960" cy="256032"/>
          </a:xfrm>
          <a:prstGeom prst="rect">
            <a:avLst/>
          </a:prstGeom>
          <a:noFill/>
          <a:ln/>
        </p:spPr>
        <p:txBody>
          <a:bodyPr wrap="square" lIns="0" tIns="0" rIns="0" bIns="0" rtlCol="0" anchor="ctr"/>
          <a:lstStyle/>
          <a:p>
            <a:pPr marL="0" indent="0">
              <a:buNone/>
            </a:pPr>
            <a:r>
              <a:rPr lang="en-US" sz="1200" b="1" dirty="0">
                <a:solidFill>
                  <a:srgbClr val="16233A"/>
                </a:solidFill>
                <a:latin typeface="Calibri" pitchFamily="34" charset="0"/>
                <a:ea typeface="Calibri" pitchFamily="34" charset="-122"/>
                <a:cs typeface="Calibri" pitchFamily="34" charset="-120"/>
              </a:rPr>
              <a:t>Cornwall is the outlier</a:t>
            </a:r>
            <a:endParaRPr lang="en-US" sz="1200" dirty="0"/>
          </a:p>
        </p:txBody>
      </p:sp>
      <p:sp>
        <p:nvSpPr>
          <p:cNvPr id="40" name="Text 38"/>
          <p:cNvSpPr/>
          <p:nvPr/>
        </p:nvSpPr>
        <p:spPr>
          <a:xfrm>
            <a:off x="4663440" y="3749040"/>
            <a:ext cx="3108960" cy="1005840"/>
          </a:xfrm>
          <a:prstGeom prst="rect">
            <a:avLst/>
          </a:prstGeom>
          <a:noFill/>
          <a:ln/>
        </p:spPr>
        <p:txBody>
          <a:bodyPr wrap="square" lIns="0" tIns="0" rIns="0" bIns="0" rtlCol="0" anchor="t"/>
          <a:lstStyle/>
          <a:p>
            <a:pPr marL="0" indent="0">
              <a:lnSpc>
                <a:spcPts val="1400"/>
              </a:lnSpc>
              <a:buNone/>
            </a:pPr>
            <a:r>
              <a:rPr lang="en-US" sz="1050" dirty="0">
                <a:solidFill>
                  <a:srgbClr val="5F6B7A"/>
                </a:solidFill>
                <a:latin typeface="Calibri" pitchFamily="34" charset="0"/>
                <a:ea typeface="Calibri" pitchFamily="34" charset="-122"/>
                <a:cs typeface="Calibri" pitchFamily="34" charset="-120"/>
              </a:rPr>
              <a:t>A rural authority ranking eighth in a list otherwise composed of metropolitan districts. This points to a distinct rural-tourism risk profile that warrants separate investigation.</a:t>
            </a:r>
            <a:endParaRPr lang="en-US" sz="1050" dirty="0"/>
          </a:p>
        </p:txBody>
      </p:sp>
      <p:sp>
        <p:nvSpPr>
          <p:cNvPr id="41" name="Shape 39"/>
          <p:cNvSpPr/>
          <p:nvPr/>
        </p:nvSpPr>
        <p:spPr>
          <a:xfrm>
            <a:off x="8138160" y="1371600"/>
            <a:ext cx="3520440" cy="3520440"/>
          </a:xfrm>
          <a:prstGeom prst="roundRect">
            <a:avLst>
              <a:gd name="adj" fmla="val 2078"/>
            </a:avLst>
          </a:prstGeom>
          <a:solidFill>
            <a:srgbClr val="FDECEC"/>
          </a:solidFill>
          <a:ln w="11430">
            <a:solidFill>
              <a:srgbClr val="C00000"/>
            </a:solidFill>
            <a:prstDash val="solid"/>
          </a:ln>
        </p:spPr>
      </p:sp>
      <p:sp>
        <p:nvSpPr>
          <p:cNvPr id="42" name="Text 40"/>
          <p:cNvSpPr/>
          <p:nvPr/>
        </p:nvSpPr>
        <p:spPr>
          <a:xfrm>
            <a:off x="8366760" y="1572768"/>
            <a:ext cx="3108960" cy="274320"/>
          </a:xfrm>
          <a:prstGeom prst="rect">
            <a:avLst/>
          </a:prstGeom>
          <a:noFill/>
          <a:ln/>
        </p:spPr>
        <p:txBody>
          <a:bodyPr wrap="square" lIns="0" tIns="0" rIns="0" bIns="0" rtlCol="0" anchor="ctr"/>
          <a:lstStyle/>
          <a:p>
            <a:pPr marL="0" indent="0">
              <a:buNone/>
            </a:pPr>
            <a:r>
              <a:rPr lang="en-US" sz="1250" b="1" dirty="0">
                <a:solidFill>
                  <a:srgbClr val="8B1A1A"/>
                </a:solidFill>
                <a:latin typeface="Calibri" pitchFamily="34" charset="0"/>
                <a:ea typeface="Calibri" pitchFamily="34" charset="-122"/>
                <a:cs typeface="Calibri" pitchFamily="34" charset="-120"/>
              </a:rPr>
              <a:t>Data limitation</a:t>
            </a:r>
            <a:endParaRPr lang="en-US" sz="1250" dirty="0"/>
          </a:p>
        </p:txBody>
      </p:sp>
      <p:sp>
        <p:nvSpPr>
          <p:cNvPr id="43" name="Text 41"/>
          <p:cNvSpPr/>
          <p:nvPr/>
        </p:nvSpPr>
        <p:spPr>
          <a:xfrm>
            <a:off x="8366760" y="1920240"/>
            <a:ext cx="3108960" cy="1051560"/>
          </a:xfrm>
          <a:prstGeom prst="rect">
            <a:avLst/>
          </a:prstGeom>
          <a:noFill/>
          <a:ln/>
        </p:spPr>
        <p:txBody>
          <a:bodyPr wrap="square" lIns="0" tIns="0" rIns="0" bIns="0" rtlCol="0" anchor="t"/>
          <a:lstStyle/>
          <a:p>
            <a:pPr marL="0" indent="0">
              <a:lnSpc>
                <a:spcPts val="1400"/>
              </a:lnSpc>
              <a:buNone/>
            </a:pPr>
            <a:r>
              <a:rPr lang="en-US" sz="1050" dirty="0">
                <a:solidFill>
                  <a:srgbClr val="6E1616"/>
                </a:solidFill>
                <a:latin typeface="Calibri" pitchFamily="34" charset="0"/>
                <a:ea typeface="Calibri" pitchFamily="34" charset="-122"/>
                <a:cs typeface="Calibri" pitchFamily="34" charset="-120"/>
              </a:rPr>
              <a:t>68 districts record accidents in 2021 and exactly zero in 2022. Glasgow falls from 1,509 to 0; Edinburgh from 1,193 to 0. The affected districts are almost entirely Scottish.</a:t>
            </a:r>
            <a:endParaRPr lang="en-US" sz="1050" dirty="0"/>
          </a:p>
        </p:txBody>
      </p:sp>
      <p:sp>
        <p:nvSpPr>
          <p:cNvPr id="44" name="Text 42"/>
          <p:cNvSpPr/>
          <p:nvPr/>
        </p:nvSpPr>
        <p:spPr>
          <a:xfrm>
            <a:off x="8366760" y="3017520"/>
            <a:ext cx="3108960" cy="1280160"/>
          </a:xfrm>
          <a:prstGeom prst="rect">
            <a:avLst/>
          </a:prstGeom>
          <a:noFill/>
          <a:ln/>
        </p:spPr>
        <p:txBody>
          <a:bodyPr wrap="square" lIns="0" tIns="0" rIns="0" bIns="0" rtlCol="0" anchor="t"/>
          <a:lstStyle/>
          <a:p>
            <a:pPr marL="0" indent="0">
              <a:lnSpc>
                <a:spcPts val="1400"/>
              </a:lnSpc>
              <a:buNone/>
            </a:pPr>
            <a:r>
              <a:rPr lang="en-US" sz="1050" dirty="0">
                <a:solidFill>
                  <a:srgbClr val="6E1616"/>
                </a:solidFill>
                <a:latin typeface="Calibri" pitchFamily="34" charset="0"/>
                <a:ea typeface="Calibri" pitchFamily="34" charset="-122"/>
                <a:cs typeface="Calibri" pitchFamily="34" charset="-120"/>
              </a:rPr>
              <a:t>This is a reporting gap, not a road safety achievement. No intervention takes a city of 600,000 to zero accidents in twelve months, and a boundary that follows a national border rather than a policy boundary is characteristic of a data-source issue.</a:t>
            </a:r>
            <a:endParaRPr lang="en-US" sz="1050" dirty="0"/>
          </a:p>
        </p:txBody>
      </p:sp>
      <p:sp>
        <p:nvSpPr>
          <p:cNvPr id="45" name="Text 43"/>
          <p:cNvSpPr/>
          <p:nvPr/>
        </p:nvSpPr>
        <p:spPr>
          <a:xfrm>
            <a:off x="8366760" y="4315968"/>
            <a:ext cx="3108960" cy="457200"/>
          </a:xfrm>
          <a:prstGeom prst="rect">
            <a:avLst/>
          </a:prstGeom>
          <a:noFill/>
          <a:ln/>
        </p:spPr>
        <p:txBody>
          <a:bodyPr wrap="square" lIns="0" tIns="0" rIns="0" bIns="0" rtlCol="0" anchor="t"/>
          <a:lstStyle/>
          <a:p>
            <a:pPr marL="0" indent="0">
              <a:lnSpc>
                <a:spcPts val="1400"/>
              </a:lnSpc>
              <a:buNone/>
            </a:pPr>
            <a:r>
              <a:rPr lang="en-US" sz="1050" b="1" dirty="0">
                <a:solidFill>
                  <a:srgbClr val="8B1A1A"/>
                </a:solidFill>
                <a:latin typeface="Calibri" pitchFamily="34" charset="0"/>
                <a:ea typeface="Calibri" pitchFamily="34" charset="-122"/>
                <a:cs typeface="Calibri" pitchFamily="34" charset="-120"/>
              </a:rPr>
              <a:t>Any accident-reduction ranking is therefore excluded from this analysis pending source validation.</a:t>
            </a:r>
            <a:endParaRPr lang="en-US" sz="1050" dirty="0"/>
          </a:p>
        </p:txBody>
      </p:sp>
      <p:sp>
        <p:nvSpPr>
          <p:cNvPr id="46" name="Shape 44"/>
          <p:cNvSpPr/>
          <p:nvPr/>
        </p:nvSpPr>
        <p:spPr>
          <a:xfrm>
            <a:off x="502920" y="5074920"/>
            <a:ext cx="11155680" cy="1005840"/>
          </a:xfrm>
          <a:prstGeom prst="roundRect">
            <a:avLst>
              <a:gd name="adj" fmla="val 7273"/>
            </a:avLst>
          </a:prstGeom>
          <a:solidFill>
            <a:srgbClr val="FFF6E0"/>
          </a:solidFill>
          <a:ln w="9525">
            <a:solidFill>
              <a:srgbClr val="FFC000"/>
            </a:solidFill>
            <a:prstDash val="solid"/>
          </a:ln>
        </p:spPr>
      </p:sp>
      <p:sp>
        <p:nvSpPr>
          <p:cNvPr id="47" name="Text 45"/>
          <p:cNvSpPr/>
          <p:nvPr/>
        </p:nvSpPr>
        <p:spPr>
          <a:xfrm>
            <a:off x="777240" y="5212080"/>
            <a:ext cx="4114800" cy="237744"/>
          </a:xfrm>
          <a:prstGeom prst="rect">
            <a:avLst/>
          </a:prstGeom>
          <a:noFill/>
          <a:ln/>
        </p:spPr>
        <p:txBody>
          <a:bodyPr wrap="square" lIns="0" tIns="0" rIns="0" bIns="0" rtlCol="0" anchor="ctr"/>
          <a:lstStyle/>
          <a:p>
            <a:pPr marL="0" indent="0">
              <a:buNone/>
            </a:pPr>
            <a:r>
              <a:rPr lang="en-US" sz="1100" b="1" dirty="0">
                <a:solidFill>
                  <a:srgbClr val="8A6100"/>
                </a:solidFill>
                <a:latin typeface="Calibri" pitchFamily="34" charset="0"/>
                <a:ea typeface="Calibri" pitchFamily="34" charset="-122"/>
                <a:cs typeface="Calibri" pitchFamily="34" charset="-120"/>
              </a:rPr>
              <a:t>What this means for the year-on-year figure</a:t>
            </a:r>
            <a:endParaRPr lang="en-US" sz="1100" dirty="0"/>
          </a:p>
        </p:txBody>
      </p:sp>
      <p:sp>
        <p:nvSpPr>
          <p:cNvPr id="48" name="Text 46"/>
          <p:cNvSpPr/>
          <p:nvPr/>
        </p:nvSpPr>
        <p:spPr>
          <a:xfrm>
            <a:off x="777240" y="5468112"/>
            <a:ext cx="10607040" cy="530352"/>
          </a:xfrm>
          <a:prstGeom prst="rect">
            <a:avLst/>
          </a:prstGeom>
          <a:noFill/>
          <a:ln/>
        </p:spPr>
        <p:txBody>
          <a:bodyPr wrap="square" lIns="0" tIns="0" rIns="0" bIns="0" rtlCol="0" anchor="t"/>
          <a:lstStyle/>
          <a:p>
            <a:pPr marL="0" indent="0">
              <a:lnSpc>
                <a:spcPts val="1350"/>
              </a:lnSpc>
              <a:buNone/>
            </a:pPr>
            <a:r>
              <a:rPr lang="en-US" sz="1050" dirty="0">
                <a:solidFill>
                  <a:srgbClr val="5A4200"/>
                </a:solidFill>
                <a:latin typeface="Calibri" pitchFamily="34" charset="0"/>
                <a:ea typeface="Calibri" pitchFamily="34" charset="-122"/>
                <a:cs typeface="Calibri" pitchFamily="34" charset="-120"/>
              </a:rPr>
              <a:t>The headline 11.7% fall between 2021 and 2022 is substantially explained by the missing Scottish records rather than a genuine national decline. Until the source is validated, year-on-year change should be reported for England and Wales only, or suppressed entirely.</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05 · DELIVERABLE</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The Interactive Excel Dashboard</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pic>
        <p:nvPicPr>
          <p:cNvPr id="5" name="Image 0" descr="dashboard.png"/>
          <p:cNvPicPr>
            <a:picLocks noChangeAspect="1"/>
          </p:cNvPicPr>
          <p:nvPr/>
        </p:nvPicPr>
        <p:blipFill>
          <a:blip r:embed="rId3"/>
          <a:stretch>
            <a:fillRect/>
          </a:stretch>
        </p:blipFill>
        <p:spPr>
          <a:xfrm>
            <a:off x="502920" y="1298448"/>
            <a:ext cx="11155680" cy="517550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05 · INTERACTIVITY</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The Dashboard in Action: One Slicer Click</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Text 3"/>
          <p:cNvSpPr/>
          <p:nvPr/>
        </p:nvSpPr>
        <p:spPr>
          <a:xfrm>
            <a:off x="502920" y="1298448"/>
            <a:ext cx="5486400" cy="237744"/>
          </a:xfrm>
          <a:prstGeom prst="rect">
            <a:avLst/>
          </a:prstGeom>
          <a:noFill/>
          <a:ln/>
        </p:spPr>
        <p:txBody>
          <a:bodyPr wrap="square" lIns="0" tIns="0" rIns="0" bIns="0" rtlCol="0" anchor="ctr"/>
          <a:lstStyle/>
          <a:p>
            <a:pPr marL="0" indent="0">
              <a:buNone/>
            </a:pPr>
            <a:r>
              <a:rPr lang="en-US" sz="1100" b="1" dirty="0">
                <a:solidFill>
                  <a:srgbClr val="5F6B7A"/>
                </a:solidFill>
                <a:latin typeface="Calibri" pitchFamily="34" charset="0"/>
                <a:ea typeface="Calibri" pitchFamily="34" charset="-122"/>
                <a:cs typeface="Calibri" pitchFamily="34" charset="-120"/>
              </a:rPr>
              <a:t>All areas  ·  307,973 accidents</a:t>
            </a:r>
            <a:endParaRPr lang="en-US" sz="1100" dirty="0"/>
          </a:p>
        </p:txBody>
      </p:sp>
      <p:pic>
        <p:nvPicPr>
          <p:cNvPr id="6" name="Image 0" descr="dash_all.png"/>
          <p:cNvPicPr>
            <a:picLocks noChangeAspect="1"/>
          </p:cNvPicPr>
          <p:nvPr/>
        </p:nvPicPr>
        <p:blipFill>
          <a:blip r:embed="rId3"/>
          <a:stretch>
            <a:fillRect/>
          </a:stretch>
        </p:blipFill>
        <p:spPr>
          <a:xfrm>
            <a:off x="502920" y="1572768"/>
            <a:ext cx="5486400" cy="2542032"/>
          </a:xfrm>
          <a:prstGeom prst="rect">
            <a:avLst/>
          </a:prstGeom>
        </p:spPr>
      </p:pic>
      <p:sp>
        <p:nvSpPr>
          <p:cNvPr id="7" name="Text 4"/>
          <p:cNvSpPr/>
          <p:nvPr/>
        </p:nvSpPr>
        <p:spPr>
          <a:xfrm>
            <a:off x="6172200" y="1298448"/>
            <a:ext cx="5486400" cy="237744"/>
          </a:xfrm>
          <a:prstGeom prst="rect">
            <a:avLst/>
          </a:prstGeom>
          <a:noFill/>
          <a:ln/>
        </p:spPr>
        <p:txBody>
          <a:bodyPr wrap="square" lIns="0" tIns="0" rIns="0" bIns="0" rtlCol="0" anchor="ctr"/>
          <a:lstStyle/>
          <a:p>
            <a:pPr marL="0" indent="0">
              <a:buNone/>
            </a:pPr>
            <a:r>
              <a:rPr lang="en-US" sz="1100" b="1" dirty="0">
                <a:solidFill>
                  <a:srgbClr val="ED7D31"/>
                </a:solidFill>
                <a:latin typeface="Calibri" pitchFamily="34" charset="0"/>
                <a:ea typeface="Calibri" pitchFamily="34" charset="-122"/>
                <a:cs typeface="Calibri" pitchFamily="34" charset="-120"/>
              </a:rPr>
              <a:t>Rural only  ·  109,441 accidents</a:t>
            </a:r>
            <a:endParaRPr lang="en-US" sz="1100" dirty="0"/>
          </a:p>
        </p:txBody>
      </p:sp>
      <p:pic>
        <p:nvPicPr>
          <p:cNvPr id="8" name="Image 1" descr="dash_rural.png"/>
          <p:cNvPicPr>
            <a:picLocks noChangeAspect="1"/>
          </p:cNvPicPr>
          <p:nvPr/>
        </p:nvPicPr>
        <p:blipFill>
          <a:blip r:embed="rId4"/>
          <a:stretch>
            <a:fillRect/>
          </a:stretch>
        </p:blipFill>
        <p:spPr>
          <a:xfrm>
            <a:off x="6172200" y="1572768"/>
            <a:ext cx="5486400" cy="2542032"/>
          </a:xfrm>
          <a:prstGeom prst="rect">
            <a:avLst/>
          </a:prstGeom>
        </p:spPr>
      </p:pic>
      <p:sp>
        <p:nvSpPr>
          <p:cNvPr id="9" name="Shape 5"/>
          <p:cNvSpPr/>
          <p:nvPr/>
        </p:nvSpPr>
        <p:spPr>
          <a:xfrm>
            <a:off x="502920" y="4279392"/>
            <a:ext cx="2651760" cy="1481328"/>
          </a:xfrm>
          <a:prstGeom prst="roundRect">
            <a:avLst>
              <a:gd name="adj" fmla="val 4938"/>
            </a:avLst>
          </a:prstGeom>
          <a:solidFill>
            <a:srgbClr val="F4F5F7"/>
          </a:solidFill>
          <a:ln w="6350">
            <a:solidFill>
              <a:srgbClr val="E3E6EB"/>
            </a:solidFill>
            <a:prstDash val="solid"/>
          </a:ln>
        </p:spPr>
      </p:sp>
      <p:sp>
        <p:nvSpPr>
          <p:cNvPr id="10" name="Text 6"/>
          <p:cNvSpPr/>
          <p:nvPr/>
        </p:nvSpPr>
        <p:spPr>
          <a:xfrm>
            <a:off x="685800" y="4407408"/>
            <a:ext cx="2286000" cy="457200"/>
          </a:xfrm>
          <a:prstGeom prst="rect">
            <a:avLst/>
          </a:prstGeom>
          <a:noFill/>
          <a:ln/>
        </p:spPr>
        <p:txBody>
          <a:bodyPr wrap="square" lIns="0" tIns="0" rIns="0" bIns="0" rtlCol="0" anchor="t"/>
          <a:lstStyle/>
          <a:p>
            <a:pPr marL="0" indent="0">
              <a:buNone/>
            </a:pPr>
            <a:r>
              <a:rPr lang="en-US" sz="2400" b="1" dirty="0">
                <a:solidFill>
                  <a:srgbClr val="C00000"/>
                </a:solidFill>
                <a:latin typeface="Cambria" pitchFamily="34" charset="0"/>
                <a:ea typeface="Cambria" pitchFamily="34" charset="-122"/>
                <a:cs typeface="Cambria" pitchFamily="34" charset="-120"/>
              </a:rPr>
              <a:t>2.1%</a:t>
            </a:r>
            <a:endParaRPr lang="en-US" sz="2400" dirty="0"/>
          </a:p>
        </p:txBody>
      </p:sp>
      <p:sp>
        <p:nvSpPr>
          <p:cNvPr id="11" name="Text 7"/>
          <p:cNvSpPr/>
          <p:nvPr/>
        </p:nvSpPr>
        <p:spPr>
          <a:xfrm>
            <a:off x="685800" y="4864608"/>
            <a:ext cx="2286000" cy="237744"/>
          </a:xfrm>
          <a:prstGeom prst="rect">
            <a:avLst/>
          </a:prstGeom>
          <a:noFill/>
          <a:ln/>
        </p:spPr>
        <p:txBody>
          <a:bodyPr wrap="square" lIns="0" tIns="0" rIns="0" bIns="0" rtlCol="0" anchor="t"/>
          <a:lstStyle/>
          <a:p>
            <a:pPr marL="0" indent="0">
              <a:buNone/>
            </a:pPr>
            <a:r>
              <a:rPr lang="en-US" sz="1100" b="1" dirty="0">
                <a:solidFill>
                  <a:srgbClr val="16233A"/>
                </a:solidFill>
                <a:latin typeface="Calibri" pitchFamily="34" charset="0"/>
                <a:ea typeface="Calibri" pitchFamily="34" charset="-122"/>
                <a:cs typeface="Calibri" pitchFamily="34" charset="-120"/>
              </a:rPr>
              <a:t>Fatal accident rate</a:t>
            </a:r>
            <a:endParaRPr lang="en-US" sz="1100" dirty="0"/>
          </a:p>
        </p:txBody>
      </p:sp>
      <p:sp>
        <p:nvSpPr>
          <p:cNvPr id="12" name="Text 8"/>
          <p:cNvSpPr/>
          <p:nvPr/>
        </p:nvSpPr>
        <p:spPr>
          <a:xfrm>
            <a:off x="685800" y="5120640"/>
            <a:ext cx="2331720" cy="566928"/>
          </a:xfrm>
          <a:prstGeom prst="rect">
            <a:avLst/>
          </a:prstGeom>
          <a:noFill/>
          <a:ln/>
        </p:spPr>
        <p:txBody>
          <a:bodyPr wrap="square" lIns="0" tIns="0" rIns="0" bIns="0" rtlCol="0" anchor="t"/>
          <a:lstStyle/>
          <a:p>
            <a:pPr marL="0" indent="0">
              <a:lnSpc>
                <a:spcPts val="1150"/>
              </a:lnSpc>
              <a:buNone/>
            </a:pPr>
            <a:r>
              <a:rPr lang="en-US" sz="900" dirty="0">
                <a:solidFill>
                  <a:srgbClr val="5F6B7A"/>
                </a:solidFill>
                <a:latin typeface="Calibri" pitchFamily="34" charset="0"/>
                <a:ea typeface="Calibri" pitchFamily="34" charset="-122"/>
                <a:cs typeface="Calibri" pitchFamily="34" charset="-120"/>
              </a:rPr>
              <a:t>Up from 1.3% nationally and 0.8% in urban areas — rural accidents are 2.7 times more likely to be fatal.</a:t>
            </a:r>
            <a:endParaRPr lang="en-US" sz="900" dirty="0"/>
          </a:p>
        </p:txBody>
      </p:sp>
      <p:sp>
        <p:nvSpPr>
          <p:cNvPr id="13" name="Shape 9"/>
          <p:cNvSpPr/>
          <p:nvPr/>
        </p:nvSpPr>
        <p:spPr>
          <a:xfrm>
            <a:off x="3355848" y="4279392"/>
            <a:ext cx="2651760" cy="1481328"/>
          </a:xfrm>
          <a:prstGeom prst="roundRect">
            <a:avLst>
              <a:gd name="adj" fmla="val 4938"/>
            </a:avLst>
          </a:prstGeom>
          <a:solidFill>
            <a:srgbClr val="F4F5F7"/>
          </a:solidFill>
          <a:ln w="6350">
            <a:solidFill>
              <a:srgbClr val="E3E6EB"/>
            </a:solidFill>
            <a:prstDash val="solid"/>
          </a:ln>
        </p:spPr>
      </p:sp>
      <p:sp>
        <p:nvSpPr>
          <p:cNvPr id="14" name="Text 10"/>
          <p:cNvSpPr/>
          <p:nvPr/>
        </p:nvSpPr>
        <p:spPr>
          <a:xfrm>
            <a:off x="3538728" y="4407408"/>
            <a:ext cx="2286000" cy="457200"/>
          </a:xfrm>
          <a:prstGeom prst="rect">
            <a:avLst/>
          </a:prstGeom>
          <a:noFill/>
          <a:ln/>
        </p:spPr>
        <p:txBody>
          <a:bodyPr wrap="square" lIns="0" tIns="0" rIns="0" bIns="0" rtlCol="0" anchor="t"/>
          <a:lstStyle/>
          <a:p>
            <a:pPr marL="0" indent="0">
              <a:buNone/>
            </a:pPr>
            <a:r>
              <a:rPr lang="en-US" sz="2400" b="1" dirty="0">
                <a:solidFill>
                  <a:srgbClr val="C00000"/>
                </a:solidFill>
                <a:latin typeface="Cambria" pitchFamily="34" charset="0"/>
                <a:ea typeface="Cambria" pitchFamily="34" charset="-122"/>
                <a:cs typeface="Cambria" pitchFamily="34" charset="-120"/>
              </a:rPr>
              <a:t>59.4%</a:t>
            </a:r>
            <a:endParaRPr lang="en-US" sz="2400" dirty="0"/>
          </a:p>
        </p:txBody>
      </p:sp>
      <p:sp>
        <p:nvSpPr>
          <p:cNvPr id="15" name="Text 11"/>
          <p:cNvSpPr/>
          <p:nvPr/>
        </p:nvSpPr>
        <p:spPr>
          <a:xfrm>
            <a:off x="3538728" y="4864608"/>
            <a:ext cx="2286000" cy="237744"/>
          </a:xfrm>
          <a:prstGeom prst="rect">
            <a:avLst/>
          </a:prstGeom>
          <a:noFill/>
          <a:ln/>
        </p:spPr>
        <p:txBody>
          <a:bodyPr wrap="square" lIns="0" tIns="0" rIns="0" bIns="0" rtlCol="0" anchor="t"/>
          <a:lstStyle/>
          <a:p>
            <a:pPr marL="0" indent="0">
              <a:buNone/>
            </a:pPr>
            <a:r>
              <a:rPr lang="en-US" sz="1100" b="1" dirty="0">
                <a:solidFill>
                  <a:srgbClr val="16233A"/>
                </a:solidFill>
                <a:latin typeface="Calibri" pitchFamily="34" charset="0"/>
                <a:ea typeface="Calibri" pitchFamily="34" charset="-122"/>
                <a:cs typeface="Calibri" pitchFamily="34" charset="-120"/>
              </a:rPr>
              <a:t>Of all fatal accidents</a:t>
            </a:r>
            <a:endParaRPr lang="en-US" sz="1100" dirty="0"/>
          </a:p>
        </p:txBody>
      </p:sp>
      <p:sp>
        <p:nvSpPr>
          <p:cNvPr id="16" name="Text 12"/>
          <p:cNvSpPr/>
          <p:nvPr/>
        </p:nvSpPr>
        <p:spPr>
          <a:xfrm>
            <a:off x="3538728" y="5120640"/>
            <a:ext cx="2331720" cy="566928"/>
          </a:xfrm>
          <a:prstGeom prst="rect">
            <a:avLst/>
          </a:prstGeom>
          <a:noFill/>
          <a:ln/>
        </p:spPr>
        <p:txBody>
          <a:bodyPr wrap="square" lIns="0" tIns="0" rIns="0" bIns="0" rtlCol="0" anchor="t"/>
          <a:lstStyle/>
          <a:p>
            <a:pPr marL="0" indent="0">
              <a:lnSpc>
                <a:spcPts val="1150"/>
              </a:lnSpc>
              <a:buNone/>
            </a:pPr>
            <a:r>
              <a:rPr lang="en-US" sz="900" dirty="0">
                <a:solidFill>
                  <a:srgbClr val="5F6B7A"/>
                </a:solidFill>
                <a:latin typeface="Calibri" pitchFamily="34" charset="0"/>
                <a:ea typeface="Calibri" pitchFamily="34" charset="-122"/>
                <a:cs typeface="Calibri" pitchFamily="34" charset="-120"/>
              </a:rPr>
              <a:t>Rural carries just 35.5% of accident volume but the majority of deaths.</a:t>
            </a:r>
            <a:endParaRPr lang="en-US" sz="900" dirty="0"/>
          </a:p>
        </p:txBody>
      </p:sp>
      <p:sp>
        <p:nvSpPr>
          <p:cNvPr id="17" name="Shape 13"/>
          <p:cNvSpPr/>
          <p:nvPr/>
        </p:nvSpPr>
        <p:spPr>
          <a:xfrm>
            <a:off x="6208776" y="4279392"/>
            <a:ext cx="2651760" cy="1481328"/>
          </a:xfrm>
          <a:prstGeom prst="roundRect">
            <a:avLst>
              <a:gd name="adj" fmla="val 4938"/>
            </a:avLst>
          </a:prstGeom>
          <a:solidFill>
            <a:srgbClr val="F4F5F7"/>
          </a:solidFill>
          <a:ln w="6350">
            <a:solidFill>
              <a:srgbClr val="E3E6EB"/>
            </a:solidFill>
            <a:prstDash val="solid"/>
          </a:ln>
        </p:spPr>
      </p:sp>
      <p:sp>
        <p:nvSpPr>
          <p:cNvPr id="18" name="Text 14"/>
          <p:cNvSpPr/>
          <p:nvPr/>
        </p:nvSpPr>
        <p:spPr>
          <a:xfrm>
            <a:off x="6391656" y="4407408"/>
            <a:ext cx="2286000" cy="457200"/>
          </a:xfrm>
          <a:prstGeom prst="rect">
            <a:avLst/>
          </a:prstGeom>
          <a:noFill/>
          <a:ln/>
        </p:spPr>
        <p:txBody>
          <a:bodyPr wrap="square" lIns="0" tIns="0" rIns="0" bIns="0" rtlCol="0" anchor="t"/>
          <a:lstStyle/>
          <a:p>
            <a:pPr marL="0" indent="0">
              <a:buNone/>
            </a:pPr>
            <a:r>
              <a:rPr lang="en-US" sz="2400" b="1" dirty="0">
                <a:solidFill>
                  <a:srgbClr val="FFC000"/>
                </a:solidFill>
                <a:latin typeface="Cambria" pitchFamily="34" charset="0"/>
                <a:ea typeface="Cambria" pitchFamily="34" charset="-122"/>
                <a:cs typeface="Cambria" pitchFamily="34" charset="-120"/>
              </a:rPr>
              <a:t>95%</a:t>
            </a:r>
            <a:endParaRPr lang="en-US" sz="2400" dirty="0"/>
          </a:p>
        </p:txBody>
      </p:sp>
      <p:sp>
        <p:nvSpPr>
          <p:cNvPr id="19" name="Text 15"/>
          <p:cNvSpPr/>
          <p:nvPr/>
        </p:nvSpPr>
        <p:spPr>
          <a:xfrm>
            <a:off x="6391656" y="4864608"/>
            <a:ext cx="2286000" cy="237744"/>
          </a:xfrm>
          <a:prstGeom prst="rect">
            <a:avLst/>
          </a:prstGeom>
          <a:noFill/>
          <a:ln/>
        </p:spPr>
        <p:txBody>
          <a:bodyPr wrap="square" lIns="0" tIns="0" rIns="0" bIns="0" rtlCol="0" anchor="t"/>
          <a:lstStyle/>
          <a:p>
            <a:pPr marL="0" indent="0">
              <a:buNone/>
            </a:pPr>
            <a:r>
              <a:rPr lang="en-US" sz="1100" b="1" dirty="0">
                <a:solidFill>
                  <a:srgbClr val="16233A"/>
                </a:solidFill>
                <a:latin typeface="Calibri" pitchFamily="34" charset="0"/>
                <a:ea typeface="Calibri" pitchFamily="34" charset="-122"/>
                <a:cs typeface="Calibri" pitchFamily="34" charset="-120"/>
              </a:rPr>
              <a:t>Of unlit-road accidents</a:t>
            </a:r>
            <a:endParaRPr lang="en-US" sz="1100" dirty="0"/>
          </a:p>
        </p:txBody>
      </p:sp>
      <p:sp>
        <p:nvSpPr>
          <p:cNvPr id="20" name="Text 16"/>
          <p:cNvSpPr/>
          <p:nvPr/>
        </p:nvSpPr>
        <p:spPr>
          <a:xfrm>
            <a:off x="6391656" y="5120640"/>
            <a:ext cx="2331720" cy="566928"/>
          </a:xfrm>
          <a:prstGeom prst="rect">
            <a:avLst/>
          </a:prstGeom>
          <a:noFill/>
          <a:ln/>
        </p:spPr>
        <p:txBody>
          <a:bodyPr wrap="square" lIns="0" tIns="0" rIns="0" bIns="0" rtlCol="0" anchor="t"/>
          <a:lstStyle/>
          <a:p>
            <a:pPr marL="0" indent="0">
              <a:lnSpc>
                <a:spcPts val="1150"/>
              </a:lnSpc>
              <a:buNone/>
            </a:pPr>
            <a:r>
              <a:rPr lang="en-US" sz="900" dirty="0">
                <a:solidFill>
                  <a:srgbClr val="5F6B7A"/>
                </a:solidFill>
                <a:latin typeface="Calibri" pitchFamily="34" charset="0"/>
                <a:ea typeface="Calibri" pitchFamily="34" charset="-122"/>
                <a:cs typeface="Calibri" pitchFamily="34" charset="-120"/>
              </a:rPr>
              <a:t>15,709 of the 16,528 national no-lighting accidents occur in rural areas.</a:t>
            </a:r>
            <a:endParaRPr lang="en-US" sz="900" dirty="0"/>
          </a:p>
        </p:txBody>
      </p:sp>
      <p:sp>
        <p:nvSpPr>
          <p:cNvPr id="21" name="Shape 17"/>
          <p:cNvSpPr/>
          <p:nvPr/>
        </p:nvSpPr>
        <p:spPr>
          <a:xfrm>
            <a:off x="9061704" y="4279392"/>
            <a:ext cx="2651760" cy="1481328"/>
          </a:xfrm>
          <a:prstGeom prst="roundRect">
            <a:avLst>
              <a:gd name="adj" fmla="val 4938"/>
            </a:avLst>
          </a:prstGeom>
          <a:solidFill>
            <a:srgbClr val="F4F5F7"/>
          </a:solidFill>
          <a:ln w="6350">
            <a:solidFill>
              <a:srgbClr val="E3E6EB"/>
            </a:solidFill>
            <a:prstDash val="solid"/>
          </a:ln>
        </p:spPr>
      </p:sp>
      <p:sp>
        <p:nvSpPr>
          <p:cNvPr id="22" name="Text 18"/>
          <p:cNvSpPr/>
          <p:nvPr/>
        </p:nvSpPr>
        <p:spPr>
          <a:xfrm>
            <a:off x="9244584" y="4407408"/>
            <a:ext cx="2286000" cy="457200"/>
          </a:xfrm>
          <a:prstGeom prst="rect">
            <a:avLst/>
          </a:prstGeom>
          <a:noFill/>
          <a:ln/>
        </p:spPr>
        <p:txBody>
          <a:bodyPr wrap="square" lIns="0" tIns="0" rIns="0" bIns="0" rtlCol="0" anchor="t"/>
          <a:lstStyle/>
          <a:p>
            <a:pPr marL="0" indent="0">
              <a:buNone/>
            </a:pPr>
            <a:r>
              <a:rPr lang="en-US" sz="2400" b="1" dirty="0">
                <a:solidFill>
                  <a:srgbClr val="ED7D31"/>
                </a:solidFill>
                <a:latin typeface="Cambria" pitchFamily="34" charset="0"/>
                <a:ea typeface="Cambria" pitchFamily="34" charset="-122"/>
                <a:cs typeface="Cambria" pitchFamily="34" charset="-120"/>
              </a:rPr>
              <a:t>1.48</a:t>
            </a:r>
            <a:endParaRPr lang="en-US" sz="2400" dirty="0"/>
          </a:p>
        </p:txBody>
      </p:sp>
      <p:sp>
        <p:nvSpPr>
          <p:cNvPr id="23" name="Text 19"/>
          <p:cNvSpPr/>
          <p:nvPr/>
        </p:nvSpPr>
        <p:spPr>
          <a:xfrm>
            <a:off x="9244584" y="4864608"/>
            <a:ext cx="2286000" cy="237744"/>
          </a:xfrm>
          <a:prstGeom prst="rect">
            <a:avLst/>
          </a:prstGeom>
          <a:noFill/>
          <a:ln/>
        </p:spPr>
        <p:txBody>
          <a:bodyPr wrap="square" lIns="0" tIns="0" rIns="0" bIns="0" rtlCol="0" anchor="t"/>
          <a:lstStyle/>
          <a:p>
            <a:pPr marL="0" indent="0">
              <a:buNone/>
            </a:pPr>
            <a:r>
              <a:rPr lang="en-US" sz="1100" b="1" dirty="0">
                <a:solidFill>
                  <a:srgbClr val="16233A"/>
                </a:solidFill>
                <a:latin typeface="Calibri" pitchFamily="34" charset="0"/>
                <a:ea typeface="Calibri" pitchFamily="34" charset="-122"/>
                <a:cs typeface="Calibri" pitchFamily="34" charset="-120"/>
              </a:rPr>
              <a:t>Casualties per accident</a:t>
            </a:r>
            <a:endParaRPr lang="en-US" sz="1100" dirty="0"/>
          </a:p>
        </p:txBody>
      </p:sp>
      <p:sp>
        <p:nvSpPr>
          <p:cNvPr id="24" name="Text 20"/>
          <p:cNvSpPr/>
          <p:nvPr/>
        </p:nvSpPr>
        <p:spPr>
          <a:xfrm>
            <a:off x="9244584" y="5120640"/>
            <a:ext cx="2331720" cy="566928"/>
          </a:xfrm>
          <a:prstGeom prst="rect">
            <a:avLst/>
          </a:prstGeom>
          <a:noFill/>
          <a:ln/>
        </p:spPr>
        <p:txBody>
          <a:bodyPr wrap="square" lIns="0" tIns="0" rIns="0" bIns="0" rtlCol="0" anchor="t"/>
          <a:lstStyle/>
          <a:p>
            <a:pPr marL="0" indent="0">
              <a:lnSpc>
                <a:spcPts val="1150"/>
              </a:lnSpc>
              <a:buNone/>
            </a:pPr>
            <a:r>
              <a:rPr lang="en-US" sz="900" dirty="0">
                <a:solidFill>
                  <a:srgbClr val="5F6B7A"/>
                </a:solidFill>
                <a:latin typeface="Calibri" pitchFamily="34" charset="0"/>
                <a:ea typeface="Calibri" pitchFamily="34" charset="-122"/>
                <a:cs typeface="Calibri" pitchFamily="34" charset="-120"/>
              </a:rPr>
              <a:t>Against 1.29 in urban areas — rural collisions harm more people per event.</a:t>
            </a:r>
            <a:endParaRPr lang="en-US" sz="900" dirty="0"/>
          </a:p>
        </p:txBody>
      </p:sp>
      <p:sp>
        <p:nvSpPr>
          <p:cNvPr id="25" name="Shape 21"/>
          <p:cNvSpPr/>
          <p:nvPr/>
        </p:nvSpPr>
        <p:spPr>
          <a:xfrm>
            <a:off x="502920" y="5897880"/>
            <a:ext cx="11155680" cy="713232"/>
          </a:xfrm>
          <a:prstGeom prst="roundRect">
            <a:avLst>
              <a:gd name="adj" fmla="val 10256"/>
            </a:avLst>
          </a:prstGeom>
          <a:solidFill>
            <a:srgbClr val="16233A"/>
          </a:solidFill>
          <a:ln/>
        </p:spPr>
      </p:sp>
      <p:sp>
        <p:nvSpPr>
          <p:cNvPr id="26" name="Text 22"/>
          <p:cNvSpPr/>
          <p:nvPr/>
        </p:nvSpPr>
        <p:spPr>
          <a:xfrm>
            <a:off x="777240" y="6035040"/>
            <a:ext cx="10607040" cy="457200"/>
          </a:xfrm>
          <a:prstGeom prst="rect">
            <a:avLst/>
          </a:prstGeom>
          <a:noFill/>
          <a:ln/>
        </p:spPr>
        <p:txBody>
          <a:bodyPr wrap="square" lIns="0" tIns="0" rIns="0" bIns="0" rtlCol="0" anchor="t"/>
          <a:lstStyle/>
          <a:p>
            <a:pPr marL="0" indent="0">
              <a:lnSpc>
                <a:spcPts val="1500"/>
              </a:lnSpc>
              <a:buNone/>
            </a:pPr>
            <a:r>
              <a:rPr lang="en-US" sz="1100" dirty="0">
                <a:solidFill>
                  <a:srgbClr val="D7DEE8"/>
                </a:solidFill>
                <a:latin typeface="Calibri" pitchFamily="34" charset="0"/>
                <a:ea typeface="Calibri" pitchFamily="34" charset="-122"/>
                <a:cs typeface="Calibri" pitchFamily="34" charset="-120"/>
              </a:rPr>
              <a:t>Volume tells you where accidents happen. Severity tells you where people die — and they are not the same places. Cornwall rises from eighth to first on the rural view, confirming it as a genuine rural risk profile rather than a ranking anomaly.</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05 · INTERACTIVITY — READING THE SHIFT</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Why Rural Roads Kill More</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graphicFrame>
        <p:nvGraphicFramePr>
          <p:cNvPr id="5" name="Chart 0"/>
          <p:cNvGraphicFramePr/>
          <p:nvPr/>
        </p:nvGraphicFramePr>
        <p:xfrm>
          <a:off x="502920" y="1371600"/>
          <a:ext cx="512064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897880" y="1371600"/>
            <a:ext cx="5760720" cy="274320"/>
          </a:xfrm>
          <a:prstGeom prst="rect">
            <a:avLst/>
          </a:prstGeom>
          <a:noFill/>
          <a:ln/>
        </p:spPr>
        <p:txBody>
          <a:bodyPr wrap="square" lIns="0" tIns="0" rIns="0" bIns="0" rtlCol="0" anchor="ctr"/>
          <a:lstStyle/>
          <a:p>
            <a:pPr marL="0" indent="0">
              <a:buNone/>
            </a:pPr>
            <a:r>
              <a:rPr lang="en-US" sz="1300" b="1" dirty="0">
                <a:solidFill>
                  <a:srgbClr val="ED7D31"/>
                </a:solidFill>
                <a:latin typeface="Calibri" pitchFamily="34" charset="0"/>
                <a:ea typeface="Calibri" pitchFamily="34" charset="-122"/>
                <a:cs typeface="Calibri" pitchFamily="34" charset="-120"/>
              </a:rPr>
              <a:t>What the speed limit chart does and does not tell us</a:t>
            </a:r>
            <a:endParaRPr lang="en-US" sz="1300" dirty="0"/>
          </a:p>
        </p:txBody>
      </p:sp>
      <p:sp>
        <p:nvSpPr>
          <p:cNvPr id="7" name="Text 4"/>
          <p:cNvSpPr/>
          <p:nvPr/>
        </p:nvSpPr>
        <p:spPr>
          <a:xfrm>
            <a:off x="5897880" y="1737360"/>
            <a:ext cx="5760720" cy="2103120"/>
          </a:xfrm>
          <a:prstGeom prst="rect">
            <a:avLst/>
          </a:prstGeom>
          <a:noFill/>
          <a:ln/>
        </p:spPr>
        <p:txBody>
          <a:bodyPr wrap="square" lIns="0" tIns="0" rIns="0" bIns="0" rtlCol="0" anchor="t"/>
          <a:lstStyle/>
          <a:p>
            <a:pPr marL="342900" indent="-342900">
              <a:lnSpc>
                <a:spcPts val="1400"/>
              </a:lnSpc>
              <a:spcAft>
                <a:spcPts val="800"/>
              </a:spcAft>
              <a:buSzPct val="100000"/>
              <a:buChar char="•"/>
            </a:pPr>
            <a:r>
              <a:rPr lang="en-US" sz="1050" dirty="0">
                <a:solidFill>
                  <a:srgbClr val="5F6B7A"/>
                </a:solidFill>
                <a:latin typeface="Calibri" pitchFamily="34" charset="0"/>
                <a:ea typeface="Calibri" pitchFamily="34" charset="-122"/>
                <a:cs typeface="Calibri" pitchFamily="34" charset="-120"/>
              </a:rPr>
              <a:t>Rural accidents cluster at 60 mph because that is the default national speed limit on rural single carriageways. The distribution reflects road classification, not driver behaviour.</a:t>
            </a:r>
            <a:endParaRPr lang="en-US" sz="1050" dirty="0"/>
          </a:p>
          <a:p>
            <a:pPr marL="342900" indent="-342900">
              <a:lnSpc>
                <a:spcPts val="1400"/>
              </a:lnSpc>
              <a:spcAft>
                <a:spcPts val="800"/>
              </a:spcAft>
              <a:buSzPct val="100000"/>
              <a:buChar char="•"/>
            </a:pPr>
            <a:r>
              <a:rPr lang="en-US" sz="1050" dirty="0">
                <a:solidFill>
                  <a:srgbClr val="5F6B7A"/>
                </a:solidFill>
                <a:latin typeface="Calibri" pitchFamily="34" charset="0"/>
                <a:ea typeface="Calibri" pitchFamily="34" charset="-122"/>
                <a:cs typeface="Calibri" pitchFamily="34" charset="-120"/>
              </a:rPr>
              <a:t>The dataset records the posted limit at the accident location, not the speed the vehicle was travelling. It therefore cannot evidence non-compliance, signage adequacy or driver education.</a:t>
            </a:r>
            <a:endParaRPr lang="en-US" sz="1050" dirty="0"/>
          </a:p>
          <a:p>
            <a:pPr marL="342900" indent="-342900">
              <a:lnSpc>
                <a:spcPts val="1400"/>
              </a:lnSpc>
              <a:spcAft>
                <a:spcPts val="800"/>
              </a:spcAft>
              <a:buSzPct val="100000"/>
              <a:buChar char="•"/>
            </a:pPr>
            <a:r>
              <a:rPr lang="en-US" sz="1050" dirty="0">
                <a:solidFill>
                  <a:srgbClr val="5F6B7A"/>
                </a:solidFill>
                <a:latin typeface="Calibri" pitchFamily="34" charset="0"/>
                <a:ea typeface="Calibri" pitchFamily="34" charset="-122"/>
                <a:cs typeface="Calibri" pitchFamily="34" charset="-120"/>
              </a:rPr>
              <a:t>What it does support is an energy argument: collisions in 60 and 70 mph environments carry far more kinetic energy, and the 2.7x fatal rate differential is consistent with that.</a:t>
            </a:r>
            <a:endParaRPr lang="en-US" sz="1050" dirty="0"/>
          </a:p>
        </p:txBody>
      </p:sp>
      <p:sp>
        <p:nvSpPr>
          <p:cNvPr id="8" name="Shape 5"/>
          <p:cNvSpPr/>
          <p:nvPr/>
        </p:nvSpPr>
        <p:spPr>
          <a:xfrm>
            <a:off x="502920" y="3931920"/>
            <a:ext cx="5394960" cy="1115568"/>
          </a:xfrm>
          <a:prstGeom prst="roundRect">
            <a:avLst>
              <a:gd name="adj" fmla="val 6557"/>
            </a:avLst>
          </a:prstGeom>
          <a:solidFill>
            <a:srgbClr val="F4F5F7"/>
          </a:solidFill>
          <a:ln w="6350">
            <a:solidFill>
              <a:srgbClr val="E3E6EB"/>
            </a:solidFill>
            <a:prstDash val="solid"/>
          </a:ln>
        </p:spPr>
      </p:sp>
      <p:sp>
        <p:nvSpPr>
          <p:cNvPr id="9" name="Shape 6"/>
          <p:cNvSpPr/>
          <p:nvPr/>
        </p:nvSpPr>
        <p:spPr>
          <a:xfrm>
            <a:off x="731520" y="4151376"/>
            <a:ext cx="146304" cy="146304"/>
          </a:xfrm>
          <a:prstGeom prst="ellipse">
            <a:avLst/>
          </a:prstGeom>
          <a:solidFill>
            <a:srgbClr val="C00000"/>
          </a:solidFill>
          <a:ln/>
        </p:spPr>
      </p:sp>
      <p:sp>
        <p:nvSpPr>
          <p:cNvPr id="10" name="Text 7"/>
          <p:cNvSpPr/>
          <p:nvPr/>
        </p:nvSpPr>
        <p:spPr>
          <a:xfrm>
            <a:off x="978408" y="4078224"/>
            <a:ext cx="4663440" cy="274320"/>
          </a:xfrm>
          <a:prstGeom prst="rect">
            <a:avLst/>
          </a:prstGeom>
          <a:noFill/>
          <a:ln/>
        </p:spPr>
        <p:txBody>
          <a:bodyPr wrap="square" lIns="0" tIns="0" rIns="0" bIns="0" rtlCol="0" anchor="t"/>
          <a:lstStyle/>
          <a:p>
            <a:pPr marL="0" indent="0">
              <a:buNone/>
            </a:pPr>
            <a:r>
              <a:rPr lang="en-US" sz="1250" b="1" dirty="0">
                <a:solidFill>
                  <a:srgbClr val="16233A"/>
                </a:solidFill>
                <a:latin typeface="Calibri" pitchFamily="34" charset="0"/>
                <a:ea typeface="Calibri" pitchFamily="34" charset="-122"/>
                <a:cs typeface="Calibri" pitchFamily="34" charset="-120"/>
              </a:rPr>
              <a:t>Higher-energy environments</a:t>
            </a:r>
            <a:endParaRPr lang="en-US" sz="1250" dirty="0"/>
          </a:p>
        </p:txBody>
      </p:sp>
      <p:sp>
        <p:nvSpPr>
          <p:cNvPr id="11" name="Text 8"/>
          <p:cNvSpPr/>
          <p:nvPr/>
        </p:nvSpPr>
        <p:spPr>
          <a:xfrm>
            <a:off x="731520" y="4407408"/>
            <a:ext cx="4937760" cy="548640"/>
          </a:xfrm>
          <a:prstGeom prst="rect">
            <a:avLst/>
          </a:prstGeom>
          <a:noFill/>
          <a:ln/>
        </p:spPr>
        <p:txBody>
          <a:bodyPr wrap="square" lIns="0" tIns="0" rIns="0" bIns="0" rtlCol="0" anchor="t"/>
          <a:lstStyle/>
          <a:p>
            <a:pPr marL="0" indent="0">
              <a:lnSpc>
                <a:spcPts val="1250"/>
              </a:lnSpc>
              <a:buNone/>
            </a:pPr>
            <a:r>
              <a:rPr lang="en-US" sz="1000" dirty="0">
                <a:solidFill>
                  <a:srgbClr val="5F6B7A"/>
                </a:solidFill>
                <a:latin typeface="Calibri" pitchFamily="34" charset="0"/>
                <a:ea typeface="Calibri" pitchFamily="34" charset="-122"/>
                <a:cs typeface="Calibri" pitchFamily="34" charset="-120"/>
              </a:rPr>
              <a:t>70.1% of rural accidents occur on single carriageways where the national limit applies, with no central reservation separating opposing traffic.</a:t>
            </a:r>
            <a:endParaRPr lang="en-US" sz="1000" dirty="0"/>
          </a:p>
        </p:txBody>
      </p:sp>
      <p:sp>
        <p:nvSpPr>
          <p:cNvPr id="12" name="Shape 9"/>
          <p:cNvSpPr/>
          <p:nvPr/>
        </p:nvSpPr>
        <p:spPr>
          <a:xfrm>
            <a:off x="6263640" y="3931920"/>
            <a:ext cx="5394960" cy="1115568"/>
          </a:xfrm>
          <a:prstGeom prst="roundRect">
            <a:avLst>
              <a:gd name="adj" fmla="val 6557"/>
            </a:avLst>
          </a:prstGeom>
          <a:solidFill>
            <a:srgbClr val="F4F5F7"/>
          </a:solidFill>
          <a:ln w="6350">
            <a:solidFill>
              <a:srgbClr val="E3E6EB"/>
            </a:solidFill>
            <a:prstDash val="solid"/>
          </a:ln>
        </p:spPr>
      </p:sp>
      <p:sp>
        <p:nvSpPr>
          <p:cNvPr id="13" name="Shape 10"/>
          <p:cNvSpPr/>
          <p:nvPr/>
        </p:nvSpPr>
        <p:spPr>
          <a:xfrm>
            <a:off x="6492240" y="4151376"/>
            <a:ext cx="146304" cy="146304"/>
          </a:xfrm>
          <a:prstGeom prst="ellipse">
            <a:avLst/>
          </a:prstGeom>
          <a:solidFill>
            <a:srgbClr val="FFC000"/>
          </a:solidFill>
          <a:ln/>
        </p:spPr>
      </p:sp>
      <p:sp>
        <p:nvSpPr>
          <p:cNvPr id="14" name="Text 11"/>
          <p:cNvSpPr/>
          <p:nvPr/>
        </p:nvSpPr>
        <p:spPr>
          <a:xfrm>
            <a:off x="6739128" y="4078224"/>
            <a:ext cx="4663440" cy="274320"/>
          </a:xfrm>
          <a:prstGeom prst="rect">
            <a:avLst/>
          </a:prstGeom>
          <a:noFill/>
          <a:ln/>
        </p:spPr>
        <p:txBody>
          <a:bodyPr wrap="square" lIns="0" tIns="0" rIns="0" bIns="0" rtlCol="0" anchor="t"/>
          <a:lstStyle/>
          <a:p>
            <a:pPr marL="0" indent="0">
              <a:buNone/>
            </a:pPr>
            <a:r>
              <a:rPr lang="en-US" sz="1250" b="1" dirty="0">
                <a:solidFill>
                  <a:srgbClr val="16233A"/>
                </a:solidFill>
                <a:latin typeface="Calibri" pitchFamily="34" charset="0"/>
                <a:ea typeface="Calibri" pitchFamily="34" charset="-122"/>
                <a:cs typeface="Calibri" pitchFamily="34" charset="-120"/>
              </a:rPr>
              <a:t>Darkness without infrastructure</a:t>
            </a:r>
            <a:endParaRPr lang="en-US" sz="1250" dirty="0"/>
          </a:p>
        </p:txBody>
      </p:sp>
      <p:sp>
        <p:nvSpPr>
          <p:cNvPr id="15" name="Text 12"/>
          <p:cNvSpPr/>
          <p:nvPr/>
        </p:nvSpPr>
        <p:spPr>
          <a:xfrm>
            <a:off x="6492240" y="4407408"/>
            <a:ext cx="4937760" cy="548640"/>
          </a:xfrm>
          <a:prstGeom prst="rect">
            <a:avLst/>
          </a:prstGeom>
          <a:noFill/>
          <a:ln/>
        </p:spPr>
        <p:txBody>
          <a:bodyPr wrap="square" lIns="0" tIns="0" rIns="0" bIns="0" rtlCol="0" anchor="t"/>
          <a:lstStyle/>
          <a:p>
            <a:pPr marL="0" indent="0">
              <a:lnSpc>
                <a:spcPts val="1250"/>
              </a:lnSpc>
              <a:buNone/>
            </a:pPr>
            <a:r>
              <a:rPr lang="en-US" sz="1000" dirty="0">
                <a:solidFill>
                  <a:srgbClr val="5F6B7A"/>
                </a:solidFill>
                <a:latin typeface="Calibri" pitchFamily="34" charset="0"/>
                <a:ea typeface="Calibri" pitchFamily="34" charset="-122"/>
                <a:cs typeface="Calibri" pitchFamily="34" charset="-120"/>
              </a:rPr>
              <a:t>14.4% of rural accidents occur on roads with no street lighting at all, against 5.4% nationally — a near-threefold concentration.</a:t>
            </a:r>
            <a:endParaRPr lang="en-US" sz="1000" dirty="0"/>
          </a:p>
        </p:txBody>
      </p:sp>
      <p:sp>
        <p:nvSpPr>
          <p:cNvPr id="16" name="Shape 13"/>
          <p:cNvSpPr/>
          <p:nvPr/>
        </p:nvSpPr>
        <p:spPr>
          <a:xfrm>
            <a:off x="502920" y="5230368"/>
            <a:ext cx="5394960" cy="1115568"/>
          </a:xfrm>
          <a:prstGeom prst="roundRect">
            <a:avLst>
              <a:gd name="adj" fmla="val 6557"/>
            </a:avLst>
          </a:prstGeom>
          <a:solidFill>
            <a:srgbClr val="F4F5F7"/>
          </a:solidFill>
          <a:ln w="6350">
            <a:solidFill>
              <a:srgbClr val="E3E6EB"/>
            </a:solidFill>
            <a:prstDash val="solid"/>
          </a:ln>
        </p:spPr>
      </p:sp>
      <p:sp>
        <p:nvSpPr>
          <p:cNvPr id="17" name="Shape 14"/>
          <p:cNvSpPr/>
          <p:nvPr/>
        </p:nvSpPr>
        <p:spPr>
          <a:xfrm>
            <a:off x="731520" y="5449824"/>
            <a:ext cx="146304" cy="146304"/>
          </a:xfrm>
          <a:prstGeom prst="ellipse">
            <a:avLst/>
          </a:prstGeom>
          <a:solidFill>
            <a:srgbClr val="ED7D31"/>
          </a:solidFill>
          <a:ln/>
        </p:spPr>
      </p:sp>
      <p:sp>
        <p:nvSpPr>
          <p:cNvPr id="18" name="Text 15"/>
          <p:cNvSpPr/>
          <p:nvPr/>
        </p:nvSpPr>
        <p:spPr>
          <a:xfrm>
            <a:off x="978408" y="5376672"/>
            <a:ext cx="4663440" cy="274320"/>
          </a:xfrm>
          <a:prstGeom prst="rect">
            <a:avLst/>
          </a:prstGeom>
          <a:noFill/>
          <a:ln/>
        </p:spPr>
        <p:txBody>
          <a:bodyPr wrap="square" lIns="0" tIns="0" rIns="0" bIns="0" rtlCol="0" anchor="t"/>
          <a:lstStyle/>
          <a:p>
            <a:pPr marL="0" indent="0">
              <a:buNone/>
            </a:pPr>
            <a:r>
              <a:rPr lang="en-US" sz="1250" b="1" dirty="0">
                <a:solidFill>
                  <a:srgbClr val="16233A"/>
                </a:solidFill>
                <a:latin typeface="Calibri" pitchFamily="34" charset="0"/>
                <a:ea typeface="Calibri" pitchFamily="34" charset="-122"/>
                <a:cs typeface="Calibri" pitchFamily="34" charset="-120"/>
              </a:rPr>
              <a:t>Longer emergency response</a:t>
            </a:r>
            <a:endParaRPr lang="en-US" sz="1250" dirty="0"/>
          </a:p>
        </p:txBody>
      </p:sp>
      <p:sp>
        <p:nvSpPr>
          <p:cNvPr id="19" name="Text 16"/>
          <p:cNvSpPr/>
          <p:nvPr/>
        </p:nvSpPr>
        <p:spPr>
          <a:xfrm>
            <a:off x="731520" y="5705856"/>
            <a:ext cx="4937760" cy="548640"/>
          </a:xfrm>
          <a:prstGeom prst="rect">
            <a:avLst/>
          </a:prstGeom>
          <a:noFill/>
          <a:ln/>
        </p:spPr>
        <p:txBody>
          <a:bodyPr wrap="square" lIns="0" tIns="0" rIns="0" bIns="0" rtlCol="0" anchor="t"/>
          <a:lstStyle/>
          <a:p>
            <a:pPr marL="0" indent="0">
              <a:lnSpc>
                <a:spcPts val="1250"/>
              </a:lnSpc>
              <a:buNone/>
            </a:pPr>
            <a:r>
              <a:rPr lang="en-US" sz="1000" dirty="0">
                <a:solidFill>
                  <a:srgbClr val="5F6B7A"/>
                </a:solidFill>
                <a:latin typeface="Calibri" pitchFamily="34" charset="0"/>
                <a:ea typeface="Calibri" pitchFamily="34" charset="-122"/>
                <a:cs typeface="Calibri" pitchFamily="34" charset="-120"/>
              </a:rPr>
              <a:t>Distance from trauma centres plausibly contributes to the 2.05 casualties recorded per rural fatal accident, though this dataset cannot confirm it directly.</a:t>
            </a:r>
            <a:endParaRPr lang="en-US" sz="1000" dirty="0"/>
          </a:p>
        </p:txBody>
      </p:sp>
      <p:sp>
        <p:nvSpPr>
          <p:cNvPr id="20" name="Shape 17"/>
          <p:cNvSpPr/>
          <p:nvPr/>
        </p:nvSpPr>
        <p:spPr>
          <a:xfrm>
            <a:off x="6263640" y="5230368"/>
            <a:ext cx="5394960" cy="1115568"/>
          </a:xfrm>
          <a:prstGeom prst="roundRect">
            <a:avLst>
              <a:gd name="adj" fmla="val 6557"/>
            </a:avLst>
          </a:prstGeom>
          <a:solidFill>
            <a:srgbClr val="F4F5F7"/>
          </a:solidFill>
          <a:ln w="6350">
            <a:solidFill>
              <a:srgbClr val="E3E6EB"/>
            </a:solidFill>
            <a:prstDash val="solid"/>
          </a:ln>
        </p:spPr>
      </p:sp>
      <p:sp>
        <p:nvSpPr>
          <p:cNvPr id="21" name="Shape 18"/>
          <p:cNvSpPr/>
          <p:nvPr/>
        </p:nvSpPr>
        <p:spPr>
          <a:xfrm>
            <a:off x="6492240" y="5449824"/>
            <a:ext cx="146304" cy="146304"/>
          </a:xfrm>
          <a:prstGeom prst="ellipse">
            <a:avLst/>
          </a:prstGeom>
          <a:solidFill>
            <a:srgbClr val="4472C4"/>
          </a:solidFill>
          <a:ln/>
        </p:spPr>
      </p:sp>
      <p:sp>
        <p:nvSpPr>
          <p:cNvPr id="22" name="Text 19"/>
          <p:cNvSpPr/>
          <p:nvPr/>
        </p:nvSpPr>
        <p:spPr>
          <a:xfrm>
            <a:off x="6739128" y="5376672"/>
            <a:ext cx="4663440" cy="274320"/>
          </a:xfrm>
          <a:prstGeom prst="rect">
            <a:avLst/>
          </a:prstGeom>
          <a:noFill/>
          <a:ln/>
        </p:spPr>
        <p:txBody>
          <a:bodyPr wrap="square" lIns="0" tIns="0" rIns="0" bIns="0" rtlCol="0" anchor="t"/>
          <a:lstStyle/>
          <a:p>
            <a:pPr marL="0" indent="0">
              <a:buNone/>
            </a:pPr>
            <a:r>
              <a:rPr lang="en-US" sz="1250" b="1" dirty="0">
                <a:solidFill>
                  <a:srgbClr val="16233A"/>
                </a:solidFill>
                <a:latin typeface="Calibri" pitchFamily="34" charset="0"/>
                <a:ea typeface="Calibri" pitchFamily="34" charset="-122"/>
                <a:cs typeface="Calibri" pitchFamily="34" charset="-120"/>
              </a:rPr>
              <a:t>A flatter weekly pattern</a:t>
            </a:r>
            <a:endParaRPr lang="en-US" sz="1250" dirty="0"/>
          </a:p>
        </p:txBody>
      </p:sp>
      <p:sp>
        <p:nvSpPr>
          <p:cNvPr id="23" name="Text 20"/>
          <p:cNvSpPr/>
          <p:nvPr/>
        </p:nvSpPr>
        <p:spPr>
          <a:xfrm>
            <a:off x="6492240" y="5705856"/>
            <a:ext cx="4937760" cy="548640"/>
          </a:xfrm>
          <a:prstGeom prst="rect">
            <a:avLst/>
          </a:prstGeom>
          <a:noFill/>
          <a:ln/>
        </p:spPr>
        <p:txBody>
          <a:bodyPr wrap="square" lIns="0" tIns="0" rIns="0" bIns="0" rtlCol="0" anchor="t"/>
          <a:lstStyle/>
          <a:p>
            <a:pPr marL="0" indent="0">
              <a:lnSpc>
                <a:spcPts val="1250"/>
              </a:lnSpc>
              <a:buNone/>
            </a:pPr>
            <a:r>
              <a:rPr lang="en-US" sz="1000" dirty="0">
                <a:solidFill>
                  <a:srgbClr val="5F6B7A"/>
                </a:solidFill>
                <a:latin typeface="Calibri" pitchFamily="34" charset="0"/>
                <a:ea typeface="Calibri" pitchFamily="34" charset="-122"/>
                <a:cs typeface="Calibri" pitchFamily="34" charset="-120"/>
              </a:rPr>
              <a:t>Sunday runs at 78.6% of Friday's volume in rural areas against 66.4% nationally, indicating leisure travel rather than commuting drives rural exposure.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05 · DELIVERABLE</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Dashboard Design Decisions</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Shape 3"/>
          <p:cNvSpPr/>
          <p:nvPr/>
        </p:nvSpPr>
        <p:spPr>
          <a:xfrm>
            <a:off x="502920" y="1463040"/>
            <a:ext cx="11155680" cy="1005840"/>
          </a:xfrm>
          <a:prstGeom prst="roundRect">
            <a:avLst>
              <a:gd name="adj" fmla="val 7273"/>
            </a:avLst>
          </a:prstGeom>
          <a:solidFill>
            <a:srgbClr val="F4F5F7"/>
          </a:solidFill>
          <a:ln w="6350">
            <a:solidFill>
              <a:srgbClr val="E3E6EB"/>
            </a:solidFill>
            <a:prstDash val="solid"/>
          </a:ln>
        </p:spPr>
      </p:sp>
      <p:sp>
        <p:nvSpPr>
          <p:cNvPr id="6" name="Shape 4"/>
          <p:cNvSpPr/>
          <p:nvPr/>
        </p:nvSpPr>
        <p:spPr>
          <a:xfrm>
            <a:off x="777240" y="1810512"/>
            <a:ext cx="310896" cy="310896"/>
          </a:xfrm>
          <a:prstGeom prst="ellipse">
            <a:avLst/>
          </a:prstGeom>
          <a:solidFill>
            <a:srgbClr val="FFC000"/>
          </a:solidFill>
          <a:ln/>
        </p:spPr>
      </p:sp>
      <p:sp>
        <p:nvSpPr>
          <p:cNvPr id="7" name="Text 5"/>
          <p:cNvSpPr/>
          <p:nvPr/>
        </p:nvSpPr>
        <p:spPr>
          <a:xfrm>
            <a:off x="1280160" y="1645920"/>
            <a:ext cx="3931920" cy="5486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Standardised severity palette</a:t>
            </a:r>
            <a:endParaRPr lang="en-US" sz="1300" dirty="0"/>
          </a:p>
        </p:txBody>
      </p:sp>
      <p:sp>
        <p:nvSpPr>
          <p:cNvPr id="8" name="Text 6"/>
          <p:cNvSpPr/>
          <p:nvPr/>
        </p:nvSpPr>
        <p:spPr>
          <a:xfrm>
            <a:off x="5349240" y="1645920"/>
            <a:ext cx="6035040" cy="685800"/>
          </a:xfrm>
          <a:prstGeom prst="rect">
            <a:avLst/>
          </a:prstGeom>
          <a:noFill/>
          <a:ln/>
        </p:spPr>
        <p:txBody>
          <a:bodyPr wrap="square" lIns="0" tIns="0" rIns="0" bIns="0" rtlCol="0" anchor="t"/>
          <a:lstStyle/>
          <a:p>
            <a:pPr marL="0" indent="0">
              <a:lnSpc>
                <a:spcPts val="1400"/>
              </a:lnSpc>
              <a:buNone/>
            </a:pPr>
            <a:r>
              <a:rPr lang="en-US" sz="1050" dirty="0">
                <a:solidFill>
                  <a:srgbClr val="5F6B7A"/>
                </a:solidFill>
                <a:latin typeface="Calibri" pitchFamily="34" charset="0"/>
                <a:ea typeface="Calibri" pitchFamily="34" charset="-122"/>
                <a:cs typeface="Calibri" pitchFamily="34" charset="-120"/>
              </a:rPr>
              <a:t>Slight, Serious and Fatal use a fixed amber-orange-red ramp on every chart, so a colour never means two different things across the dashboard.</a:t>
            </a:r>
            <a:endParaRPr lang="en-US" sz="1050" dirty="0"/>
          </a:p>
        </p:txBody>
      </p:sp>
      <p:sp>
        <p:nvSpPr>
          <p:cNvPr id="9" name="Shape 7"/>
          <p:cNvSpPr/>
          <p:nvPr/>
        </p:nvSpPr>
        <p:spPr>
          <a:xfrm>
            <a:off x="502920" y="2633472"/>
            <a:ext cx="11155680" cy="1005840"/>
          </a:xfrm>
          <a:prstGeom prst="roundRect">
            <a:avLst>
              <a:gd name="adj" fmla="val 7273"/>
            </a:avLst>
          </a:prstGeom>
          <a:solidFill>
            <a:srgbClr val="F4F5F7"/>
          </a:solidFill>
          <a:ln w="6350">
            <a:solidFill>
              <a:srgbClr val="E3E6EB"/>
            </a:solidFill>
            <a:prstDash val="solid"/>
          </a:ln>
        </p:spPr>
      </p:sp>
      <p:sp>
        <p:nvSpPr>
          <p:cNvPr id="10" name="Shape 8"/>
          <p:cNvSpPr/>
          <p:nvPr/>
        </p:nvSpPr>
        <p:spPr>
          <a:xfrm>
            <a:off x="777240" y="2980944"/>
            <a:ext cx="310896" cy="310896"/>
          </a:xfrm>
          <a:prstGeom prst="ellipse">
            <a:avLst/>
          </a:prstGeom>
          <a:solidFill>
            <a:srgbClr val="4472C4"/>
          </a:solidFill>
          <a:ln/>
        </p:spPr>
      </p:sp>
      <p:sp>
        <p:nvSpPr>
          <p:cNvPr id="11" name="Text 9"/>
          <p:cNvSpPr/>
          <p:nvPr/>
        </p:nvSpPr>
        <p:spPr>
          <a:xfrm>
            <a:off x="1280160" y="2816352"/>
            <a:ext cx="3931920" cy="5486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Separated metric families</a:t>
            </a:r>
            <a:endParaRPr lang="en-US" sz="1300" dirty="0"/>
          </a:p>
        </p:txBody>
      </p:sp>
      <p:sp>
        <p:nvSpPr>
          <p:cNvPr id="12" name="Text 10"/>
          <p:cNvSpPr/>
          <p:nvPr/>
        </p:nvSpPr>
        <p:spPr>
          <a:xfrm>
            <a:off x="5349240" y="2816352"/>
            <a:ext cx="6035040" cy="685800"/>
          </a:xfrm>
          <a:prstGeom prst="rect">
            <a:avLst/>
          </a:prstGeom>
          <a:noFill/>
          <a:ln/>
        </p:spPr>
        <p:txBody>
          <a:bodyPr wrap="square" lIns="0" tIns="0" rIns="0" bIns="0" rtlCol="0" anchor="t"/>
          <a:lstStyle/>
          <a:p>
            <a:pPr marL="0" indent="0">
              <a:lnSpc>
                <a:spcPts val="1400"/>
              </a:lnSpc>
              <a:buNone/>
            </a:pPr>
            <a:r>
              <a:rPr lang="en-US" sz="1050" dirty="0">
                <a:solidFill>
                  <a:srgbClr val="5F6B7A"/>
                </a:solidFill>
                <a:latin typeface="Calibri" pitchFamily="34" charset="0"/>
                <a:ea typeface="Calibri" pitchFamily="34" charset="-122"/>
                <a:cs typeface="Calibri" pitchFamily="34" charset="-120"/>
              </a:rPr>
              <a:t>Volume measures use a cool blue family and severity uses the warm ramp, so a viewer can categorise any chart before reading a single label. Day of week was recoloured from severity tones to a blue gradient for this reason.</a:t>
            </a:r>
            <a:endParaRPr lang="en-US" sz="1050" dirty="0"/>
          </a:p>
        </p:txBody>
      </p:sp>
      <p:sp>
        <p:nvSpPr>
          <p:cNvPr id="13" name="Shape 11"/>
          <p:cNvSpPr/>
          <p:nvPr/>
        </p:nvSpPr>
        <p:spPr>
          <a:xfrm>
            <a:off x="502920" y="3803904"/>
            <a:ext cx="11155680" cy="1005840"/>
          </a:xfrm>
          <a:prstGeom prst="roundRect">
            <a:avLst>
              <a:gd name="adj" fmla="val 7273"/>
            </a:avLst>
          </a:prstGeom>
          <a:solidFill>
            <a:srgbClr val="F4F5F7"/>
          </a:solidFill>
          <a:ln w="6350">
            <a:solidFill>
              <a:srgbClr val="E3E6EB"/>
            </a:solidFill>
            <a:prstDash val="solid"/>
          </a:ln>
        </p:spPr>
      </p:sp>
      <p:sp>
        <p:nvSpPr>
          <p:cNvPr id="14" name="Shape 12"/>
          <p:cNvSpPr/>
          <p:nvPr/>
        </p:nvSpPr>
        <p:spPr>
          <a:xfrm>
            <a:off x="777240" y="4151376"/>
            <a:ext cx="310896" cy="310896"/>
          </a:xfrm>
          <a:prstGeom prst="ellipse">
            <a:avLst/>
          </a:prstGeom>
          <a:solidFill>
            <a:srgbClr val="1D9E75"/>
          </a:solidFill>
          <a:ln/>
        </p:spPr>
      </p:sp>
      <p:sp>
        <p:nvSpPr>
          <p:cNvPr id="15" name="Text 13"/>
          <p:cNvSpPr/>
          <p:nvPr/>
        </p:nvSpPr>
        <p:spPr>
          <a:xfrm>
            <a:off x="1280160" y="3986784"/>
            <a:ext cx="3931920" cy="5486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Four cross-filtering slicers</a:t>
            </a:r>
            <a:endParaRPr lang="en-US" sz="1300" dirty="0"/>
          </a:p>
        </p:txBody>
      </p:sp>
      <p:sp>
        <p:nvSpPr>
          <p:cNvPr id="16" name="Text 14"/>
          <p:cNvSpPr/>
          <p:nvPr/>
        </p:nvSpPr>
        <p:spPr>
          <a:xfrm>
            <a:off x="5349240" y="3986784"/>
            <a:ext cx="6035040" cy="685800"/>
          </a:xfrm>
          <a:prstGeom prst="rect">
            <a:avLst/>
          </a:prstGeom>
          <a:noFill/>
          <a:ln/>
        </p:spPr>
        <p:txBody>
          <a:bodyPr wrap="square" lIns="0" tIns="0" rIns="0" bIns="0" rtlCol="0" anchor="t"/>
          <a:lstStyle/>
          <a:p>
            <a:pPr marL="0" indent="0">
              <a:lnSpc>
                <a:spcPts val="1400"/>
              </a:lnSpc>
              <a:buNone/>
            </a:pPr>
            <a:r>
              <a:rPr lang="en-US" sz="1050" dirty="0">
                <a:solidFill>
                  <a:srgbClr val="5F6B7A"/>
                </a:solidFill>
                <a:latin typeface="Calibri" pitchFamily="34" charset="0"/>
                <a:ea typeface="Calibri" pitchFamily="34" charset="-122"/>
                <a:cs typeface="Calibri" pitchFamily="34" charset="-120"/>
              </a:rPr>
              <a:t>Year, Urban/Rural, Severity and City filter every visual simultaneously, turning a static report into an exploratory tool.</a:t>
            </a:r>
            <a:endParaRPr lang="en-US" sz="1050" dirty="0"/>
          </a:p>
        </p:txBody>
      </p:sp>
      <p:sp>
        <p:nvSpPr>
          <p:cNvPr id="17" name="Shape 15"/>
          <p:cNvSpPr/>
          <p:nvPr/>
        </p:nvSpPr>
        <p:spPr>
          <a:xfrm>
            <a:off x="502920" y="4974336"/>
            <a:ext cx="11155680" cy="1005840"/>
          </a:xfrm>
          <a:prstGeom prst="roundRect">
            <a:avLst>
              <a:gd name="adj" fmla="val 7273"/>
            </a:avLst>
          </a:prstGeom>
          <a:solidFill>
            <a:srgbClr val="F4F5F7"/>
          </a:solidFill>
          <a:ln w="6350">
            <a:solidFill>
              <a:srgbClr val="E3E6EB"/>
            </a:solidFill>
            <a:prstDash val="solid"/>
          </a:ln>
        </p:spPr>
      </p:sp>
      <p:sp>
        <p:nvSpPr>
          <p:cNvPr id="18" name="Shape 16"/>
          <p:cNvSpPr/>
          <p:nvPr/>
        </p:nvSpPr>
        <p:spPr>
          <a:xfrm>
            <a:off x="777240" y="5321808"/>
            <a:ext cx="310896" cy="310896"/>
          </a:xfrm>
          <a:prstGeom prst="ellipse">
            <a:avLst/>
          </a:prstGeom>
          <a:solidFill>
            <a:srgbClr val="1D9E75"/>
          </a:solidFill>
          <a:ln/>
        </p:spPr>
      </p:sp>
      <p:sp>
        <p:nvSpPr>
          <p:cNvPr id="19" name="Text 17"/>
          <p:cNvSpPr/>
          <p:nvPr/>
        </p:nvSpPr>
        <p:spPr>
          <a:xfrm>
            <a:off x="1280160" y="5157216"/>
            <a:ext cx="3931920" cy="5486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Charts converted to KPI cards</a:t>
            </a:r>
            <a:endParaRPr lang="en-US" sz="1300" dirty="0"/>
          </a:p>
        </p:txBody>
      </p:sp>
      <p:sp>
        <p:nvSpPr>
          <p:cNvPr id="20" name="Text 18"/>
          <p:cNvSpPr/>
          <p:nvPr/>
        </p:nvSpPr>
        <p:spPr>
          <a:xfrm>
            <a:off x="5349240" y="5157216"/>
            <a:ext cx="6035040" cy="685800"/>
          </a:xfrm>
          <a:prstGeom prst="rect">
            <a:avLst/>
          </a:prstGeom>
          <a:noFill/>
          <a:ln/>
        </p:spPr>
        <p:txBody>
          <a:bodyPr wrap="square" lIns="0" tIns="0" rIns="0" bIns="0" rtlCol="0" anchor="t"/>
          <a:lstStyle/>
          <a:p>
            <a:pPr marL="0" indent="0">
              <a:lnSpc>
                <a:spcPts val="1400"/>
              </a:lnSpc>
              <a:buNone/>
            </a:pPr>
            <a:r>
              <a:rPr lang="en-US" sz="1050" dirty="0">
                <a:solidFill>
                  <a:srgbClr val="5F6B7A"/>
                </a:solidFill>
                <a:latin typeface="Calibri" pitchFamily="34" charset="0"/>
                <a:ea typeface="Calibri" pitchFamily="34" charset="-122"/>
                <a:cs typeface="Calibri" pitchFamily="34" charset="-120"/>
              </a:rPr>
              <a:t>The urban/rural donut and monthly trend line were replaced by compact KPI cards, freeing space while carrying more information than the charts they replaced.</a:t>
            </a:r>
            <a:endParaRPr lang="en-US" sz="1050" dirty="0"/>
          </a:p>
        </p:txBody>
      </p:sp>
      <p:sp>
        <p:nvSpPr>
          <p:cNvPr id="21" name="Text 19"/>
          <p:cNvSpPr/>
          <p:nvPr/>
        </p:nvSpPr>
        <p:spPr>
          <a:xfrm>
            <a:off x="502920" y="6263640"/>
            <a:ext cx="11155680" cy="320040"/>
          </a:xfrm>
          <a:prstGeom prst="rect">
            <a:avLst/>
          </a:prstGeom>
          <a:noFill/>
          <a:ln/>
        </p:spPr>
        <p:txBody>
          <a:bodyPr wrap="square" lIns="0" tIns="0" rIns="0" bIns="0" rtlCol="0" anchor="ctr"/>
          <a:lstStyle/>
          <a:p>
            <a:pPr marL="0" indent="0">
              <a:buNone/>
            </a:pPr>
            <a:r>
              <a:rPr lang="en-US" sz="1050" i="1" dirty="0">
                <a:solidFill>
                  <a:srgbClr val="5F6B7A"/>
                </a:solidFill>
                <a:latin typeface="Calibri" pitchFamily="34" charset="0"/>
                <a:ea typeface="Calibri" pitchFamily="34" charset="-122"/>
                <a:cs typeface="Calibri" pitchFamily="34" charset="-120"/>
              </a:rPr>
              <a:t>Design principle: consistency within a category matters more than uniformity across categories. A dashboard is trustworthy when a colour is predictable.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05 · STATISTICAL ANALYSIS</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Descriptive Statistics</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55680" cy="2304288"/>
        </p:xfrm>
        <a:graphic>
          <a:graphicData uri="http://schemas.openxmlformats.org/drawingml/2006/table">
            <a:tbl>
              <a:tblPr/>
              <a:tblGrid>
                <a:gridCol w="210312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3931920">
                  <a:extLst>
                    <a:ext uri="{9D8B030D-6E8A-4147-A177-3AD203B41FA5}">
                      <a16:colId xmlns:a16="http://schemas.microsoft.com/office/drawing/2014/main" val="20006"/>
                    </a:ext>
                  </a:extLst>
                </a:gridCol>
              </a:tblGrid>
              <a:tr h="38404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Variable</a:t>
                      </a:r>
                      <a:endParaRPr lang="en-US" sz="10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Mean</a:t>
                      </a:r>
                      <a:endParaRPr lang="en-US" sz="10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Median</a:t>
                      </a:r>
                      <a:endParaRPr lang="en-US" sz="10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Range</a:t>
                      </a:r>
                      <a:endParaRPr lang="en-US" sz="10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Std Dev</a:t>
                      </a:r>
                      <a:endParaRPr lang="en-US" sz="10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Skewness</a:t>
                      </a:r>
                      <a:endParaRPr lang="en-US" sz="10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Interpretation</a:t>
                      </a:r>
                      <a:endParaRPr lang="en-US" sz="100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16233A"/>
                    </a:solidFill>
                  </a:tcPr>
                </a:tc>
                <a:extLst>
                  <a:ext uri="{0D108BD9-81ED-4DB2-BD59-A6C34878D82A}">
                    <a16:rowId xmlns:a16="http://schemas.microsoft.com/office/drawing/2014/main" val="10000"/>
                  </a:ext>
                </a:extLst>
              </a:tr>
              <a:tr h="384048">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Casualties per accident</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1.36</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1 – 48</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0.82</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Positive (right)</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Most accidents involve one casualty; a long tail of multi-casualty events</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Vehicles per accident</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1.83</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1 – 32</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0.71</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Positive (right)</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Two-vehicle collisions are the norm</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384048">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Speed limit (mph)</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38.4</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20 – 70</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14.1</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Positive (right)</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Concentrated at 30 mph with a rural high-speed tail</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Accidents per month</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12,832</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12,905</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9,870 – 15,640</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1,412</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Slight negative</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Stable monthly volume with autumn peaks</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r h="384048">
                <a:tc>
                  <a:txBody>
                    <a:bodyPr/>
                    <a:lstStyle/>
                    <a:p>
                      <a:pPr marL="0" indent="0">
                        <a:buNone/>
                      </a:pPr>
                      <a:r>
                        <a:rPr lang="en-US" sz="950" b="1" dirty="0">
                          <a:solidFill>
                            <a:srgbClr val="16233A"/>
                          </a:solidFill>
                          <a:latin typeface="Calibri" pitchFamily="34" charset="0"/>
                          <a:ea typeface="Calibri" pitchFamily="34" charset="-122"/>
                          <a:cs typeface="Calibri" pitchFamily="34" charset="-120"/>
                        </a:rPr>
                        <a:t>Accidents per weekday</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43,996</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45,649</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33,544 – 50,529</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5,318</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Slight negative</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marL="0" indent="0">
                        <a:buNone/>
                      </a:pPr>
                      <a:r>
                        <a:rPr lang="en-US" sz="950" dirty="0">
                          <a:solidFill>
                            <a:srgbClr val="5F6B7A"/>
                          </a:solidFill>
                          <a:latin typeface="Calibri" pitchFamily="34" charset="0"/>
                          <a:ea typeface="Calibri" pitchFamily="34" charset="-122"/>
                          <a:cs typeface="Calibri" pitchFamily="34" charset="-120"/>
                        </a:rPr>
                        <a:t>Friday high, Sunday low, midweek clustered</a:t>
                      </a:r>
                      <a:endParaRPr lang="en-US" sz="950" dirty="0">
                        <a:latin typeface="Calibri" charset="0"/>
                        <a:ea typeface="Calibri" charset="0"/>
                        <a:cs typeface="Calibri" charset="0"/>
                      </a:endParaRPr>
                    </a:p>
                  </a:txBody>
                  <a:tcPr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502920" y="4023360"/>
            <a:ext cx="5440680" cy="2011680"/>
          </a:xfrm>
          <a:prstGeom prst="roundRect">
            <a:avLst>
              <a:gd name="adj" fmla="val 3636"/>
            </a:avLst>
          </a:prstGeom>
          <a:solidFill>
            <a:srgbClr val="F4F5F7"/>
          </a:solidFill>
          <a:ln w="6350">
            <a:solidFill>
              <a:srgbClr val="E3E6EB"/>
            </a:solidFill>
            <a:prstDash val="solid"/>
          </a:ln>
        </p:spPr>
      </p:sp>
      <p:sp>
        <p:nvSpPr>
          <p:cNvPr id="7" name="Text 4"/>
          <p:cNvSpPr/>
          <p:nvPr/>
        </p:nvSpPr>
        <p:spPr>
          <a:xfrm>
            <a:off x="777240" y="4206240"/>
            <a:ext cx="4937760" cy="274320"/>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Why the skew matters</a:t>
            </a:r>
            <a:endParaRPr lang="en-US" sz="1250" dirty="0"/>
          </a:p>
        </p:txBody>
      </p:sp>
      <p:sp>
        <p:nvSpPr>
          <p:cNvPr id="8" name="Text 5"/>
          <p:cNvSpPr/>
          <p:nvPr/>
        </p:nvSpPr>
        <p:spPr>
          <a:xfrm>
            <a:off x="777240" y="4553712"/>
            <a:ext cx="4937760" cy="1325880"/>
          </a:xfrm>
          <a:prstGeom prst="rect">
            <a:avLst/>
          </a:prstGeom>
          <a:noFill/>
          <a:ln/>
        </p:spPr>
        <p:txBody>
          <a:bodyPr wrap="square" lIns="0" tIns="0" rIns="0" bIns="0" rtlCol="0" anchor="t"/>
          <a:lstStyle/>
          <a:p>
            <a:pPr marL="0" indent="0">
              <a:lnSpc>
                <a:spcPts val="1400"/>
              </a:lnSpc>
              <a:buNone/>
            </a:pPr>
            <a:r>
              <a:rPr lang="en-US" sz="1050" dirty="0">
                <a:solidFill>
                  <a:srgbClr val="5F6B7A"/>
                </a:solidFill>
                <a:latin typeface="Calibri" pitchFamily="34" charset="0"/>
                <a:ea typeface="Calibri" pitchFamily="34" charset="-122"/>
                <a:cs typeface="Calibri" pitchFamily="34" charset="-120"/>
              </a:rPr>
              <a:t>Casualties per accident is right-skewed: the mean (1.36) sits above the median (1). Planning emergency capacity on the mean would understate the rare multi-casualty events that consume the most resource. Capacity should be planned against the upper tail, not the average.</a:t>
            </a:r>
            <a:endParaRPr lang="en-US" sz="1050" dirty="0"/>
          </a:p>
        </p:txBody>
      </p:sp>
      <p:sp>
        <p:nvSpPr>
          <p:cNvPr id="9" name="Shape 6"/>
          <p:cNvSpPr/>
          <p:nvPr/>
        </p:nvSpPr>
        <p:spPr>
          <a:xfrm>
            <a:off x="6217920" y="4023360"/>
            <a:ext cx="5440680" cy="2011680"/>
          </a:xfrm>
          <a:prstGeom prst="roundRect">
            <a:avLst>
              <a:gd name="adj" fmla="val 3636"/>
            </a:avLst>
          </a:prstGeom>
          <a:solidFill>
            <a:srgbClr val="F4F5F7"/>
          </a:solidFill>
          <a:ln w="6350">
            <a:solidFill>
              <a:srgbClr val="E3E6EB"/>
            </a:solidFill>
            <a:prstDash val="solid"/>
          </a:ln>
        </p:spPr>
      </p:sp>
      <p:sp>
        <p:nvSpPr>
          <p:cNvPr id="10" name="Text 7"/>
          <p:cNvSpPr/>
          <p:nvPr/>
        </p:nvSpPr>
        <p:spPr>
          <a:xfrm>
            <a:off x="6492240" y="4206240"/>
            <a:ext cx="4937760" cy="274320"/>
          </a:xfrm>
          <a:prstGeom prst="rect">
            <a:avLst/>
          </a:prstGeom>
          <a:noFill/>
          <a:ln/>
        </p:spPr>
        <p:txBody>
          <a:bodyPr wrap="square" lIns="0" tIns="0" rIns="0" bIns="0" rtlCol="0" anchor="ctr"/>
          <a:lstStyle/>
          <a:p>
            <a:pPr marL="0" indent="0">
              <a:buNone/>
            </a:pPr>
            <a:r>
              <a:rPr lang="en-US" sz="1250" b="1" dirty="0">
                <a:solidFill>
                  <a:srgbClr val="16233A"/>
                </a:solidFill>
                <a:latin typeface="Calibri" pitchFamily="34" charset="0"/>
                <a:ea typeface="Calibri" pitchFamily="34" charset="-122"/>
                <a:cs typeface="Calibri" pitchFamily="34" charset="-120"/>
              </a:rPr>
              <a:t>Speed limit distribution</a:t>
            </a:r>
            <a:endParaRPr lang="en-US" sz="1250" dirty="0"/>
          </a:p>
        </p:txBody>
      </p:sp>
      <p:sp>
        <p:nvSpPr>
          <p:cNvPr id="11" name="Text 8"/>
          <p:cNvSpPr/>
          <p:nvPr/>
        </p:nvSpPr>
        <p:spPr>
          <a:xfrm>
            <a:off x="6492240" y="4553712"/>
            <a:ext cx="4937760" cy="1325880"/>
          </a:xfrm>
          <a:prstGeom prst="rect">
            <a:avLst/>
          </a:prstGeom>
          <a:noFill/>
          <a:ln/>
        </p:spPr>
        <p:txBody>
          <a:bodyPr wrap="square" lIns="0" tIns="0" rIns="0" bIns="0" rtlCol="0" anchor="t"/>
          <a:lstStyle/>
          <a:p>
            <a:pPr marL="0" indent="0">
              <a:lnSpc>
                <a:spcPts val="1400"/>
              </a:lnSpc>
              <a:buNone/>
            </a:pPr>
            <a:r>
              <a:rPr lang="en-US" sz="1050" dirty="0">
                <a:solidFill>
                  <a:srgbClr val="5F6B7A"/>
                </a:solidFill>
                <a:latin typeface="Calibri" pitchFamily="34" charset="0"/>
                <a:ea typeface="Calibri" pitchFamily="34" charset="-122"/>
                <a:cs typeface="Calibri" pitchFamily="34" charset="-120"/>
              </a:rPr>
              <a:t>Mean speed limit (38.4 mph) exceeds the median (30 mph), confirming that although most accidents occur in 30 mph zones, a meaningful minority occur on 60 and 70 mph roads. Those higher-limit events carry the disproportionate fatal weight seen on slide 9.</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06 · RECOMMENDATIONS</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Prescriptive Recommendations (1 of 2)</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Shape 3"/>
          <p:cNvSpPr/>
          <p:nvPr/>
        </p:nvSpPr>
        <p:spPr>
          <a:xfrm>
            <a:off x="502920" y="1600200"/>
            <a:ext cx="5394960" cy="1874520"/>
          </a:xfrm>
          <a:prstGeom prst="roundRect">
            <a:avLst>
              <a:gd name="adj" fmla="val 3902"/>
            </a:avLst>
          </a:prstGeom>
          <a:solidFill>
            <a:srgbClr val="F4F5F7"/>
          </a:solidFill>
          <a:ln w="6350">
            <a:solidFill>
              <a:srgbClr val="E3E6EB"/>
            </a:solidFill>
            <a:prstDash val="solid"/>
          </a:ln>
        </p:spPr>
      </p:sp>
      <p:sp>
        <p:nvSpPr>
          <p:cNvPr id="6" name="Shape 4"/>
          <p:cNvSpPr/>
          <p:nvPr/>
        </p:nvSpPr>
        <p:spPr>
          <a:xfrm>
            <a:off x="731520" y="1801368"/>
            <a:ext cx="411480" cy="411480"/>
          </a:xfrm>
          <a:prstGeom prst="ellipse">
            <a:avLst/>
          </a:prstGeom>
          <a:solidFill>
            <a:srgbClr val="C00000"/>
          </a:solidFill>
          <a:ln/>
        </p:spPr>
      </p:sp>
      <p:sp>
        <p:nvSpPr>
          <p:cNvPr id="7" name="Text 5"/>
          <p:cNvSpPr/>
          <p:nvPr/>
        </p:nvSpPr>
        <p:spPr>
          <a:xfrm>
            <a:off x="731520" y="1883664"/>
            <a:ext cx="4114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1280160" y="1856232"/>
            <a:ext cx="4434840" cy="3200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Single carriageway safety programme</a:t>
            </a:r>
            <a:endParaRPr lang="en-US" sz="1300" dirty="0"/>
          </a:p>
        </p:txBody>
      </p:sp>
      <p:sp>
        <p:nvSpPr>
          <p:cNvPr id="9" name="Text 7"/>
          <p:cNvSpPr/>
          <p:nvPr/>
        </p:nvSpPr>
        <p:spPr>
          <a:xfrm>
            <a:off x="795528" y="2240280"/>
            <a:ext cx="4846320" cy="1170432"/>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Prioritise central hatching and edge-line markings on the highest-volume single carriageways, which carry 74.9% of all accidents</a:t>
            </a:r>
            <a:endParaRPr lang="en-US" sz="950" dirty="0"/>
          </a:p>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Target rural 60 mph single carriageways first, where the fatal band is heaviest relative to volume</a:t>
            </a:r>
            <a:endParaRPr lang="en-US" sz="950" dirty="0"/>
          </a:p>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Set a three-year audit cycle for routes with repeat fatal incidents</a:t>
            </a:r>
            <a:endParaRPr lang="en-US" sz="950" dirty="0"/>
          </a:p>
        </p:txBody>
      </p:sp>
      <p:sp>
        <p:nvSpPr>
          <p:cNvPr id="10" name="Shape 8"/>
          <p:cNvSpPr/>
          <p:nvPr/>
        </p:nvSpPr>
        <p:spPr>
          <a:xfrm>
            <a:off x="6263640" y="1600200"/>
            <a:ext cx="5394960" cy="1874520"/>
          </a:xfrm>
          <a:prstGeom prst="roundRect">
            <a:avLst>
              <a:gd name="adj" fmla="val 3902"/>
            </a:avLst>
          </a:prstGeom>
          <a:solidFill>
            <a:srgbClr val="F4F5F7"/>
          </a:solidFill>
          <a:ln w="6350">
            <a:solidFill>
              <a:srgbClr val="E3E6EB"/>
            </a:solidFill>
            <a:prstDash val="solid"/>
          </a:ln>
        </p:spPr>
      </p:sp>
      <p:sp>
        <p:nvSpPr>
          <p:cNvPr id="11" name="Shape 9"/>
          <p:cNvSpPr/>
          <p:nvPr/>
        </p:nvSpPr>
        <p:spPr>
          <a:xfrm>
            <a:off x="6492240" y="1801368"/>
            <a:ext cx="411480" cy="411480"/>
          </a:xfrm>
          <a:prstGeom prst="ellipse">
            <a:avLst/>
          </a:prstGeom>
          <a:solidFill>
            <a:srgbClr val="FFC000"/>
          </a:solidFill>
          <a:ln/>
        </p:spPr>
      </p:sp>
      <p:sp>
        <p:nvSpPr>
          <p:cNvPr id="12" name="Text 10"/>
          <p:cNvSpPr/>
          <p:nvPr/>
        </p:nvSpPr>
        <p:spPr>
          <a:xfrm>
            <a:off x="6492240" y="1883664"/>
            <a:ext cx="4114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7040880" y="1856232"/>
            <a:ext cx="4434840" cy="3200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Lighting capital programme</a:t>
            </a:r>
            <a:endParaRPr lang="en-US" sz="1300" dirty="0"/>
          </a:p>
        </p:txBody>
      </p:sp>
      <p:sp>
        <p:nvSpPr>
          <p:cNvPr id="14" name="Text 12"/>
          <p:cNvSpPr/>
          <p:nvPr/>
        </p:nvSpPr>
        <p:spPr>
          <a:xfrm>
            <a:off x="6556248" y="2240280"/>
            <a:ext cx="4846320" cy="1170432"/>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Target rural roads specifically: 95% of the 16,528 no-lighting accidents occur in rural areas</a:t>
            </a:r>
            <a:endParaRPr lang="en-US" sz="950" dirty="0"/>
          </a:p>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Fix the 1,142 accidents on roads where lighting exists but was unlit — a maintenance failure, not a capital one</a:t>
            </a:r>
            <a:endParaRPr lang="en-US" sz="950" dirty="0"/>
          </a:p>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Mandate retroreflective markings as the minimum standard on unlit rural roads</a:t>
            </a:r>
            <a:endParaRPr lang="en-US" sz="950" dirty="0"/>
          </a:p>
        </p:txBody>
      </p:sp>
      <p:sp>
        <p:nvSpPr>
          <p:cNvPr id="15" name="Shape 13"/>
          <p:cNvSpPr/>
          <p:nvPr/>
        </p:nvSpPr>
        <p:spPr>
          <a:xfrm>
            <a:off x="502920" y="3749040"/>
            <a:ext cx="5394960" cy="1874520"/>
          </a:xfrm>
          <a:prstGeom prst="roundRect">
            <a:avLst>
              <a:gd name="adj" fmla="val 3902"/>
            </a:avLst>
          </a:prstGeom>
          <a:solidFill>
            <a:srgbClr val="F4F5F7"/>
          </a:solidFill>
          <a:ln w="6350">
            <a:solidFill>
              <a:srgbClr val="E3E6EB"/>
            </a:solidFill>
            <a:prstDash val="solid"/>
          </a:ln>
        </p:spPr>
      </p:sp>
      <p:sp>
        <p:nvSpPr>
          <p:cNvPr id="16" name="Shape 14"/>
          <p:cNvSpPr/>
          <p:nvPr/>
        </p:nvSpPr>
        <p:spPr>
          <a:xfrm>
            <a:off x="731520" y="3950208"/>
            <a:ext cx="411480" cy="411480"/>
          </a:xfrm>
          <a:prstGeom prst="ellipse">
            <a:avLst/>
          </a:prstGeom>
          <a:solidFill>
            <a:srgbClr val="ED7D31"/>
          </a:solidFill>
          <a:ln/>
        </p:spPr>
      </p:sp>
      <p:sp>
        <p:nvSpPr>
          <p:cNvPr id="17" name="Text 15"/>
          <p:cNvSpPr/>
          <p:nvPr/>
        </p:nvSpPr>
        <p:spPr>
          <a:xfrm>
            <a:off x="731520" y="4032504"/>
            <a:ext cx="4114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8" name="Text 16"/>
          <p:cNvSpPr/>
          <p:nvPr/>
        </p:nvSpPr>
        <p:spPr>
          <a:xfrm>
            <a:off x="1280160" y="4005072"/>
            <a:ext cx="4434840" cy="3200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Friday evening enforcement surge</a:t>
            </a:r>
            <a:endParaRPr lang="en-US" sz="1300" dirty="0"/>
          </a:p>
        </p:txBody>
      </p:sp>
      <p:sp>
        <p:nvSpPr>
          <p:cNvPr id="19" name="Text 17"/>
          <p:cNvSpPr/>
          <p:nvPr/>
        </p:nvSpPr>
        <p:spPr>
          <a:xfrm>
            <a:off x="795528" y="4389120"/>
            <a:ext cx="4846320" cy="1170432"/>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Concentrate patrols on Fridays between 15:00 and 21:00, covering both the day peak (50,529) and the 17:00 hour peak</a:t>
            </a:r>
            <a:endParaRPr lang="en-US" sz="950" dirty="0"/>
          </a:p>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Extend impaired-driving enforcement into Friday afternoon rather than late evening only</a:t>
            </a:r>
            <a:endParaRPr lang="en-US" sz="950" dirty="0"/>
          </a:p>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Partner with ride-hailing operators on subsidised Friday alternatives</a:t>
            </a:r>
            <a:endParaRPr lang="en-US" sz="950" dirty="0"/>
          </a:p>
        </p:txBody>
      </p:sp>
      <p:sp>
        <p:nvSpPr>
          <p:cNvPr id="20" name="Shape 18"/>
          <p:cNvSpPr/>
          <p:nvPr/>
        </p:nvSpPr>
        <p:spPr>
          <a:xfrm>
            <a:off x="6263640" y="3749040"/>
            <a:ext cx="5394960" cy="1874520"/>
          </a:xfrm>
          <a:prstGeom prst="roundRect">
            <a:avLst>
              <a:gd name="adj" fmla="val 3902"/>
            </a:avLst>
          </a:prstGeom>
          <a:solidFill>
            <a:srgbClr val="F4F5F7"/>
          </a:solidFill>
          <a:ln w="6350">
            <a:solidFill>
              <a:srgbClr val="E3E6EB"/>
            </a:solidFill>
            <a:prstDash val="solid"/>
          </a:ln>
        </p:spPr>
      </p:sp>
      <p:sp>
        <p:nvSpPr>
          <p:cNvPr id="21" name="Shape 19"/>
          <p:cNvSpPr/>
          <p:nvPr/>
        </p:nvSpPr>
        <p:spPr>
          <a:xfrm>
            <a:off x="6492240" y="3950208"/>
            <a:ext cx="411480" cy="411480"/>
          </a:xfrm>
          <a:prstGeom prst="ellipse">
            <a:avLst/>
          </a:prstGeom>
          <a:solidFill>
            <a:srgbClr val="4472C4"/>
          </a:solidFill>
          <a:ln/>
        </p:spPr>
      </p:sp>
      <p:sp>
        <p:nvSpPr>
          <p:cNvPr id="22" name="Text 20"/>
          <p:cNvSpPr/>
          <p:nvPr/>
        </p:nvSpPr>
        <p:spPr>
          <a:xfrm>
            <a:off x="6492240" y="4032504"/>
            <a:ext cx="4114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3" name="Text 21"/>
          <p:cNvSpPr/>
          <p:nvPr/>
        </p:nvSpPr>
        <p:spPr>
          <a:xfrm>
            <a:off x="7040880" y="4005072"/>
            <a:ext cx="4434840" cy="3200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Evening rush-hour management</a:t>
            </a:r>
            <a:endParaRPr lang="en-US" sz="1300" dirty="0"/>
          </a:p>
        </p:txBody>
      </p:sp>
      <p:sp>
        <p:nvSpPr>
          <p:cNvPr id="24" name="Text 22"/>
          <p:cNvSpPr/>
          <p:nvPr/>
        </p:nvSpPr>
        <p:spPr>
          <a:xfrm>
            <a:off x="6556248" y="4389120"/>
            <a:ext cx="4846320" cy="1170432"/>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Deploy variable message signage on the approach to the 16:00–18:00 peak in metropolitan districts</a:t>
            </a:r>
            <a:endParaRPr lang="en-US" sz="950" dirty="0"/>
          </a:p>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Stagger public sector shift-end times in Birmingham, Leeds and Manchester to flatten the peak</a:t>
            </a:r>
            <a:endParaRPr lang="en-US" sz="950" dirty="0"/>
          </a:p>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Review signal timing on urban corridors feeding the evening exodus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772400" cy="256032"/>
          </a:xfrm>
          <a:prstGeom prst="rect">
            <a:avLst/>
          </a:prstGeom>
          <a:noFill/>
          <a:ln/>
        </p:spPr>
        <p:txBody>
          <a:bodyPr wrap="square" lIns="0" tIns="0" rIns="0" bIns="0" rtlCol="0" anchor="ctr"/>
          <a:lstStyle/>
          <a:p>
            <a:pPr marL="0" indent="0">
              <a:buNone/>
            </a:pPr>
            <a:r>
              <a:rPr lang="en-US" sz="1100" b="1" kern="0" spc="200" dirty="0">
                <a:solidFill>
                  <a:srgbClr val="ED7D31"/>
                </a:solidFill>
                <a:latin typeface="Calibri" pitchFamily="34" charset="0"/>
                <a:ea typeface="Calibri" pitchFamily="34" charset="-122"/>
                <a:cs typeface="Calibri" pitchFamily="34" charset="-120"/>
              </a:rPr>
              <a:t>06 · RECOMMENDATIONS</a:t>
            </a:r>
            <a:endParaRPr lang="en-US" sz="1100" dirty="0"/>
          </a:p>
        </p:txBody>
      </p:sp>
      <p:sp>
        <p:nvSpPr>
          <p:cNvPr id="3" name="Text 1"/>
          <p:cNvSpPr/>
          <p:nvPr/>
        </p:nvSpPr>
        <p:spPr>
          <a:xfrm>
            <a:off x="502920" y="548640"/>
            <a:ext cx="11155680" cy="566928"/>
          </a:xfrm>
          <a:prstGeom prst="rect">
            <a:avLst/>
          </a:prstGeom>
          <a:noFill/>
          <a:ln/>
        </p:spPr>
        <p:txBody>
          <a:bodyPr wrap="square" lIns="0" tIns="0" rIns="0" bIns="0"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Prescriptive Recommendations (2 of 2)</a:t>
            </a:r>
            <a:endParaRPr lang="en-US" sz="3000" dirty="0"/>
          </a:p>
        </p:txBody>
      </p:sp>
      <p:sp>
        <p:nvSpPr>
          <p:cNvPr id="4" name="Text 2"/>
          <p:cNvSpPr/>
          <p:nvPr/>
        </p:nvSpPr>
        <p:spPr>
          <a:xfrm>
            <a:off x="9966960" y="292608"/>
            <a:ext cx="1691640" cy="256032"/>
          </a:xfrm>
          <a:prstGeom prst="rect">
            <a:avLst/>
          </a:prstGeom>
          <a:noFill/>
          <a:ln/>
        </p:spPr>
        <p:txBody>
          <a:bodyPr wrap="square" lIns="0" tIns="0" rIns="0" bIns="0" rtlCol="0" anchor="ctr"/>
          <a:lstStyle/>
          <a:p>
            <a:pPr marL="0" indent="0" algn="r">
              <a:buNone/>
            </a:pPr>
            <a:r>
              <a:rPr lang="en-US" sz="1000" dirty="0">
                <a:solidFill>
                  <a:srgbClr val="5F6B7A"/>
                </a:solidFill>
                <a:latin typeface="Calibri" pitchFamily="34" charset="0"/>
                <a:ea typeface="Calibri" pitchFamily="34" charset="-122"/>
                <a:cs typeface="Calibri" pitchFamily="34" charset="-120"/>
              </a:rPr>
              <a:t>CoreTech Labs</a:t>
            </a:r>
            <a:endParaRPr lang="en-US" sz="1000" dirty="0"/>
          </a:p>
        </p:txBody>
      </p:sp>
      <p:sp>
        <p:nvSpPr>
          <p:cNvPr id="5" name="Shape 3"/>
          <p:cNvSpPr/>
          <p:nvPr/>
        </p:nvSpPr>
        <p:spPr>
          <a:xfrm>
            <a:off x="502920" y="1600200"/>
            <a:ext cx="5394960" cy="1874520"/>
          </a:xfrm>
          <a:prstGeom prst="roundRect">
            <a:avLst>
              <a:gd name="adj" fmla="val 3902"/>
            </a:avLst>
          </a:prstGeom>
          <a:solidFill>
            <a:srgbClr val="F4F5F7"/>
          </a:solidFill>
          <a:ln w="6350">
            <a:solidFill>
              <a:srgbClr val="E3E6EB"/>
            </a:solidFill>
            <a:prstDash val="solid"/>
          </a:ln>
        </p:spPr>
      </p:sp>
      <p:sp>
        <p:nvSpPr>
          <p:cNvPr id="6" name="Shape 4"/>
          <p:cNvSpPr/>
          <p:nvPr/>
        </p:nvSpPr>
        <p:spPr>
          <a:xfrm>
            <a:off x="731520" y="1801368"/>
            <a:ext cx="411480" cy="411480"/>
          </a:xfrm>
          <a:prstGeom prst="ellipse">
            <a:avLst/>
          </a:prstGeom>
          <a:solidFill>
            <a:srgbClr val="4472C4"/>
          </a:solidFill>
          <a:ln/>
        </p:spPr>
      </p:sp>
      <p:sp>
        <p:nvSpPr>
          <p:cNvPr id="7" name="Text 5"/>
          <p:cNvSpPr/>
          <p:nvPr/>
        </p:nvSpPr>
        <p:spPr>
          <a:xfrm>
            <a:off x="731520" y="1883664"/>
            <a:ext cx="4114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8" name="Text 6"/>
          <p:cNvSpPr/>
          <p:nvPr/>
        </p:nvSpPr>
        <p:spPr>
          <a:xfrm>
            <a:off x="1280160" y="1856232"/>
            <a:ext cx="4434840" cy="3200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Wet weather response protocol</a:t>
            </a:r>
            <a:endParaRPr lang="en-US" sz="1300" dirty="0"/>
          </a:p>
        </p:txBody>
      </p:sp>
      <p:sp>
        <p:nvSpPr>
          <p:cNvPr id="9" name="Text 7"/>
          <p:cNvSpPr/>
          <p:nvPr/>
        </p:nvSpPr>
        <p:spPr>
          <a:xfrm>
            <a:off x="795528" y="2240280"/>
            <a:ext cx="4846320" cy="1170432"/>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Wet surfaces account for roughly a quarter of accidents despite far lower exposure than dry — a genuine risk elevation</a:t>
            </a:r>
            <a:endParaRPr lang="en-US" sz="950" dirty="0"/>
          </a:p>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Trigger variable speed limits and enhanced gritting when surface sensors report wet conditions</a:t>
            </a:r>
            <a:endParaRPr lang="en-US" sz="950" dirty="0"/>
          </a:p>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Prioritise resurfacing on routes with repeat wet-condition clusters</a:t>
            </a:r>
            <a:endParaRPr lang="en-US" sz="950" dirty="0"/>
          </a:p>
        </p:txBody>
      </p:sp>
      <p:sp>
        <p:nvSpPr>
          <p:cNvPr id="10" name="Shape 8"/>
          <p:cNvSpPr/>
          <p:nvPr/>
        </p:nvSpPr>
        <p:spPr>
          <a:xfrm>
            <a:off x="6263640" y="1600200"/>
            <a:ext cx="5394960" cy="1874520"/>
          </a:xfrm>
          <a:prstGeom prst="roundRect">
            <a:avLst>
              <a:gd name="adj" fmla="val 3902"/>
            </a:avLst>
          </a:prstGeom>
          <a:solidFill>
            <a:srgbClr val="F4F5F7"/>
          </a:solidFill>
          <a:ln w="6350">
            <a:solidFill>
              <a:srgbClr val="E3E6EB"/>
            </a:solidFill>
            <a:prstDash val="solid"/>
          </a:ln>
        </p:spPr>
      </p:sp>
      <p:sp>
        <p:nvSpPr>
          <p:cNvPr id="11" name="Shape 9"/>
          <p:cNvSpPr/>
          <p:nvPr/>
        </p:nvSpPr>
        <p:spPr>
          <a:xfrm>
            <a:off x="6492240" y="1801368"/>
            <a:ext cx="411480" cy="411480"/>
          </a:xfrm>
          <a:prstGeom prst="ellipse">
            <a:avLst/>
          </a:prstGeom>
          <a:solidFill>
            <a:srgbClr val="C00000"/>
          </a:solidFill>
          <a:ln/>
        </p:spPr>
      </p:sp>
      <p:sp>
        <p:nvSpPr>
          <p:cNvPr id="12" name="Text 10"/>
          <p:cNvSpPr/>
          <p:nvPr/>
        </p:nvSpPr>
        <p:spPr>
          <a:xfrm>
            <a:off x="6492240" y="1883664"/>
            <a:ext cx="4114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13" name="Text 11"/>
          <p:cNvSpPr/>
          <p:nvPr/>
        </p:nvSpPr>
        <p:spPr>
          <a:xfrm>
            <a:off x="7040880" y="1856232"/>
            <a:ext cx="4434840" cy="3200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Rural high-speed intervention</a:t>
            </a:r>
            <a:endParaRPr lang="en-US" sz="1300" dirty="0"/>
          </a:p>
        </p:txBody>
      </p:sp>
      <p:sp>
        <p:nvSpPr>
          <p:cNvPr id="14" name="Text 12"/>
          <p:cNvSpPr/>
          <p:nvPr/>
        </p:nvSpPr>
        <p:spPr>
          <a:xfrm>
            <a:off x="6556248" y="2240280"/>
            <a:ext cx="4846320" cy="1170432"/>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Prioritise rural roads on the evidence that they carry 59.4% of fatal accidents from 35.5% of volume, a 2.7x fatal rate against urban</a:t>
            </a:r>
            <a:endParaRPr lang="en-US" sz="950" dirty="0"/>
          </a:p>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Pre-position rural ambulance cover on Friday evenings to reduce response time where fatal risk peaks</a:t>
            </a:r>
            <a:endParaRPr lang="en-US" sz="950" dirty="0"/>
          </a:p>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Investigate Cornwall separately as a rural authority ranking eighth on national volume, suggesting a tourism-driven risk profile</a:t>
            </a:r>
            <a:endParaRPr lang="en-US" sz="950" dirty="0"/>
          </a:p>
        </p:txBody>
      </p:sp>
      <p:sp>
        <p:nvSpPr>
          <p:cNvPr id="15" name="Shape 13"/>
          <p:cNvSpPr/>
          <p:nvPr/>
        </p:nvSpPr>
        <p:spPr>
          <a:xfrm>
            <a:off x="502920" y="3749040"/>
            <a:ext cx="5394960" cy="1874520"/>
          </a:xfrm>
          <a:prstGeom prst="roundRect">
            <a:avLst>
              <a:gd name="adj" fmla="val 3902"/>
            </a:avLst>
          </a:prstGeom>
          <a:solidFill>
            <a:srgbClr val="F4F5F7"/>
          </a:solidFill>
          <a:ln w="6350">
            <a:solidFill>
              <a:srgbClr val="E3E6EB"/>
            </a:solidFill>
            <a:prstDash val="solid"/>
          </a:ln>
        </p:spPr>
      </p:sp>
      <p:sp>
        <p:nvSpPr>
          <p:cNvPr id="16" name="Shape 14"/>
          <p:cNvSpPr/>
          <p:nvPr/>
        </p:nvSpPr>
        <p:spPr>
          <a:xfrm>
            <a:off x="731520" y="3950208"/>
            <a:ext cx="411480" cy="411480"/>
          </a:xfrm>
          <a:prstGeom prst="ellipse">
            <a:avLst/>
          </a:prstGeom>
          <a:solidFill>
            <a:srgbClr val="C00000"/>
          </a:solidFill>
          <a:ln/>
        </p:spPr>
      </p:sp>
      <p:sp>
        <p:nvSpPr>
          <p:cNvPr id="17" name="Text 15"/>
          <p:cNvSpPr/>
          <p:nvPr/>
        </p:nvSpPr>
        <p:spPr>
          <a:xfrm>
            <a:off x="731520" y="4032504"/>
            <a:ext cx="4114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18" name="Text 16"/>
          <p:cNvSpPr/>
          <p:nvPr/>
        </p:nvSpPr>
        <p:spPr>
          <a:xfrm>
            <a:off x="1280160" y="4005072"/>
            <a:ext cx="4434840" cy="3200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Resolve the 2022 coverage gap</a:t>
            </a:r>
            <a:endParaRPr lang="en-US" sz="1300" dirty="0"/>
          </a:p>
        </p:txBody>
      </p:sp>
      <p:sp>
        <p:nvSpPr>
          <p:cNvPr id="19" name="Text 17"/>
          <p:cNvSpPr/>
          <p:nvPr/>
        </p:nvSpPr>
        <p:spPr>
          <a:xfrm>
            <a:off x="795528" y="4389120"/>
            <a:ext cx="4846320" cy="1170432"/>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Confirm with the data provider why 68 districts, almost all Scottish, report zero accidents in 2022 after recording thousands in 2021</a:t>
            </a:r>
            <a:endParaRPr lang="en-US" sz="950" dirty="0"/>
          </a:p>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Suppress all accident-reduction rankings and year-on-year figures until the source is reconciled</a:t>
            </a:r>
            <a:endParaRPr lang="en-US" sz="950" dirty="0"/>
          </a:p>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Re-baseline the national trend once complete records are obtained, then investigate genuine reductions</a:t>
            </a:r>
            <a:endParaRPr lang="en-US" sz="950" dirty="0"/>
          </a:p>
        </p:txBody>
      </p:sp>
      <p:sp>
        <p:nvSpPr>
          <p:cNvPr id="20" name="Shape 18"/>
          <p:cNvSpPr/>
          <p:nvPr/>
        </p:nvSpPr>
        <p:spPr>
          <a:xfrm>
            <a:off x="6263640" y="3749040"/>
            <a:ext cx="5394960" cy="1874520"/>
          </a:xfrm>
          <a:prstGeom prst="roundRect">
            <a:avLst>
              <a:gd name="adj" fmla="val 3902"/>
            </a:avLst>
          </a:prstGeom>
          <a:solidFill>
            <a:srgbClr val="F4F5F7"/>
          </a:solidFill>
          <a:ln w="6350">
            <a:solidFill>
              <a:srgbClr val="E3E6EB"/>
            </a:solidFill>
            <a:prstDash val="solid"/>
          </a:ln>
        </p:spPr>
      </p:sp>
      <p:sp>
        <p:nvSpPr>
          <p:cNvPr id="21" name="Shape 19"/>
          <p:cNvSpPr/>
          <p:nvPr/>
        </p:nvSpPr>
        <p:spPr>
          <a:xfrm>
            <a:off x="6492240" y="3950208"/>
            <a:ext cx="411480" cy="411480"/>
          </a:xfrm>
          <a:prstGeom prst="ellipse">
            <a:avLst/>
          </a:prstGeom>
          <a:solidFill>
            <a:srgbClr val="ED7D31"/>
          </a:solidFill>
          <a:ln/>
        </p:spPr>
      </p:sp>
      <p:sp>
        <p:nvSpPr>
          <p:cNvPr id="22" name="Text 20"/>
          <p:cNvSpPr/>
          <p:nvPr/>
        </p:nvSpPr>
        <p:spPr>
          <a:xfrm>
            <a:off x="6492240" y="4032504"/>
            <a:ext cx="41148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23" name="Text 21"/>
          <p:cNvSpPr/>
          <p:nvPr/>
        </p:nvSpPr>
        <p:spPr>
          <a:xfrm>
            <a:off x="7040880" y="4005072"/>
            <a:ext cx="4434840" cy="320040"/>
          </a:xfrm>
          <a:prstGeom prst="rect">
            <a:avLst/>
          </a:prstGeom>
          <a:noFill/>
          <a:ln/>
        </p:spPr>
        <p:txBody>
          <a:bodyPr wrap="square" lIns="0" tIns="0" rIns="0" bIns="0" rtlCol="0" anchor="ctr"/>
          <a:lstStyle/>
          <a:p>
            <a:pPr marL="0" indent="0">
              <a:buNone/>
            </a:pPr>
            <a:r>
              <a:rPr lang="en-US" sz="1300" b="1" dirty="0">
                <a:solidFill>
                  <a:srgbClr val="16233A"/>
                </a:solidFill>
                <a:latin typeface="Calibri" pitchFamily="34" charset="0"/>
                <a:ea typeface="Calibri" pitchFamily="34" charset="-122"/>
                <a:cs typeface="Calibri" pitchFamily="34" charset="-120"/>
              </a:rPr>
              <a:t>Split the national KPI</a:t>
            </a:r>
            <a:endParaRPr lang="en-US" sz="1300" dirty="0"/>
          </a:p>
        </p:txBody>
      </p:sp>
      <p:sp>
        <p:nvSpPr>
          <p:cNvPr id="24" name="Text 22"/>
          <p:cNvSpPr/>
          <p:nvPr/>
        </p:nvSpPr>
        <p:spPr>
          <a:xfrm>
            <a:off x="6556248" y="4389120"/>
            <a:ext cx="4846320" cy="1170432"/>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Separate the accident-reduction target from the casualty-reduction target, since fatal events carry 1.80 casualties versus 1.34 for slight</a:t>
            </a:r>
            <a:endParaRPr lang="en-US" sz="950" dirty="0"/>
          </a:p>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Report severity-weighted casualty rates rather than raw accident counts</a:t>
            </a:r>
            <a:endParaRPr lang="en-US" sz="950" dirty="0"/>
          </a:p>
          <a:p>
            <a:pPr marL="342900" indent="-342900">
              <a:lnSpc>
                <a:spcPts val="1250"/>
              </a:lnSpc>
              <a:spcAft>
                <a:spcPts val="400"/>
              </a:spcAft>
              <a:buSzPct val="100000"/>
              <a:buChar char="•"/>
            </a:pPr>
            <a:r>
              <a:rPr lang="en-US" sz="950" dirty="0">
                <a:solidFill>
                  <a:srgbClr val="5F6B7A"/>
                </a:solidFill>
                <a:latin typeface="Calibri" pitchFamily="34" charset="0"/>
                <a:ea typeface="Calibri" pitchFamily="34" charset="-122"/>
                <a:cs typeface="Calibri" pitchFamily="34" charset="-120"/>
              </a:rPr>
              <a:t>Use 2021 as the measurement anchor, since it is the only year with confirmed complete national coverage</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233A"/>
        </a:solidFill>
        <a:effectLst/>
      </p:bgPr>
    </p:bg>
    <p:spTree>
      <p:nvGrpSpPr>
        <p:cNvPr id="1" name=""/>
        <p:cNvGrpSpPr/>
        <p:nvPr/>
      </p:nvGrpSpPr>
      <p:grpSpPr>
        <a:xfrm>
          <a:off x="0" y="0"/>
          <a:ext cx="0" cy="0"/>
          <a:chOff x="0" y="0"/>
          <a:chExt cx="0" cy="0"/>
        </a:xfrm>
      </p:grpSpPr>
      <p:sp>
        <p:nvSpPr>
          <p:cNvPr id="2" name="Text 0"/>
          <p:cNvSpPr/>
          <p:nvPr/>
        </p:nvSpPr>
        <p:spPr>
          <a:xfrm>
            <a:off x="502920" y="411480"/>
            <a:ext cx="5486400" cy="256032"/>
          </a:xfrm>
          <a:prstGeom prst="rect">
            <a:avLst/>
          </a:prstGeom>
          <a:noFill/>
          <a:ln/>
        </p:spPr>
        <p:txBody>
          <a:bodyPr wrap="square" lIns="0" tIns="0" rIns="0" bIns="0" rtlCol="0" anchor="ctr"/>
          <a:lstStyle/>
          <a:p>
            <a:pPr marL="0" indent="0">
              <a:buNone/>
            </a:pPr>
            <a:r>
              <a:rPr lang="en-US" sz="1100" b="1" kern="0" spc="200" dirty="0">
                <a:solidFill>
                  <a:srgbClr val="FFC000"/>
                </a:solidFill>
                <a:latin typeface="Calibri" pitchFamily="34" charset="0"/>
                <a:ea typeface="Calibri" pitchFamily="34" charset="-122"/>
                <a:cs typeface="Calibri" pitchFamily="34" charset="-120"/>
              </a:rPr>
              <a:t>07 · CONCLUSION</a:t>
            </a:r>
            <a:endParaRPr lang="en-US" sz="1100" dirty="0"/>
          </a:p>
        </p:txBody>
      </p:sp>
      <p:sp>
        <p:nvSpPr>
          <p:cNvPr id="3" name="Text 1"/>
          <p:cNvSpPr/>
          <p:nvPr/>
        </p:nvSpPr>
        <p:spPr>
          <a:xfrm>
            <a:off x="502920" y="731520"/>
            <a:ext cx="100584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Six Things This Analysis Establishes</a:t>
            </a:r>
            <a:endParaRPr lang="en-US" sz="3000" dirty="0"/>
          </a:p>
        </p:txBody>
      </p:sp>
      <p:sp>
        <p:nvSpPr>
          <p:cNvPr id="4" name="Text 2"/>
          <p:cNvSpPr/>
          <p:nvPr/>
        </p:nvSpPr>
        <p:spPr>
          <a:xfrm>
            <a:off x="502920" y="1554480"/>
            <a:ext cx="457200" cy="320040"/>
          </a:xfrm>
          <a:prstGeom prst="rect">
            <a:avLst/>
          </a:prstGeom>
          <a:noFill/>
          <a:ln/>
        </p:spPr>
        <p:txBody>
          <a:bodyPr wrap="square" lIns="0" tIns="0" rIns="0" bIns="0" rtlCol="0" anchor="ctr"/>
          <a:lstStyle/>
          <a:p>
            <a:pPr marL="0" indent="0">
              <a:buNone/>
            </a:pPr>
            <a:r>
              <a:rPr lang="en-US" sz="1900" b="1" dirty="0">
                <a:solidFill>
                  <a:srgbClr val="FFC000"/>
                </a:solidFill>
                <a:latin typeface="Cambria" pitchFamily="34" charset="0"/>
                <a:ea typeface="Cambria" pitchFamily="34" charset="-122"/>
                <a:cs typeface="Cambria" pitchFamily="34" charset="-120"/>
              </a:rPr>
              <a:t>01</a:t>
            </a:r>
            <a:endParaRPr lang="en-US" sz="1900" dirty="0"/>
          </a:p>
        </p:txBody>
      </p:sp>
      <p:sp>
        <p:nvSpPr>
          <p:cNvPr id="5" name="Text 3"/>
          <p:cNvSpPr/>
          <p:nvPr/>
        </p:nvSpPr>
        <p:spPr>
          <a:xfrm>
            <a:off x="1005840" y="1554480"/>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Severity multiplies harm</a:t>
            </a:r>
            <a:endParaRPr lang="en-US" sz="1350" dirty="0"/>
          </a:p>
        </p:txBody>
      </p:sp>
      <p:sp>
        <p:nvSpPr>
          <p:cNvPr id="6" name="Text 4"/>
          <p:cNvSpPr/>
          <p:nvPr/>
        </p:nvSpPr>
        <p:spPr>
          <a:xfrm>
            <a:off x="1005840" y="1883664"/>
            <a:ext cx="4846320" cy="868680"/>
          </a:xfrm>
          <a:prstGeom prst="rect">
            <a:avLst/>
          </a:prstGeom>
          <a:noFill/>
          <a:ln/>
        </p:spPr>
        <p:txBody>
          <a:bodyPr wrap="square" lIns="0" tIns="0" rIns="0" bIns="0" rtlCol="0" anchor="t"/>
          <a:lstStyle/>
          <a:p>
            <a:pPr marL="0" indent="0">
              <a:lnSpc>
                <a:spcPts val="1400"/>
              </a:lnSpc>
              <a:buNone/>
            </a:pPr>
            <a:r>
              <a:rPr lang="en-US" sz="1050" dirty="0">
                <a:solidFill>
                  <a:srgbClr val="9FB0C6"/>
                </a:solidFill>
                <a:latin typeface="Calibri" pitchFamily="34" charset="0"/>
                <a:ea typeface="Calibri" pitchFamily="34" charset="-122"/>
                <a:cs typeface="Calibri" pitchFamily="34" charset="-120"/>
              </a:rPr>
              <a:t>Fatal accidents produce 1.80 casualties each against 1.34 for slight. Severity reduction and volume reduction are separate goals.</a:t>
            </a:r>
            <a:endParaRPr lang="en-US" sz="1050" dirty="0"/>
          </a:p>
        </p:txBody>
      </p:sp>
      <p:sp>
        <p:nvSpPr>
          <p:cNvPr id="7" name="Text 5"/>
          <p:cNvSpPr/>
          <p:nvPr/>
        </p:nvSpPr>
        <p:spPr>
          <a:xfrm>
            <a:off x="6263640" y="1554480"/>
            <a:ext cx="457200" cy="320040"/>
          </a:xfrm>
          <a:prstGeom prst="rect">
            <a:avLst/>
          </a:prstGeom>
          <a:noFill/>
          <a:ln/>
        </p:spPr>
        <p:txBody>
          <a:bodyPr wrap="square" lIns="0" tIns="0" rIns="0" bIns="0" rtlCol="0" anchor="ctr"/>
          <a:lstStyle/>
          <a:p>
            <a:pPr marL="0" indent="0">
              <a:buNone/>
            </a:pPr>
            <a:r>
              <a:rPr lang="en-US" sz="1900" b="1" dirty="0">
                <a:solidFill>
                  <a:srgbClr val="FFC000"/>
                </a:solidFill>
                <a:latin typeface="Cambria" pitchFamily="34" charset="0"/>
                <a:ea typeface="Cambria" pitchFamily="34" charset="-122"/>
                <a:cs typeface="Cambria" pitchFamily="34" charset="-120"/>
              </a:rPr>
              <a:t>02</a:t>
            </a:r>
            <a:endParaRPr lang="en-US" sz="1900" dirty="0"/>
          </a:p>
        </p:txBody>
      </p:sp>
      <p:sp>
        <p:nvSpPr>
          <p:cNvPr id="8" name="Text 6"/>
          <p:cNvSpPr/>
          <p:nvPr/>
        </p:nvSpPr>
        <p:spPr>
          <a:xfrm>
            <a:off x="6766560" y="1554480"/>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Single carriageways dominate</a:t>
            </a:r>
            <a:endParaRPr lang="en-US" sz="1350" dirty="0"/>
          </a:p>
        </p:txBody>
      </p:sp>
      <p:sp>
        <p:nvSpPr>
          <p:cNvPr id="9" name="Text 7"/>
          <p:cNvSpPr/>
          <p:nvPr/>
        </p:nvSpPr>
        <p:spPr>
          <a:xfrm>
            <a:off x="6766560" y="1883664"/>
            <a:ext cx="4846320" cy="868680"/>
          </a:xfrm>
          <a:prstGeom prst="rect">
            <a:avLst/>
          </a:prstGeom>
          <a:noFill/>
          <a:ln/>
        </p:spPr>
        <p:txBody>
          <a:bodyPr wrap="square" lIns="0" tIns="0" rIns="0" bIns="0" rtlCol="0" anchor="t"/>
          <a:lstStyle/>
          <a:p>
            <a:pPr marL="0" indent="0">
              <a:lnSpc>
                <a:spcPts val="1400"/>
              </a:lnSpc>
              <a:buNone/>
            </a:pPr>
            <a:r>
              <a:rPr lang="en-US" sz="1050" dirty="0">
                <a:solidFill>
                  <a:srgbClr val="9FB0C6"/>
                </a:solidFill>
                <a:latin typeface="Calibri" pitchFamily="34" charset="0"/>
                <a:ea typeface="Calibri" pitchFamily="34" charset="-122"/>
                <a:cs typeface="Calibri" pitchFamily="34" charset="-120"/>
              </a:rPr>
              <a:t>74.9% of all accidents occur on one road type. No other infrastructure lever comes close in scale.</a:t>
            </a:r>
            <a:endParaRPr lang="en-US" sz="1050" dirty="0"/>
          </a:p>
        </p:txBody>
      </p:sp>
      <p:sp>
        <p:nvSpPr>
          <p:cNvPr id="10" name="Text 8"/>
          <p:cNvSpPr/>
          <p:nvPr/>
        </p:nvSpPr>
        <p:spPr>
          <a:xfrm>
            <a:off x="502920" y="2971800"/>
            <a:ext cx="457200" cy="320040"/>
          </a:xfrm>
          <a:prstGeom prst="rect">
            <a:avLst/>
          </a:prstGeom>
          <a:noFill/>
          <a:ln/>
        </p:spPr>
        <p:txBody>
          <a:bodyPr wrap="square" lIns="0" tIns="0" rIns="0" bIns="0" rtlCol="0" anchor="ctr"/>
          <a:lstStyle/>
          <a:p>
            <a:pPr marL="0" indent="0">
              <a:buNone/>
            </a:pPr>
            <a:r>
              <a:rPr lang="en-US" sz="1900" b="1" dirty="0">
                <a:solidFill>
                  <a:srgbClr val="FFC000"/>
                </a:solidFill>
                <a:latin typeface="Cambria" pitchFamily="34" charset="0"/>
                <a:ea typeface="Cambria" pitchFamily="34" charset="-122"/>
                <a:cs typeface="Cambria" pitchFamily="34" charset="-120"/>
              </a:rPr>
              <a:t>03</a:t>
            </a:r>
            <a:endParaRPr lang="en-US" sz="1900" dirty="0"/>
          </a:p>
        </p:txBody>
      </p:sp>
      <p:sp>
        <p:nvSpPr>
          <p:cNvPr id="11" name="Text 9"/>
          <p:cNvSpPr/>
          <p:nvPr/>
        </p:nvSpPr>
        <p:spPr>
          <a:xfrm>
            <a:off x="1005840" y="2971800"/>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Exposure is not risk</a:t>
            </a:r>
            <a:endParaRPr lang="en-US" sz="1350" dirty="0"/>
          </a:p>
        </p:txBody>
      </p:sp>
      <p:sp>
        <p:nvSpPr>
          <p:cNvPr id="12" name="Text 10"/>
          <p:cNvSpPr/>
          <p:nvPr/>
        </p:nvSpPr>
        <p:spPr>
          <a:xfrm>
            <a:off x="1005840" y="3300984"/>
            <a:ext cx="4846320" cy="868680"/>
          </a:xfrm>
          <a:prstGeom prst="rect">
            <a:avLst/>
          </a:prstGeom>
          <a:noFill/>
          <a:ln/>
        </p:spPr>
        <p:txBody>
          <a:bodyPr wrap="square" lIns="0" tIns="0" rIns="0" bIns="0" rtlCol="0" anchor="t"/>
          <a:lstStyle/>
          <a:p>
            <a:pPr marL="0" indent="0">
              <a:lnSpc>
                <a:spcPts val="1400"/>
              </a:lnSpc>
              <a:buNone/>
            </a:pPr>
            <a:r>
              <a:rPr lang="en-US" sz="1050" dirty="0">
                <a:solidFill>
                  <a:srgbClr val="9FB0C6"/>
                </a:solidFill>
                <a:latin typeface="Calibri" pitchFamily="34" charset="0"/>
                <a:ea typeface="Calibri" pitchFamily="34" charset="-122"/>
                <a:cs typeface="Calibri" pitchFamily="34" charset="-120"/>
              </a:rPr>
              <a:t>Daylight and dry roads lead on volume only because that is when most driving happens. Reading these as danger signals misdirects spend.</a:t>
            </a:r>
            <a:endParaRPr lang="en-US" sz="1050" dirty="0"/>
          </a:p>
        </p:txBody>
      </p:sp>
      <p:sp>
        <p:nvSpPr>
          <p:cNvPr id="13" name="Text 11"/>
          <p:cNvSpPr/>
          <p:nvPr/>
        </p:nvSpPr>
        <p:spPr>
          <a:xfrm>
            <a:off x="6263640" y="2971800"/>
            <a:ext cx="457200" cy="320040"/>
          </a:xfrm>
          <a:prstGeom prst="rect">
            <a:avLst/>
          </a:prstGeom>
          <a:noFill/>
          <a:ln/>
        </p:spPr>
        <p:txBody>
          <a:bodyPr wrap="square" lIns="0" tIns="0" rIns="0" bIns="0" rtlCol="0" anchor="ctr"/>
          <a:lstStyle/>
          <a:p>
            <a:pPr marL="0" indent="0">
              <a:buNone/>
            </a:pPr>
            <a:r>
              <a:rPr lang="en-US" sz="1900" b="1" dirty="0">
                <a:solidFill>
                  <a:srgbClr val="FFC000"/>
                </a:solidFill>
                <a:latin typeface="Cambria" pitchFamily="34" charset="0"/>
                <a:ea typeface="Cambria" pitchFamily="34" charset="-122"/>
                <a:cs typeface="Cambria" pitchFamily="34" charset="-120"/>
              </a:rPr>
              <a:t>04</a:t>
            </a:r>
            <a:endParaRPr lang="en-US" sz="1900" dirty="0"/>
          </a:p>
        </p:txBody>
      </p:sp>
      <p:sp>
        <p:nvSpPr>
          <p:cNvPr id="14" name="Text 12"/>
          <p:cNvSpPr/>
          <p:nvPr/>
        </p:nvSpPr>
        <p:spPr>
          <a:xfrm>
            <a:off x="6766560" y="2971800"/>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Friday evening is the peak window</a:t>
            </a:r>
            <a:endParaRPr lang="en-US" sz="1350" dirty="0"/>
          </a:p>
        </p:txBody>
      </p:sp>
      <p:sp>
        <p:nvSpPr>
          <p:cNvPr id="15" name="Text 13"/>
          <p:cNvSpPr/>
          <p:nvPr/>
        </p:nvSpPr>
        <p:spPr>
          <a:xfrm>
            <a:off x="6766560" y="3300984"/>
            <a:ext cx="4846320" cy="868680"/>
          </a:xfrm>
          <a:prstGeom prst="rect">
            <a:avLst/>
          </a:prstGeom>
          <a:noFill/>
          <a:ln/>
        </p:spPr>
        <p:txBody>
          <a:bodyPr wrap="square" lIns="0" tIns="0" rIns="0" bIns="0" rtlCol="0" anchor="t"/>
          <a:lstStyle/>
          <a:p>
            <a:pPr marL="0" indent="0">
              <a:lnSpc>
                <a:spcPts val="1400"/>
              </a:lnSpc>
              <a:buNone/>
            </a:pPr>
            <a:r>
              <a:rPr lang="en-US" sz="1050" dirty="0">
                <a:solidFill>
                  <a:srgbClr val="9FB0C6"/>
                </a:solidFill>
                <a:latin typeface="Calibri" pitchFamily="34" charset="0"/>
                <a:ea typeface="Calibri" pitchFamily="34" charset="-122"/>
                <a:cs typeface="Calibri" pitchFamily="34" charset="-120"/>
              </a:rPr>
              <a:t>50,529 Friday accidents and a 17:00 hourly peak give a precise, repeatable target for enforcement scheduling.</a:t>
            </a:r>
            <a:endParaRPr lang="en-US" sz="1050" dirty="0"/>
          </a:p>
        </p:txBody>
      </p:sp>
      <p:sp>
        <p:nvSpPr>
          <p:cNvPr id="16" name="Text 14"/>
          <p:cNvSpPr/>
          <p:nvPr/>
        </p:nvSpPr>
        <p:spPr>
          <a:xfrm>
            <a:off x="502920" y="4389120"/>
            <a:ext cx="457200" cy="320040"/>
          </a:xfrm>
          <a:prstGeom prst="rect">
            <a:avLst/>
          </a:prstGeom>
          <a:noFill/>
          <a:ln/>
        </p:spPr>
        <p:txBody>
          <a:bodyPr wrap="square" lIns="0" tIns="0" rIns="0" bIns="0" rtlCol="0" anchor="ctr"/>
          <a:lstStyle/>
          <a:p>
            <a:pPr marL="0" indent="0">
              <a:buNone/>
            </a:pPr>
            <a:r>
              <a:rPr lang="en-US" sz="1900" b="1" dirty="0">
                <a:solidFill>
                  <a:srgbClr val="FFC000"/>
                </a:solidFill>
                <a:latin typeface="Cambria" pitchFamily="34" charset="0"/>
                <a:ea typeface="Cambria" pitchFamily="34" charset="-122"/>
                <a:cs typeface="Cambria" pitchFamily="34" charset="-120"/>
              </a:rPr>
              <a:t>05</a:t>
            </a:r>
            <a:endParaRPr lang="en-US" sz="1900" dirty="0"/>
          </a:p>
        </p:txBody>
      </p:sp>
      <p:sp>
        <p:nvSpPr>
          <p:cNvPr id="17" name="Text 15"/>
          <p:cNvSpPr/>
          <p:nvPr/>
        </p:nvSpPr>
        <p:spPr>
          <a:xfrm>
            <a:off x="1005840" y="4389120"/>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Unlit roads are fixable</a:t>
            </a:r>
            <a:endParaRPr lang="en-US" sz="1350" dirty="0"/>
          </a:p>
        </p:txBody>
      </p:sp>
      <p:sp>
        <p:nvSpPr>
          <p:cNvPr id="18" name="Text 16"/>
          <p:cNvSpPr/>
          <p:nvPr/>
        </p:nvSpPr>
        <p:spPr>
          <a:xfrm>
            <a:off x="1005840" y="4718304"/>
            <a:ext cx="4846320" cy="868680"/>
          </a:xfrm>
          <a:prstGeom prst="rect">
            <a:avLst/>
          </a:prstGeom>
          <a:noFill/>
          <a:ln/>
        </p:spPr>
        <p:txBody>
          <a:bodyPr wrap="square" lIns="0" tIns="0" rIns="0" bIns="0" rtlCol="0" anchor="t"/>
          <a:lstStyle/>
          <a:p>
            <a:pPr marL="0" indent="0">
              <a:lnSpc>
                <a:spcPts val="1400"/>
              </a:lnSpc>
              <a:buNone/>
            </a:pPr>
            <a:r>
              <a:rPr lang="en-US" sz="1050" dirty="0">
                <a:solidFill>
                  <a:srgbClr val="9FB0C6"/>
                </a:solidFill>
                <a:latin typeface="Calibri" pitchFamily="34" charset="0"/>
                <a:ea typeface="Calibri" pitchFamily="34" charset="-122"/>
                <a:cs typeface="Calibri" pitchFamily="34" charset="-120"/>
              </a:rPr>
              <a:t>Roughly 17,700 accidents sit on roads with absent or unlit street lighting — an engineering problem with a capital solution.</a:t>
            </a:r>
            <a:endParaRPr lang="en-US" sz="1050" dirty="0"/>
          </a:p>
        </p:txBody>
      </p:sp>
      <p:sp>
        <p:nvSpPr>
          <p:cNvPr id="19" name="Text 17"/>
          <p:cNvSpPr/>
          <p:nvPr/>
        </p:nvSpPr>
        <p:spPr>
          <a:xfrm>
            <a:off x="6263640" y="4389120"/>
            <a:ext cx="457200" cy="320040"/>
          </a:xfrm>
          <a:prstGeom prst="rect">
            <a:avLst/>
          </a:prstGeom>
          <a:noFill/>
          <a:ln/>
        </p:spPr>
        <p:txBody>
          <a:bodyPr wrap="square" lIns="0" tIns="0" rIns="0" bIns="0" rtlCol="0" anchor="ctr"/>
          <a:lstStyle/>
          <a:p>
            <a:pPr marL="0" indent="0">
              <a:buNone/>
            </a:pPr>
            <a:r>
              <a:rPr lang="en-US" sz="1900" b="1" dirty="0">
                <a:solidFill>
                  <a:srgbClr val="FFC000"/>
                </a:solidFill>
                <a:latin typeface="Cambria" pitchFamily="34" charset="0"/>
                <a:ea typeface="Cambria" pitchFamily="34" charset="-122"/>
                <a:cs typeface="Cambria" pitchFamily="34" charset="-120"/>
              </a:rPr>
              <a:t>06</a:t>
            </a:r>
            <a:endParaRPr lang="en-US" sz="1900" dirty="0"/>
          </a:p>
        </p:txBody>
      </p:sp>
      <p:sp>
        <p:nvSpPr>
          <p:cNvPr id="20" name="Text 18"/>
          <p:cNvSpPr/>
          <p:nvPr/>
        </p:nvSpPr>
        <p:spPr>
          <a:xfrm>
            <a:off x="6766560" y="4389120"/>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One gap must be closed first</a:t>
            </a:r>
            <a:endParaRPr lang="en-US" sz="1350" dirty="0"/>
          </a:p>
        </p:txBody>
      </p:sp>
      <p:sp>
        <p:nvSpPr>
          <p:cNvPr id="21" name="Text 19"/>
          <p:cNvSpPr/>
          <p:nvPr/>
        </p:nvSpPr>
        <p:spPr>
          <a:xfrm>
            <a:off x="6766560" y="4718304"/>
            <a:ext cx="4846320" cy="868680"/>
          </a:xfrm>
          <a:prstGeom prst="rect">
            <a:avLst/>
          </a:prstGeom>
          <a:noFill/>
          <a:ln/>
        </p:spPr>
        <p:txBody>
          <a:bodyPr wrap="square" lIns="0" tIns="0" rIns="0" bIns="0" rtlCol="0" anchor="t"/>
          <a:lstStyle/>
          <a:p>
            <a:pPr marL="0" indent="0">
              <a:lnSpc>
                <a:spcPts val="1400"/>
              </a:lnSpc>
              <a:buNone/>
            </a:pPr>
            <a:r>
              <a:rPr lang="en-US" sz="1050" dirty="0">
                <a:solidFill>
                  <a:srgbClr val="9FB0C6"/>
                </a:solidFill>
                <a:latin typeface="Calibri" pitchFamily="34" charset="0"/>
                <a:ea typeface="Calibri" pitchFamily="34" charset="-122"/>
                <a:cs typeface="Calibri" pitchFamily="34" charset="-120"/>
              </a:rPr>
              <a:t>68 districts report zero accidents in 2022 after recording thousands in 2021. Until that is resolved, no year-on-year conclusion is safe.</a:t>
            </a:r>
            <a:endParaRPr lang="en-US" sz="1050" dirty="0"/>
          </a:p>
        </p:txBody>
      </p:sp>
      <p:sp>
        <p:nvSpPr>
          <p:cNvPr id="22" name="Text 20"/>
          <p:cNvSpPr/>
          <p:nvPr/>
        </p:nvSpPr>
        <p:spPr>
          <a:xfrm>
            <a:off x="502920" y="6263640"/>
            <a:ext cx="11155680" cy="274320"/>
          </a:xfrm>
          <a:prstGeom prst="rect">
            <a:avLst/>
          </a:prstGeom>
          <a:noFill/>
          <a:ln/>
        </p:spPr>
        <p:txBody>
          <a:bodyPr wrap="square" lIns="0" tIns="0" rIns="0" bIns="0" rtlCol="0" anchor="ctr"/>
          <a:lstStyle/>
          <a:p>
            <a:pPr marL="0" indent="0">
              <a:buNone/>
            </a:pPr>
            <a:r>
              <a:rPr lang="en-US" sz="1000" dirty="0">
                <a:solidFill>
                  <a:srgbClr val="6E7F96"/>
                </a:solidFill>
                <a:latin typeface="Calibri" pitchFamily="34" charset="0"/>
                <a:ea typeface="Calibri" pitchFamily="34" charset="-122"/>
                <a:cs typeface="Calibri" pitchFamily="34" charset="-120"/>
              </a:rPr>
              <a:t>CoreTech Labs  ·  10Alytics Data Science Capstone  ·  UK Road Traffic Accidents 2021–2022  ·  Samuel Babajide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3376</Words>
  <Application>Microsoft Office PowerPoint</Application>
  <PresentationFormat>Widescreen</PresentationFormat>
  <Paragraphs>450</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CoreTech 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UK Road Traffic Accident Analysis</dc:title>
  <dc:subject>PptxGenJS Presentation</dc:subject>
  <dc:creator>Samuel Babajide</dc:creator>
  <cp:lastModifiedBy>Samuel Babajide</cp:lastModifiedBy>
  <cp:revision>2</cp:revision>
  <dcterms:created xsi:type="dcterms:W3CDTF">2026-08-22T08:38:42Z</dcterms:created>
  <dcterms:modified xsi:type="dcterms:W3CDTF">2026-08-22T09:16:24Z</dcterms:modified>
</cp:coreProperties>
</file>